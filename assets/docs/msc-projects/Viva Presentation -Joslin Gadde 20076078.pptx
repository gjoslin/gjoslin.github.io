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85"/>
    <p:restoredTop sz="73836"/>
  </p:normalViewPr>
  <p:slideViewPr>
    <p:cSldViewPr snapToGrid="0">
      <p:cViewPr varScale="1">
        <p:scale>
          <a:sx n="89" d="100"/>
          <a:sy n="89" d="100"/>
        </p:scale>
        <p:origin x="1560" y="168"/>
      </p:cViewPr>
      <p:guideLst/>
    </p:cSldViewPr>
  </p:slideViewPr>
  <p:notesTextViewPr>
    <p:cViewPr>
      <p:scale>
        <a:sx n="1" d="1"/>
        <a:sy n="1" d="1"/>
      </p:scale>
      <p:origin x="0" y="0"/>
    </p:cViewPr>
  </p:notesTextViewPr>
  <p:notesViewPr>
    <p:cSldViewPr snapToGrid="0">
      <p:cViewPr varScale="1">
        <p:scale>
          <a:sx n="93" d="100"/>
          <a:sy n="93" d="100"/>
        </p:scale>
        <p:origin x="4072" y="21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5E2B34-A2B3-4CD1-970F-416F457E8A20}"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D9117115-3C0F-4662-A7B2-CC416361944F}">
      <dgm:prSet/>
      <dgm:spPr/>
      <dgm:t>
        <a:bodyPr/>
        <a:lstStyle/>
        <a:p>
          <a:r>
            <a:rPr lang="en-GB" b="1"/>
            <a:t>The Problem</a:t>
          </a:r>
          <a:endParaRPr lang="en-US"/>
        </a:p>
      </dgm:t>
    </dgm:pt>
    <dgm:pt modelId="{4C735AA8-4298-48DC-84AC-3C86EC2C0E81}" type="parTrans" cxnId="{E35EF3FE-D865-428D-BE66-C527FE9E1FE6}">
      <dgm:prSet/>
      <dgm:spPr/>
      <dgm:t>
        <a:bodyPr/>
        <a:lstStyle/>
        <a:p>
          <a:endParaRPr lang="en-US"/>
        </a:p>
      </dgm:t>
    </dgm:pt>
    <dgm:pt modelId="{E715EF3F-F088-4473-B6D2-193DCCC6CF0D}" type="sibTrans" cxnId="{E35EF3FE-D865-428D-BE66-C527FE9E1FE6}">
      <dgm:prSet/>
      <dgm:spPr/>
      <dgm:t>
        <a:bodyPr/>
        <a:lstStyle/>
        <a:p>
          <a:endParaRPr lang="en-US"/>
        </a:p>
      </dgm:t>
    </dgm:pt>
    <dgm:pt modelId="{CDE63E2C-A241-46B2-97CC-6283ABCF7E8E}">
      <dgm:prSet/>
      <dgm:spPr/>
      <dgm:t>
        <a:bodyPr/>
        <a:lstStyle/>
        <a:p>
          <a:r>
            <a:rPr lang="en-GB" dirty="0" err="1"/>
            <a:t>mIoT</a:t>
          </a:r>
          <a:r>
            <a:rPr lang="en-GB" dirty="0"/>
            <a:t> produces high-velocity physiological data</a:t>
          </a:r>
          <a:endParaRPr lang="en-US" dirty="0"/>
        </a:p>
      </dgm:t>
    </dgm:pt>
    <dgm:pt modelId="{7EDA4D54-08B9-4889-8F43-3D52D4DB8C4E}" type="parTrans" cxnId="{84357DC3-A73E-4151-9BBB-DCAC220FEC98}">
      <dgm:prSet/>
      <dgm:spPr/>
      <dgm:t>
        <a:bodyPr/>
        <a:lstStyle/>
        <a:p>
          <a:endParaRPr lang="en-US"/>
        </a:p>
      </dgm:t>
    </dgm:pt>
    <dgm:pt modelId="{D3D6A1F4-1AB7-4870-BA77-8FAA57F08FF7}" type="sibTrans" cxnId="{84357DC3-A73E-4151-9BBB-DCAC220FEC98}">
      <dgm:prSet/>
      <dgm:spPr/>
      <dgm:t>
        <a:bodyPr/>
        <a:lstStyle/>
        <a:p>
          <a:endParaRPr lang="en-US"/>
        </a:p>
      </dgm:t>
    </dgm:pt>
    <dgm:pt modelId="{9976E3FC-09DB-44AF-A5D7-6246CFF89926}">
      <dgm:prSet/>
      <dgm:spPr/>
      <dgm:t>
        <a:bodyPr/>
        <a:lstStyle/>
        <a:p>
          <a:r>
            <a:rPr lang="en-GB" dirty="0"/>
            <a:t>Difficult to distinguish:</a:t>
          </a:r>
          <a:endParaRPr lang="en-US" dirty="0"/>
        </a:p>
      </dgm:t>
    </dgm:pt>
    <dgm:pt modelId="{CD51CC7A-901E-4E06-8E24-F3C3E5751429}" type="parTrans" cxnId="{58B107BC-7C83-49F1-AED1-E14CAE815725}">
      <dgm:prSet/>
      <dgm:spPr/>
      <dgm:t>
        <a:bodyPr/>
        <a:lstStyle/>
        <a:p>
          <a:endParaRPr lang="en-US"/>
        </a:p>
      </dgm:t>
    </dgm:pt>
    <dgm:pt modelId="{51596B6A-2D49-4D71-A067-C2B941368932}" type="sibTrans" cxnId="{58B107BC-7C83-49F1-AED1-E14CAE815725}">
      <dgm:prSet/>
      <dgm:spPr/>
      <dgm:t>
        <a:bodyPr/>
        <a:lstStyle/>
        <a:p>
          <a:endParaRPr lang="en-US"/>
        </a:p>
      </dgm:t>
    </dgm:pt>
    <dgm:pt modelId="{49998A17-8D56-43DC-B76C-2D43FB46F6D9}">
      <dgm:prSet/>
      <dgm:spPr/>
      <dgm:t>
        <a:bodyPr/>
        <a:lstStyle/>
        <a:p>
          <a:r>
            <a:rPr lang="en-GB" dirty="0"/>
            <a:t>medical emergency</a:t>
          </a:r>
          <a:endParaRPr lang="en-US" dirty="0"/>
        </a:p>
      </dgm:t>
    </dgm:pt>
    <dgm:pt modelId="{108D4932-B7F2-46D7-AF8E-A4BF61660D90}" type="parTrans" cxnId="{AEB1A724-5A5E-4158-8AA5-F9942C551DB9}">
      <dgm:prSet/>
      <dgm:spPr/>
      <dgm:t>
        <a:bodyPr/>
        <a:lstStyle/>
        <a:p>
          <a:endParaRPr lang="en-US"/>
        </a:p>
      </dgm:t>
    </dgm:pt>
    <dgm:pt modelId="{2800E79F-F52A-4EBF-B4FE-DCE68B2A09A6}" type="sibTrans" cxnId="{AEB1A724-5A5E-4158-8AA5-F9942C551DB9}">
      <dgm:prSet/>
      <dgm:spPr/>
      <dgm:t>
        <a:bodyPr/>
        <a:lstStyle/>
        <a:p>
          <a:endParaRPr lang="en-US"/>
        </a:p>
      </dgm:t>
    </dgm:pt>
    <dgm:pt modelId="{5A63E351-C643-42A1-91F9-61A5858EB290}">
      <dgm:prSet/>
      <dgm:spPr/>
      <dgm:t>
        <a:bodyPr/>
        <a:lstStyle/>
        <a:p>
          <a:r>
            <a:rPr lang="en-GB" dirty="0"/>
            <a:t>sensor malfunction</a:t>
          </a:r>
          <a:endParaRPr lang="en-US" dirty="0"/>
        </a:p>
      </dgm:t>
    </dgm:pt>
    <dgm:pt modelId="{B1B26CE0-0154-410D-885F-1D37EA93961A}" type="parTrans" cxnId="{82CD9051-BBFE-4E62-952B-E7CFD77F6691}">
      <dgm:prSet/>
      <dgm:spPr/>
      <dgm:t>
        <a:bodyPr/>
        <a:lstStyle/>
        <a:p>
          <a:endParaRPr lang="en-US"/>
        </a:p>
      </dgm:t>
    </dgm:pt>
    <dgm:pt modelId="{FF210F72-E28F-4623-A5E2-F3ED51C2781E}" type="sibTrans" cxnId="{82CD9051-BBFE-4E62-952B-E7CFD77F6691}">
      <dgm:prSet/>
      <dgm:spPr/>
      <dgm:t>
        <a:bodyPr/>
        <a:lstStyle/>
        <a:p>
          <a:endParaRPr lang="en-US"/>
        </a:p>
      </dgm:t>
    </dgm:pt>
    <dgm:pt modelId="{E71BA9AC-6E2D-4047-AEB6-986B1ACB5EF6}">
      <dgm:prSet/>
      <dgm:spPr/>
      <dgm:t>
        <a:bodyPr/>
        <a:lstStyle/>
        <a:p>
          <a:r>
            <a:rPr lang="en-GB" dirty="0"/>
            <a:t>Existing AI systems are “black-box”</a:t>
          </a:r>
          <a:endParaRPr lang="en-US" dirty="0"/>
        </a:p>
      </dgm:t>
    </dgm:pt>
    <dgm:pt modelId="{4EFAED1F-8494-484B-ACD7-2ACE63CB6D75}" type="parTrans" cxnId="{07C650A5-82F4-42DD-BFBA-587BC5148921}">
      <dgm:prSet/>
      <dgm:spPr/>
      <dgm:t>
        <a:bodyPr/>
        <a:lstStyle/>
        <a:p>
          <a:endParaRPr lang="en-US"/>
        </a:p>
      </dgm:t>
    </dgm:pt>
    <dgm:pt modelId="{017BA203-077B-4480-BA0E-7A6429065E9D}" type="sibTrans" cxnId="{07C650A5-82F4-42DD-BFBA-587BC5148921}">
      <dgm:prSet/>
      <dgm:spPr/>
      <dgm:t>
        <a:bodyPr/>
        <a:lstStyle/>
        <a:p>
          <a:endParaRPr lang="en-US"/>
        </a:p>
      </dgm:t>
    </dgm:pt>
    <dgm:pt modelId="{5031ED5E-AA8C-40A3-8891-D244699389C6}">
      <dgm:prSet/>
      <dgm:spPr/>
      <dgm:t>
        <a:bodyPr/>
        <a:lstStyle/>
        <a:p>
          <a:r>
            <a:rPr lang="en-GB" b="1" dirty="0"/>
            <a:t>Clinical Consequence</a:t>
          </a:r>
          <a:endParaRPr lang="en-US" dirty="0"/>
        </a:p>
      </dgm:t>
    </dgm:pt>
    <dgm:pt modelId="{9C6C6793-09D3-40D0-85E3-D16CB606340F}" type="parTrans" cxnId="{CFB7DB3D-786A-4E15-A65B-F14ED4A51B82}">
      <dgm:prSet/>
      <dgm:spPr/>
      <dgm:t>
        <a:bodyPr/>
        <a:lstStyle/>
        <a:p>
          <a:endParaRPr lang="en-US"/>
        </a:p>
      </dgm:t>
    </dgm:pt>
    <dgm:pt modelId="{FD8E60A3-84AE-481C-AF94-7B5125A41267}" type="sibTrans" cxnId="{CFB7DB3D-786A-4E15-A65B-F14ED4A51B82}">
      <dgm:prSet/>
      <dgm:spPr/>
      <dgm:t>
        <a:bodyPr/>
        <a:lstStyle/>
        <a:p>
          <a:endParaRPr lang="en-US"/>
        </a:p>
      </dgm:t>
    </dgm:pt>
    <dgm:pt modelId="{B459AD64-6B6B-4312-B755-AB2F19D1E122}">
      <dgm:prSet/>
      <dgm:spPr/>
      <dgm:t>
        <a:bodyPr/>
        <a:lstStyle/>
        <a:p>
          <a:r>
            <a:rPr lang="en-GB" dirty="0"/>
            <a:t>Alarm Fatigue</a:t>
          </a:r>
          <a:endParaRPr lang="en-US" dirty="0"/>
        </a:p>
      </dgm:t>
    </dgm:pt>
    <dgm:pt modelId="{E269A568-DDC3-424E-BCF9-595C42F3D8D3}" type="parTrans" cxnId="{3AB6CFD2-886E-4127-903C-F2F9466E8442}">
      <dgm:prSet/>
      <dgm:spPr/>
      <dgm:t>
        <a:bodyPr/>
        <a:lstStyle/>
        <a:p>
          <a:endParaRPr lang="en-US"/>
        </a:p>
      </dgm:t>
    </dgm:pt>
    <dgm:pt modelId="{BD49E9D3-6017-4CDE-ADE7-2B4BB8EEB1E3}" type="sibTrans" cxnId="{3AB6CFD2-886E-4127-903C-F2F9466E8442}">
      <dgm:prSet/>
      <dgm:spPr/>
      <dgm:t>
        <a:bodyPr/>
        <a:lstStyle/>
        <a:p>
          <a:endParaRPr lang="en-US"/>
        </a:p>
      </dgm:t>
    </dgm:pt>
    <dgm:pt modelId="{01C760FF-6C2E-49B6-9B2C-8D67FDB88D18}">
      <dgm:prSet/>
      <dgm:spPr/>
      <dgm:t>
        <a:bodyPr/>
        <a:lstStyle/>
        <a:p>
          <a:r>
            <a:rPr lang="en-GB" dirty="0"/>
            <a:t>Reduced clinician trust</a:t>
          </a:r>
          <a:endParaRPr lang="en-US" dirty="0"/>
        </a:p>
      </dgm:t>
    </dgm:pt>
    <dgm:pt modelId="{BE886D37-BCD5-47D9-A60A-C5D31760C491}" type="parTrans" cxnId="{E9CA6BAE-184D-4E60-BE35-E7983E5E7E05}">
      <dgm:prSet/>
      <dgm:spPr/>
      <dgm:t>
        <a:bodyPr/>
        <a:lstStyle/>
        <a:p>
          <a:endParaRPr lang="en-US"/>
        </a:p>
      </dgm:t>
    </dgm:pt>
    <dgm:pt modelId="{5468F67D-8C50-4776-9A5B-FFD2FC8392FA}" type="sibTrans" cxnId="{E9CA6BAE-184D-4E60-BE35-E7983E5E7E05}">
      <dgm:prSet/>
      <dgm:spPr/>
      <dgm:t>
        <a:bodyPr/>
        <a:lstStyle/>
        <a:p>
          <a:endParaRPr lang="en-US"/>
        </a:p>
      </dgm:t>
    </dgm:pt>
    <dgm:pt modelId="{119C289D-916D-48A7-BE02-1715152B8196}">
      <dgm:prSet/>
      <dgm:spPr/>
      <dgm:t>
        <a:bodyPr/>
        <a:lstStyle/>
        <a:p>
          <a:r>
            <a:rPr lang="en-GB" dirty="0"/>
            <a:t>Delayed intervention</a:t>
          </a:r>
          <a:endParaRPr lang="en-US" dirty="0"/>
        </a:p>
      </dgm:t>
    </dgm:pt>
    <dgm:pt modelId="{AE860963-4750-405E-B8D2-95D77CCBC66F}" type="parTrans" cxnId="{896DB5A5-EF67-4F45-AA26-078B0BC5C34E}">
      <dgm:prSet/>
      <dgm:spPr/>
      <dgm:t>
        <a:bodyPr/>
        <a:lstStyle/>
        <a:p>
          <a:endParaRPr lang="en-US"/>
        </a:p>
      </dgm:t>
    </dgm:pt>
    <dgm:pt modelId="{76890FCD-3314-4954-B132-90B8A0C1F581}" type="sibTrans" cxnId="{896DB5A5-EF67-4F45-AA26-078B0BC5C34E}">
      <dgm:prSet/>
      <dgm:spPr/>
      <dgm:t>
        <a:bodyPr/>
        <a:lstStyle/>
        <a:p>
          <a:endParaRPr lang="en-US"/>
        </a:p>
      </dgm:t>
    </dgm:pt>
    <dgm:pt modelId="{11048381-7C52-3044-9AA7-77C84D67AD5A}" type="pres">
      <dgm:prSet presAssocID="{DE5E2B34-A2B3-4CD1-970F-416F457E8A20}" presName="linear" presStyleCnt="0">
        <dgm:presLayoutVars>
          <dgm:dir/>
          <dgm:animLvl val="lvl"/>
          <dgm:resizeHandles val="exact"/>
        </dgm:presLayoutVars>
      </dgm:prSet>
      <dgm:spPr/>
    </dgm:pt>
    <dgm:pt modelId="{8DEBF636-1A23-7E40-B7D6-E637E47451D5}" type="pres">
      <dgm:prSet presAssocID="{D9117115-3C0F-4662-A7B2-CC416361944F}" presName="parentLin" presStyleCnt="0"/>
      <dgm:spPr/>
    </dgm:pt>
    <dgm:pt modelId="{8C905B8A-C4EA-1547-8373-5A443414E96D}" type="pres">
      <dgm:prSet presAssocID="{D9117115-3C0F-4662-A7B2-CC416361944F}" presName="parentLeftMargin" presStyleLbl="node1" presStyleIdx="0" presStyleCnt="2"/>
      <dgm:spPr/>
    </dgm:pt>
    <dgm:pt modelId="{DBF3652C-D2B3-DF40-943A-909233EED934}" type="pres">
      <dgm:prSet presAssocID="{D9117115-3C0F-4662-A7B2-CC416361944F}" presName="parentText" presStyleLbl="node1" presStyleIdx="0" presStyleCnt="2">
        <dgm:presLayoutVars>
          <dgm:chMax val="0"/>
          <dgm:bulletEnabled val="1"/>
        </dgm:presLayoutVars>
      </dgm:prSet>
      <dgm:spPr/>
    </dgm:pt>
    <dgm:pt modelId="{17D59F2E-540B-4B4A-8CA9-D40DAB7AF136}" type="pres">
      <dgm:prSet presAssocID="{D9117115-3C0F-4662-A7B2-CC416361944F}" presName="negativeSpace" presStyleCnt="0"/>
      <dgm:spPr/>
    </dgm:pt>
    <dgm:pt modelId="{E9878B47-1738-9641-B43B-743069C51EB6}" type="pres">
      <dgm:prSet presAssocID="{D9117115-3C0F-4662-A7B2-CC416361944F}" presName="childText" presStyleLbl="conFgAcc1" presStyleIdx="0" presStyleCnt="2">
        <dgm:presLayoutVars>
          <dgm:bulletEnabled val="1"/>
        </dgm:presLayoutVars>
      </dgm:prSet>
      <dgm:spPr/>
    </dgm:pt>
    <dgm:pt modelId="{2035714B-7D87-2E42-B2DF-B651D43E860A}" type="pres">
      <dgm:prSet presAssocID="{E715EF3F-F088-4473-B6D2-193DCCC6CF0D}" presName="spaceBetweenRectangles" presStyleCnt="0"/>
      <dgm:spPr/>
    </dgm:pt>
    <dgm:pt modelId="{36CC9057-F9E3-2041-AEBB-80B17A007F81}" type="pres">
      <dgm:prSet presAssocID="{5031ED5E-AA8C-40A3-8891-D244699389C6}" presName="parentLin" presStyleCnt="0"/>
      <dgm:spPr/>
    </dgm:pt>
    <dgm:pt modelId="{68A3F350-9C06-8045-B014-E2297FE1C9B3}" type="pres">
      <dgm:prSet presAssocID="{5031ED5E-AA8C-40A3-8891-D244699389C6}" presName="parentLeftMargin" presStyleLbl="node1" presStyleIdx="0" presStyleCnt="2"/>
      <dgm:spPr/>
    </dgm:pt>
    <dgm:pt modelId="{4F5A8194-B83F-F94C-B603-C619BA51692A}" type="pres">
      <dgm:prSet presAssocID="{5031ED5E-AA8C-40A3-8891-D244699389C6}" presName="parentText" presStyleLbl="node1" presStyleIdx="1" presStyleCnt="2">
        <dgm:presLayoutVars>
          <dgm:chMax val="0"/>
          <dgm:bulletEnabled val="1"/>
        </dgm:presLayoutVars>
      </dgm:prSet>
      <dgm:spPr/>
    </dgm:pt>
    <dgm:pt modelId="{3D245CB5-E525-6440-9FBB-FBD4F69D0166}" type="pres">
      <dgm:prSet presAssocID="{5031ED5E-AA8C-40A3-8891-D244699389C6}" presName="negativeSpace" presStyleCnt="0"/>
      <dgm:spPr/>
    </dgm:pt>
    <dgm:pt modelId="{3C6FD127-856E-3C42-A848-0B94681060E0}" type="pres">
      <dgm:prSet presAssocID="{5031ED5E-AA8C-40A3-8891-D244699389C6}" presName="childText" presStyleLbl="conFgAcc1" presStyleIdx="1" presStyleCnt="2">
        <dgm:presLayoutVars>
          <dgm:bulletEnabled val="1"/>
        </dgm:presLayoutVars>
      </dgm:prSet>
      <dgm:spPr/>
    </dgm:pt>
  </dgm:ptLst>
  <dgm:cxnLst>
    <dgm:cxn modelId="{9DEBC704-9AF8-234E-B539-5866066368E4}" type="presOf" srcId="{DE5E2B34-A2B3-4CD1-970F-416F457E8A20}" destId="{11048381-7C52-3044-9AA7-77C84D67AD5A}" srcOrd="0" destOrd="0" presId="urn:microsoft.com/office/officeart/2005/8/layout/list1"/>
    <dgm:cxn modelId="{58E95915-DE2B-4E49-8D08-CF68C8731842}" type="presOf" srcId="{D9117115-3C0F-4662-A7B2-CC416361944F}" destId="{8C905B8A-C4EA-1547-8373-5A443414E96D}" srcOrd="0" destOrd="0" presId="urn:microsoft.com/office/officeart/2005/8/layout/list1"/>
    <dgm:cxn modelId="{C7F9AD17-9857-8E4A-AD73-1544D7840E91}" type="presOf" srcId="{49998A17-8D56-43DC-B76C-2D43FB46F6D9}" destId="{E9878B47-1738-9641-B43B-743069C51EB6}" srcOrd="0" destOrd="2" presId="urn:microsoft.com/office/officeart/2005/8/layout/list1"/>
    <dgm:cxn modelId="{0501D221-3F03-844C-871A-3D0C2F699A20}" type="presOf" srcId="{5031ED5E-AA8C-40A3-8891-D244699389C6}" destId="{68A3F350-9C06-8045-B014-E2297FE1C9B3}" srcOrd="0" destOrd="0" presId="urn:microsoft.com/office/officeart/2005/8/layout/list1"/>
    <dgm:cxn modelId="{AEB1A724-5A5E-4158-8AA5-F9942C551DB9}" srcId="{9976E3FC-09DB-44AF-A5D7-6246CFF89926}" destId="{49998A17-8D56-43DC-B76C-2D43FB46F6D9}" srcOrd="0" destOrd="0" parTransId="{108D4932-B7F2-46D7-AF8E-A4BF61660D90}" sibTransId="{2800E79F-F52A-4EBF-B4FE-DCE68B2A09A6}"/>
    <dgm:cxn modelId="{C775CB2C-1A19-F241-9FAB-8BBAFF7E0D0D}" type="presOf" srcId="{5031ED5E-AA8C-40A3-8891-D244699389C6}" destId="{4F5A8194-B83F-F94C-B603-C619BA51692A}" srcOrd="1" destOrd="0" presId="urn:microsoft.com/office/officeart/2005/8/layout/list1"/>
    <dgm:cxn modelId="{56F47D2F-EF01-3C41-B629-F05EE60952DE}" type="presOf" srcId="{119C289D-916D-48A7-BE02-1715152B8196}" destId="{3C6FD127-856E-3C42-A848-0B94681060E0}" srcOrd="0" destOrd="2" presId="urn:microsoft.com/office/officeart/2005/8/layout/list1"/>
    <dgm:cxn modelId="{1B6F4930-62F0-E942-A873-E19F8FBDB02F}" type="presOf" srcId="{CDE63E2C-A241-46B2-97CC-6283ABCF7E8E}" destId="{E9878B47-1738-9641-B43B-743069C51EB6}" srcOrd="0" destOrd="0" presId="urn:microsoft.com/office/officeart/2005/8/layout/list1"/>
    <dgm:cxn modelId="{CFB7DB3D-786A-4E15-A65B-F14ED4A51B82}" srcId="{DE5E2B34-A2B3-4CD1-970F-416F457E8A20}" destId="{5031ED5E-AA8C-40A3-8891-D244699389C6}" srcOrd="1" destOrd="0" parTransId="{9C6C6793-09D3-40D0-85E3-D16CB606340F}" sibTransId="{FD8E60A3-84AE-481C-AF94-7B5125A41267}"/>
    <dgm:cxn modelId="{D840A149-1652-514D-8A43-045B613D22D2}" type="presOf" srcId="{01C760FF-6C2E-49B6-9B2C-8D67FDB88D18}" destId="{3C6FD127-856E-3C42-A848-0B94681060E0}" srcOrd="0" destOrd="1" presId="urn:microsoft.com/office/officeart/2005/8/layout/list1"/>
    <dgm:cxn modelId="{82CD9051-BBFE-4E62-952B-E7CFD77F6691}" srcId="{9976E3FC-09DB-44AF-A5D7-6246CFF89926}" destId="{5A63E351-C643-42A1-91F9-61A5858EB290}" srcOrd="1" destOrd="0" parTransId="{B1B26CE0-0154-410D-885F-1D37EA93961A}" sibTransId="{FF210F72-E28F-4623-A5E2-F3ED51C2781E}"/>
    <dgm:cxn modelId="{D970DD66-8590-6241-BC09-C58D17958333}" type="presOf" srcId="{5A63E351-C643-42A1-91F9-61A5858EB290}" destId="{E9878B47-1738-9641-B43B-743069C51EB6}" srcOrd="0" destOrd="3" presId="urn:microsoft.com/office/officeart/2005/8/layout/list1"/>
    <dgm:cxn modelId="{306A9F72-F5AA-D848-A51F-12E4BA43E088}" type="presOf" srcId="{E71BA9AC-6E2D-4047-AEB6-986B1ACB5EF6}" destId="{E9878B47-1738-9641-B43B-743069C51EB6}" srcOrd="0" destOrd="4" presId="urn:microsoft.com/office/officeart/2005/8/layout/list1"/>
    <dgm:cxn modelId="{EACB6D83-66EA-2746-AC4C-05986D88AEC5}" type="presOf" srcId="{D9117115-3C0F-4662-A7B2-CC416361944F}" destId="{DBF3652C-D2B3-DF40-943A-909233EED934}" srcOrd="1" destOrd="0" presId="urn:microsoft.com/office/officeart/2005/8/layout/list1"/>
    <dgm:cxn modelId="{40D8ED99-D159-3C4B-A7E0-1A7ADFE8D39F}" type="presOf" srcId="{B459AD64-6B6B-4312-B755-AB2F19D1E122}" destId="{3C6FD127-856E-3C42-A848-0B94681060E0}" srcOrd="0" destOrd="0" presId="urn:microsoft.com/office/officeart/2005/8/layout/list1"/>
    <dgm:cxn modelId="{07C650A5-82F4-42DD-BFBA-587BC5148921}" srcId="{D9117115-3C0F-4662-A7B2-CC416361944F}" destId="{E71BA9AC-6E2D-4047-AEB6-986B1ACB5EF6}" srcOrd="2" destOrd="0" parTransId="{4EFAED1F-8494-484B-ACD7-2ACE63CB6D75}" sibTransId="{017BA203-077B-4480-BA0E-7A6429065E9D}"/>
    <dgm:cxn modelId="{896DB5A5-EF67-4F45-AA26-078B0BC5C34E}" srcId="{5031ED5E-AA8C-40A3-8891-D244699389C6}" destId="{119C289D-916D-48A7-BE02-1715152B8196}" srcOrd="2" destOrd="0" parTransId="{AE860963-4750-405E-B8D2-95D77CCBC66F}" sibTransId="{76890FCD-3314-4954-B132-90B8A0C1F581}"/>
    <dgm:cxn modelId="{E9CA6BAE-184D-4E60-BE35-E7983E5E7E05}" srcId="{5031ED5E-AA8C-40A3-8891-D244699389C6}" destId="{01C760FF-6C2E-49B6-9B2C-8D67FDB88D18}" srcOrd="1" destOrd="0" parTransId="{BE886D37-BCD5-47D9-A60A-C5D31760C491}" sibTransId="{5468F67D-8C50-4776-9A5B-FFD2FC8392FA}"/>
    <dgm:cxn modelId="{58B107BC-7C83-49F1-AED1-E14CAE815725}" srcId="{D9117115-3C0F-4662-A7B2-CC416361944F}" destId="{9976E3FC-09DB-44AF-A5D7-6246CFF89926}" srcOrd="1" destOrd="0" parTransId="{CD51CC7A-901E-4E06-8E24-F3C3E5751429}" sibTransId="{51596B6A-2D49-4D71-A067-C2B941368932}"/>
    <dgm:cxn modelId="{84357DC3-A73E-4151-9BBB-DCAC220FEC98}" srcId="{D9117115-3C0F-4662-A7B2-CC416361944F}" destId="{CDE63E2C-A241-46B2-97CC-6283ABCF7E8E}" srcOrd="0" destOrd="0" parTransId="{7EDA4D54-08B9-4889-8F43-3D52D4DB8C4E}" sibTransId="{D3D6A1F4-1AB7-4870-BA77-8FAA57F08FF7}"/>
    <dgm:cxn modelId="{E152D4CF-7F12-B345-A8FB-39B493B2BAA3}" type="presOf" srcId="{9976E3FC-09DB-44AF-A5D7-6246CFF89926}" destId="{E9878B47-1738-9641-B43B-743069C51EB6}" srcOrd="0" destOrd="1" presId="urn:microsoft.com/office/officeart/2005/8/layout/list1"/>
    <dgm:cxn modelId="{3AB6CFD2-886E-4127-903C-F2F9466E8442}" srcId="{5031ED5E-AA8C-40A3-8891-D244699389C6}" destId="{B459AD64-6B6B-4312-B755-AB2F19D1E122}" srcOrd="0" destOrd="0" parTransId="{E269A568-DDC3-424E-BCF9-595C42F3D8D3}" sibTransId="{BD49E9D3-6017-4CDE-ADE7-2B4BB8EEB1E3}"/>
    <dgm:cxn modelId="{E35EF3FE-D865-428D-BE66-C527FE9E1FE6}" srcId="{DE5E2B34-A2B3-4CD1-970F-416F457E8A20}" destId="{D9117115-3C0F-4662-A7B2-CC416361944F}" srcOrd="0" destOrd="0" parTransId="{4C735AA8-4298-48DC-84AC-3C86EC2C0E81}" sibTransId="{E715EF3F-F088-4473-B6D2-193DCCC6CF0D}"/>
    <dgm:cxn modelId="{2FC57C97-02C8-C94D-BAD8-19BBC1F262CC}" type="presParOf" srcId="{11048381-7C52-3044-9AA7-77C84D67AD5A}" destId="{8DEBF636-1A23-7E40-B7D6-E637E47451D5}" srcOrd="0" destOrd="0" presId="urn:microsoft.com/office/officeart/2005/8/layout/list1"/>
    <dgm:cxn modelId="{A086E23A-5750-EF47-96E2-23AE9F209EBE}" type="presParOf" srcId="{8DEBF636-1A23-7E40-B7D6-E637E47451D5}" destId="{8C905B8A-C4EA-1547-8373-5A443414E96D}" srcOrd="0" destOrd="0" presId="urn:microsoft.com/office/officeart/2005/8/layout/list1"/>
    <dgm:cxn modelId="{E4A1EA79-DFDC-3A42-975B-3E05083A2871}" type="presParOf" srcId="{8DEBF636-1A23-7E40-B7D6-E637E47451D5}" destId="{DBF3652C-D2B3-DF40-943A-909233EED934}" srcOrd="1" destOrd="0" presId="urn:microsoft.com/office/officeart/2005/8/layout/list1"/>
    <dgm:cxn modelId="{8688E43D-5AF4-AD44-B470-349C6174D49D}" type="presParOf" srcId="{11048381-7C52-3044-9AA7-77C84D67AD5A}" destId="{17D59F2E-540B-4B4A-8CA9-D40DAB7AF136}" srcOrd="1" destOrd="0" presId="urn:microsoft.com/office/officeart/2005/8/layout/list1"/>
    <dgm:cxn modelId="{A92D7DC6-2A8B-7E47-B5DA-349CD7EB0E88}" type="presParOf" srcId="{11048381-7C52-3044-9AA7-77C84D67AD5A}" destId="{E9878B47-1738-9641-B43B-743069C51EB6}" srcOrd="2" destOrd="0" presId="urn:microsoft.com/office/officeart/2005/8/layout/list1"/>
    <dgm:cxn modelId="{27981FD2-1F09-C946-A7EC-8CE509BC4B20}" type="presParOf" srcId="{11048381-7C52-3044-9AA7-77C84D67AD5A}" destId="{2035714B-7D87-2E42-B2DF-B651D43E860A}" srcOrd="3" destOrd="0" presId="urn:microsoft.com/office/officeart/2005/8/layout/list1"/>
    <dgm:cxn modelId="{AE567150-86AC-754E-8409-364F3CA562E6}" type="presParOf" srcId="{11048381-7C52-3044-9AA7-77C84D67AD5A}" destId="{36CC9057-F9E3-2041-AEBB-80B17A007F81}" srcOrd="4" destOrd="0" presId="urn:microsoft.com/office/officeart/2005/8/layout/list1"/>
    <dgm:cxn modelId="{D0304A2A-FEA2-A149-A9C0-4956CE50EB06}" type="presParOf" srcId="{36CC9057-F9E3-2041-AEBB-80B17A007F81}" destId="{68A3F350-9C06-8045-B014-E2297FE1C9B3}" srcOrd="0" destOrd="0" presId="urn:microsoft.com/office/officeart/2005/8/layout/list1"/>
    <dgm:cxn modelId="{9E59CDF5-D7E4-5F49-9AD6-44E798F2D198}" type="presParOf" srcId="{36CC9057-F9E3-2041-AEBB-80B17A007F81}" destId="{4F5A8194-B83F-F94C-B603-C619BA51692A}" srcOrd="1" destOrd="0" presId="urn:microsoft.com/office/officeart/2005/8/layout/list1"/>
    <dgm:cxn modelId="{D10E9DBE-3BE3-4D46-BC1B-4F8D113D1EBE}" type="presParOf" srcId="{11048381-7C52-3044-9AA7-77C84D67AD5A}" destId="{3D245CB5-E525-6440-9FBB-FBD4F69D0166}" srcOrd="5" destOrd="0" presId="urn:microsoft.com/office/officeart/2005/8/layout/list1"/>
    <dgm:cxn modelId="{30C0DF8E-4102-934A-99E5-719B2703ADEF}" type="presParOf" srcId="{11048381-7C52-3044-9AA7-77C84D67AD5A}" destId="{3C6FD127-856E-3C42-A848-0B94681060E0}"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74C7AC3-A22E-A145-8C9B-0329F881FD4C}"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GB"/>
        </a:p>
      </dgm:t>
    </dgm:pt>
    <dgm:pt modelId="{64C8C08D-2FF6-EF43-B15B-1940DCB138E7}">
      <dgm:prSet/>
      <dgm:spPr/>
      <dgm:t>
        <a:bodyPr/>
        <a:lstStyle/>
        <a:p>
          <a:r>
            <a:rPr lang="en-US" dirty="0"/>
            <a:t>Sensor </a:t>
          </a:r>
          <a:r>
            <a:rPr lang="en-US"/>
            <a:t>Data </a:t>
          </a:r>
          <a:endParaRPr lang="en-GB" dirty="0"/>
        </a:p>
      </dgm:t>
    </dgm:pt>
    <dgm:pt modelId="{79716885-2D17-7347-95F7-106A6EF7C829}" type="parTrans" cxnId="{D07005A4-DEF0-5F40-AF4A-F2A78594637E}">
      <dgm:prSet/>
      <dgm:spPr/>
      <dgm:t>
        <a:bodyPr/>
        <a:lstStyle/>
        <a:p>
          <a:endParaRPr lang="en-GB"/>
        </a:p>
      </dgm:t>
    </dgm:pt>
    <dgm:pt modelId="{F4847BDF-6914-F84A-9F75-259124A38111}" type="sibTrans" cxnId="{D07005A4-DEF0-5F40-AF4A-F2A78594637E}">
      <dgm:prSet/>
      <dgm:spPr/>
      <dgm:t>
        <a:bodyPr/>
        <a:lstStyle/>
        <a:p>
          <a:endParaRPr lang="en-GB"/>
        </a:p>
      </dgm:t>
    </dgm:pt>
    <dgm:pt modelId="{47C70541-DB59-5149-84AF-B447B114DB83}">
      <dgm:prSet/>
      <dgm:spPr/>
      <dgm:t>
        <a:bodyPr/>
        <a:lstStyle/>
        <a:p>
          <a:r>
            <a:rPr lang="en-US" dirty="0"/>
            <a:t>Black Box AI </a:t>
          </a:r>
          <a:endParaRPr lang="en-GB" dirty="0"/>
        </a:p>
      </dgm:t>
    </dgm:pt>
    <dgm:pt modelId="{A83943E8-7A77-7D47-A101-32FD2A11253F}" type="parTrans" cxnId="{64DE6C70-47A1-5D47-AFEB-F7E4888E1022}">
      <dgm:prSet/>
      <dgm:spPr/>
      <dgm:t>
        <a:bodyPr/>
        <a:lstStyle/>
        <a:p>
          <a:endParaRPr lang="en-GB"/>
        </a:p>
      </dgm:t>
    </dgm:pt>
    <dgm:pt modelId="{476FF906-67A8-7C4D-8F20-3025F469DDFA}" type="sibTrans" cxnId="{64DE6C70-47A1-5D47-AFEB-F7E4888E1022}">
      <dgm:prSet/>
      <dgm:spPr/>
      <dgm:t>
        <a:bodyPr/>
        <a:lstStyle/>
        <a:p>
          <a:endParaRPr lang="en-GB"/>
        </a:p>
      </dgm:t>
    </dgm:pt>
    <dgm:pt modelId="{CF1A2704-15DD-4D40-AED7-5808A205155A}">
      <dgm:prSet/>
      <dgm:spPr/>
      <dgm:t>
        <a:bodyPr/>
        <a:lstStyle/>
        <a:p>
          <a:r>
            <a:rPr lang="en-US" dirty="0"/>
            <a:t>Unclear Alert </a:t>
          </a:r>
          <a:endParaRPr lang="en-GB" dirty="0"/>
        </a:p>
      </dgm:t>
    </dgm:pt>
    <dgm:pt modelId="{D10BE643-4DA2-7243-991D-496FFB3F26FA}" type="parTrans" cxnId="{FC74A774-0C7D-D345-B8EB-08D55501472A}">
      <dgm:prSet/>
      <dgm:spPr/>
      <dgm:t>
        <a:bodyPr/>
        <a:lstStyle/>
        <a:p>
          <a:endParaRPr lang="en-GB"/>
        </a:p>
      </dgm:t>
    </dgm:pt>
    <dgm:pt modelId="{6CA60170-F3A9-6D4E-AC9F-032A13E7480B}" type="sibTrans" cxnId="{FC74A774-0C7D-D345-B8EB-08D55501472A}">
      <dgm:prSet/>
      <dgm:spPr/>
      <dgm:t>
        <a:bodyPr/>
        <a:lstStyle/>
        <a:p>
          <a:endParaRPr lang="en-GB"/>
        </a:p>
      </dgm:t>
    </dgm:pt>
    <dgm:pt modelId="{B7B76189-3F7F-F84C-AF90-8EAB808D655C}">
      <dgm:prSet/>
      <dgm:spPr/>
      <dgm:t>
        <a:bodyPr/>
        <a:lstStyle/>
        <a:p>
          <a:r>
            <a:rPr lang="en-US" dirty="0"/>
            <a:t>Clinician Confusion</a:t>
          </a:r>
          <a:endParaRPr lang="en-GB" dirty="0"/>
        </a:p>
      </dgm:t>
    </dgm:pt>
    <dgm:pt modelId="{9B26670A-3D6C-4944-BAAB-BA948C8CD405}" type="parTrans" cxnId="{1776158A-A633-FE43-8826-8E908A7D3324}">
      <dgm:prSet/>
      <dgm:spPr/>
      <dgm:t>
        <a:bodyPr/>
        <a:lstStyle/>
        <a:p>
          <a:endParaRPr lang="en-GB"/>
        </a:p>
      </dgm:t>
    </dgm:pt>
    <dgm:pt modelId="{0318D042-5171-3349-81BA-4F2AB6453536}" type="sibTrans" cxnId="{1776158A-A633-FE43-8826-8E908A7D3324}">
      <dgm:prSet/>
      <dgm:spPr/>
      <dgm:t>
        <a:bodyPr/>
        <a:lstStyle/>
        <a:p>
          <a:endParaRPr lang="en-GB"/>
        </a:p>
      </dgm:t>
    </dgm:pt>
    <dgm:pt modelId="{BA150059-6D0E-FE40-A204-60F8EC5A0A97}" type="pres">
      <dgm:prSet presAssocID="{574C7AC3-A22E-A145-8C9B-0329F881FD4C}" presName="Name0" presStyleCnt="0">
        <dgm:presLayoutVars>
          <dgm:dir/>
          <dgm:resizeHandles val="exact"/>
        </dgm:presLayoutVars>
      </dgm:prSet>
      <dgm:spPr/>
    </dgm:pt>
    <dgm:pt modelId="{AA42473B-5D97-DA45-B9D5-FFAD0DEF45B2}" type="pres">
      <dgm:prSet presAssocID="{64C8C08D-2FF6-EF43-B15B-1940DCB138E7}" presName="node" presStyleLbl="node1" presStyleIdx="0" presStyleCnt="4" custLinFactNeighborX="-2351" custLinFactNeighborY="-30681">
        <dgm:presLayoutVars>
          <dgm:bulletEnabled val="1"/>
        </dgm:presLayoutVars>
      </dgm:prSet>
      <dgm:spPr/>
    </dgm:pt>
    <dgm:pt modelId="{3778DB37-CD6F-934B-9E07-31B85A19C158}" type="pres">
      <dgm:prSet presAssocID="{F4847BDF-6914-F84A-9F75-259124A38111}" presName="sibTrans" presStyleLbl="sibTrans2D1" presStyleIdx="0" presStyleCnt="3"/>
      <dgm:spPr/>
    </dgm:pt>
    <dgm:pt modelId="{288E0445-6821-9F4D-9C0C-E4FBE440E178}" type="pres">
      <dgm:prSet presAssocID="{F4847BDF-6914-F84A-9F75-259124A38111}" presName="connectorText" presStyleLbl="sibTrans2D1" presStyleIdx="0" presStyleCnt="3"/>
      <dgm:spPr/>
    </dgm:pt>
    <dgm:pt modelId="{8B6C71C3-D376-7241-A095-5F8348BA2325}" type="pres">
      <dgm:prSet presAssocID="{47C70541-DB59-5149-84AF-B447B114DB83}" presName="node" presStyleLbl="node1" presStyleIdx="1" presStyleCnt="4" custLinFactNeighborX="-2351" custLinFactNeighborY="-52830">
        <dgm:presLayoutVars>
          <dgm:bulletEnabled val="1"/>
        </dgm:presLayoutVars>
      </dgm:prSet>
      <dgm:spPr/>
    </dgm:pt>
    <dgm:pt modelId="{A90E0881-5E16-B740-A41B-66B6EBB06AA4}" type="pres">
      <dgm:prSet presAssocID="{476FF906-67A8-7C4D-8F20-3025F469DDFA}" presName="sibTrans" presStyleLbl="sibTrans2D1" presStyleIdx="1" presStyleCnt="3"/>
      <dgm:spPr/>
    </dgm:pt>
    <dgm:pt modelId="{75EA6DC2-56B8-3F48-8759-E49EE4758D1A}" type="pres">
      <dgm:prSet presAssocID="{476FF906-67A8-7C4D-8F20-3025F469DDFA}" presName="connectorText" presStyleLbl="sibTrans2D1" presStyleIdx="1" presStyleCnt="3"/>
      <dgm:spPr/>
    </dgm:pt>
    <dgm:pt modelId="{46014F40-6D99-C041-80CA-398D3876F193}" type="pres">
      <dgm:prSet presAssocID="{CF1A2704-15DD-4D40-AED7-5808A205155A}" presName="node" presStyleLbl="node1" presStyleIdx="2" presStyleCnt="4" custLinFactNeighborY="-2830">
        <dgm:presLayoutVars>
          <dgm:bulletEnabled val="1"/>
        </dgm:presLayoutVars>
      </dgm:prSet>
      <dgm:spPr/>
    </dgm:pt>
    <dgm:pt modelId="{9C9BBC7C-199F-F346-9FBA-ED0CC8371339}" type="pres">
      <dgm:prSet presAssocID="{6CA60170-F3A9-6D4E-AC9F-032A13E7480B}" presName="sibTrans" presStyleLbl="sibTrans2D1" presStyleIdx="2" presStyleCnt="3"/>
      <dgm:spPr/>
    </dgm:pt>
    <dgm:pt modelId="{A5DB0AFC-5AC9-4C47-A18C-5512E5F3D037}" type="pres">
      <dgm:prSet presAssocID="{6CA60170-F3A9-6D4E-AC9F-032A13E7480B}" presName="connectorText" presStyleLbl="sibTrans2D1" presStyleIdx="2" presStyleCnt="3"/>
      <dgm:spPr/>
    </dgm:pt>
    <dgm:pt modelId="{82B58480-105F-F143-A465-64ABA21AAFBB}" type="pres">
      <dgm:prSet presAssocID="{B7B76189-3F7F-F84C-AF90-8EAB808D655C}" presName="node" presStyleLbl="node1" presStyleIdx="3" presStyleCnt="4">
        <dgm:presLayoutVars>
          <dgm:bulletEnabled val="1"/>
        </dgm:presLayoutVars>
      </dgm:prSet>
      <dgm:spPr/>
    </dgm:pt>
  </dgm:ptLst>
  <dgm:cxnLst>
    <dgm:cxn modelId="{5F5CD318-1E62-9A44-976C-03FCCF4CCCD4}" type="presOf" srcId="{B7B76189-3F7F-F84C-AF90-8EAB808D655C}" destId="{82B58480-105F-F143-A465-64ABA21AAFBB}" srcOrd="0" destOrd="0" presId="urn:microsoft.com/office/officeart/2005/8/layout/process1"/>
    <dgm:cxn modelId="{4046761E-3BC4-824E-8796-4A09033959AC}" type="presOf" srcId="{476FF906-67A8-7C4D-8F20-3025F469DDFA}" destId="{75EA6DC2-56B8-3F48-8759-E49EE4758D1A}" srcOrd="1" destOrd="0" presId="urn:microsoft.com/office/officeart/2005/8/layout/process1"/>
    <dgm:cxn modelId="{82ADA922-A6C2-2347-BCC2-5595588E0CD2}" type="presOf" srcId="{6CA60170-F3A9-6D4E-AC9F-032A13E7480B}" destId="{A5DB0AFC-5AC9-4C47-A18C-5512E5F3D037}" srcOrd="1" destOrd="0" presId="urn:microsoft.com/office/officeart/2005/8/layout/process1"/>
    <dgm:cxn modelId="{93921E37-8933-634B-914B-6CF76129B9C4}" type="presOf" srcId="{476FF906-67A8-7C4D-8F20-3025F469DDFA}" destId="{A90E0881-5E16-B740-A41B-66B6EBB06AA4}" srcOrd="0" destOrd="0" presId="urn:microsoft.com/office/officeart/2005/8/layout/process1"/>
    <dgm:cxn modelId="{02F9A253-3ED0-8045-8AE3-F1FC795180A5}" type="presOf" srcId="{CF1A2704-15DD-4D40-AED7-5808A205155A}" destId="{46014F40-6D99-C041-80CA-398D3876F193}" srcOrd="0" destOrd="0" presId="urn:microsoft.com/office/officeart/2005/8/layout/process1"/>
    <dgm:cxn modelId="{25E98462-7F63-0F47-93FB-26CEA8B272F1}" type="presOf" srcId="{F4847BDF-6914-F84A-9F75-259124A38111}" destId="{3778DB37-CD6F-934B-9E07-31B85A19C158}" srcOrd="0" destOrd="0" presId="urn:microsoft.com/office/officeart/2005/8/layout/process1"/>
    <dgm:cxn modelId="{6B5B8764-27BC-9647-B957-F99B6EE772E3}" type="presOf" srcId="{F4847BDF-6914-F84A-9F75-259124A38111}" destId="{288E0445-6821-9F4D-9C0C-E4FBE440E178}" srcOrd="1" destOrd="0" presId="urn:microsoft.com/office/officeart/2005/8/layout/process1"/>
    <dgm:cxn modelId="{64DE6C70-47A1-5D47-AFEB-F7E4888E1022}" srcId="{574C7AC3-A22E-A145-8C9B-0329F881FD4C}" destId="{47C70541-DB59-5149-84AF-B447B114DB83}" srcOrd="1" destOrd="0" parTransId="{A83943E8-7A77-7D47-A101-32FD2A11253F}" sibTransId="{476FF906-67A8-7C4D-8F20-3025F469DDFA}"/>
    <dgm:cxn modelId="{FC74A774-0C7D-D345-B8EB-08D55501472A}" srcId="{574C7AC3-A22E-A145-8C9B-0329F881FD4C}" destId="{CF1A2704-15DD-4D40-AED7-5808A205155A}" srcOrd="2" destOrd="0" parTransId="{D10BE643-4DA2-7243-991D-496FFB3F26FA}" sibTransId="{6CA60170-F3A9-6D4E-AC9F-032A13E7480B}"/>
    <dgm:cxn modelId="{EA80CC7F-9046-C94D-B4C9-1D139AFAF5B0}" type="presOf" srcId="{64C8C08D-2FF6-EF43-B15B-1940DCB138E7}" destId="{AA42473B-5D97-DA45-B9D5-FFAD0DEF45B2}" srcOrd="0" destOrd="0" presId="urn:microsoft.com/office/officeart/2005/8/layout/process1"/>
    <dgm:cxn modelId="{1776158A-A633-FE43-8826-8E908A7D3324}" srcId="{574C7AC3-A22E-A145-8C9B-0329F881FD4C}" destId="{B7B76189-3F7F-F84C-AF90-8EAB808D655C}" srcOrd="3" destOrd="0" parTransId="{9B26670A-3D6C-4944-BAAB-BA948C8CD405}" sibTransId="{0318D042-5171-3349-81BA-4F2AB6453536}"/>
    <dgm:cxn modelId="{C54A9E97-0ADD-C845-9C25-A3BAD36155ED}" type="presOf" srcId="{47C70541-DB59-5149-84AF-B447B114DB83}" destId="{8B6C71C3-D376-7241-A095-5F8348BA2325}" srcOrd="0" destOrd="0" presId="urn:microsoft.com/office/officeart/2005/8/layout/process1"/>
    <dgm:cxn modelId="{D07005A4-DEF0-5F40-AF4A-F2A78594637E}" srcId="{574C7AC3-A22E-A145-8C9B-0329F881FD4C}" destId="{64C8C08D-2FF6-EF43-B15B-1940DCB138E7}" srcOrd="0" destOrd="0" parTransId="{79716885-2D17-7347-95F7-106A6EF7C829}" sibTransId="{F4847BDF-6914-F84A-9F75-259124A38111}"/>
    <dgm:cxn modelId="{083091AD-9F30-1643-A7B9-72D3BE102F07}" type="presOf" srcId="{6CA60170-F3A9-6D4E-AC9F-032A13E7480B}" destId="{9C9BBC7C-199F-F346-9FBA-ED0CC8371339}" srcOrd="0" destOrd="0" presId="urn:microsoft.com/office/officeart/2005/8/layout/process1"/>
    <dgm:cxn modelId="{7B437CC2-AD41-5F4F-91F7-E032AEC0E20F}" type="presOf" srcId="{574C7AC3-A22E-A145-8C9B-0329F881FD4C}" destId="{BA150059-6D0E-FE40-A204-60F8EC5A0A97}" srcOrd="0" destOrd="0" presId="urn:microsoft.com/office/officeart/2005/8/layout/process1"/>
    <dgm:cxn modelId="{49781731-6474-B144-9618-2C5DCACACDDE}" type="presParOf" srcId="{BA150059-6D0E-FE40-A204-60F8EC5A0A97}" destId="{AA42473B-5D97-DA45-B9D5-FFAD0DEF45B2}" srcOrd="0" destOrd="0" presId="urn:microsoft.com/office/officeart/2005/8/layout/process1"/>
    <dgm:cxn modelId="{0B85DCCD-33E1-B04C-8C74-F71478DE47B4}" type="presParOf" srcId="{BA150059-6D0E-FE40-A204-60F8EC5A0A97}" destId="{3778DB37-CD6F-934B-9E07-31B85A19C158}" srcOrd="1" destOrd="0" presId="urn:microsoft.com/office/officeart/2005/8/layout/process1"/>
    <dgm:cxn modelId="{C2918246-592B-E643-B6F7-F89B3D3BD3E1}" type="presParOf" srcId="{3778DB37-CD6F-934B-9E07-31B85A19C158}" destId="{288E0445-6821-9F4D-9C0C-E4FBE440E178}" srcOrd="0" destOrd="0" presId="urn:microsoft.com/office/officeart/2005/8/layout/process1"/>
    <dgm:cxn modelId="{F56C1E97-D16A-9F41-8973-FA90C5CFC536}" type="presParOf" srcId="{BA150059-6D0E-FE40-A204-60F8EC5A0A97}" destId="{8B6C71C3-D376-7241-A095-5F8348BA2325}" srcOrd="2" destOrd="0" presId="urn:microsoft.com/office/officeart/2005/8/layout/process1"/>
    <dgm:cxn modelId="{E022DF3E-5605-184C-B829-9C561D85BAAC}" type="presParOf" srcId="{BA150059-6D0E-FE40-A204-60F8EC5A0A97}" destId="{A90E0881-5E16-B740-A41B-66B6EBB06AA4}" srcOrd="3" destOrd="0" presId="urn:microsoft.com/office/officeart/2005/8/layout/process1"/>
    <dgm:cxn modelId="{1E672767-E403-2C41-A3DD-ED4624073B39}" type="presParOf" srcId="{A90E0881-5E16-B740-A41B-66B6EBB06AA4}" destId="{75EA6DC2-56B8-3F48-8759-E49EE4758D1A}" srcOrd="0" destOrd="0" presId="urn:microsoft.com/office/officeart/2005/8/layout/process1"/>
    <dgm:cxn modelId="{DF62BB11-1B6E-6843-B6AB-7D9072A83553}" type="presParOf" srcId="{BA150059-6D0E-FE40-A204-60F8EC5A0A97}" destId="{46014F40-6D99-C041-80CA-398D3876F193}" srcOrd="4" destOrd="0" presId="urn:microsoft.com/office/officeart/2005/8/layout/process1"/>
    <dgm:cxn modelId="{EF8B5086-9098-E04F-826B-7878E5F03161}" type="presParOf" srcId="{BA150059-6D0E-FE40-A204-60F8EC5A0A97}" destId="{9C9BBC7C-199F-F346-9FBA-ED0CC8371339}" srcOrd="5" destOrd="0" presId="urn:microsoft.com/office/officeart/2005/8/layout/process1"/>
    <dgm:cxn modelId="{812B1775-3C6B-C94A-8A07-CF1E3C79E8F7}" type="presParOf" srcId="{9C9BBC7C-199F-F346-9FBA-ED0CC8371339}" destId="{A5DB0AFC-5AC9-4C47-A18C-5512E5F3D037}" srcOrd="0" destOrd="0" presId="urn:microsoft.com/office/officeart/2005/8/layout/process1"/>
    <dgm:cxn modelId="{4235F9CF-9A96-594F-AFE1-5C48FA566F80}" type="presParOf" srcId="{BA150059-6D0E-FE40-A204-60F8EC5A0A97}" destId="{82B58480-105F-F143-A465-64ABA21AAFBB}" srcOrd="6"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24D40C9-99EA-4504-9907-6ECE3DA8B6E4}" type="doc">
      <dgm:prSet loTypeId="urn:microsoft.com/office/officeart/2005/8/layout/list1" loCatId="list" qsTypeId="urn:microsoft.com/office/officeart/2005/8/quickstyle/simple1" qsCatId="simple" csTypeId="urn:microsoft.com/office/officeart/2005/8/colors/accent1_2" csCatId="accent1"/>
      <dgm:spPr/>
      <dgm:t>
        <a:bodyPr/>
        <a:lstStyle/>
        <a:p>
          <a:endParaRPr lang="en-US"/>
        </a:p>
      </dgm:t>
    </dgm:pt>
    <dgm:pt modelId="{E7205CEE-1496-4D21-B657-33CCD90BEA79}">
      <dgm:prSet/>
      <dgm:spPr/>
      <dgm:t>
        <a:bodyPr/>
        <a:lstStyle/>
        <a:p>
          <a:r>
            <a:rPr lang="en-US" b="1"/>
            <a:t>Existing Gap</a:t>
          </a:r>
          <a:endParaRPr lang="en-US"/>
        </a:p>
      </dgm:t>
    </dgm:pt>
    <dgm:pt modelId="{68A879E7-AE66-4EA9-A19D-01529F3F11BE}" type="parTrans" cxnId="{994B0CDD-5541-4285-9E82-D8DF5AD9076D}">
      <dgm:prSet/>
      <dgm:spPr/>
      <dgm:t>
        <a:bodyPr/>
        <a:lstStyle/>
        <a:p>
          <a:endParaRPr lang="en-US"/>
        </a:p>
      </dgm:t>
    </dgm:pt>
    <dgm:pt modelId="{3EC53C52-3774-4265-909B-C8209E76AED3}" type="sibTrans" cxnId="{994B0CDD-5541-4285-9E82-D8DF5AD9076D}">
      <dgm:prSet/>
      <dgm:spPr/>
      <dgm:t>
        <a:bodyPr/>
        <a:lstStyle/>
        <a:p>
          <a:endParaRPr lang="en-US"/>
        </a:p>
      </dgm:t>
    </dgm:pt>
    <dgm:pt modelId="{ABAE1B94-BAE6-480D-8567-5C599232CF84}">
      <dgm:prSet/>
      <dgm:spPr/>
      <dgm:t>
        <a:bodyPr/>
        <a:lstStyle/>
        <a:p>
          <a:r>
            <a:rPr lang="en-US"/>
            <a:t>Most studies:</a:t>
          </a:r>
        </a:p>
      </dgm:t>
    </dgm:pt>
    <dgm:pt modelId="{4EBFC56C-D393-4D9E-AD6D-7251DBE953E1}" type="parTrans" cxnId="{DE0F3997-34E1-4F3A-9974-03A0D818419F}">
      <dgm:prSet/>
      <dgm:spPr/>
      <dgm:t>
        <a:bodyPr/>
        <a:lstStyle/>
        <a:p>
          <a:endParaRPr lang="en-US"/>
        </a:p>
      </dgm:t>
    </dgm:pt>
    <dgm:pt modelId="{9B05A1CB-3460-4948-83E7-00114E5CAD0E}" type="sibTrans" cxnId="{DE0F3997-34E1-4F3A-9974-03A0D818419F}">
      <dgm:prSet/>
      <dgm:spPr/>
      <dgm:t>
        <a:bodyPr/>
        <a:lstStyle/>
        <a:p>
          <a:endParaRPr lang="en-US"/>
        </a:p>
      </dgm:t>
    </dgm:pt>
    <dgm:pt modelId="{6975FD18-D1A0-4FEB-8BEE-E2A0ED95DB1E}">
      <dgm:prSet/>
      <dgm:spPr/>
      <dgm:t>
        <a:bodyPr/>
        <a:lstStyle/>
        <a:p>
          <a:r>
            <a:rPr lang="en-US"/>
            <a:t>focus on anomaly detection only</a:t>
          </a:r>
        </a:p>
      </dgm:t>
    </dgm:pt>
    <dgm:pt modelId="{2CE9D369-6446-460A-9AD2-AC9858ACFD36}" type="parTrans" cxnId="{5D227036-68A4-4BA9-9D65-6DAD6AD34DC4}">
      <dgm:prSet/>
      <dgm:spPr/>
      <dgm:t>
        <a:bodyPr/>
        <a:lstStyle/>
        <a:p>
          <a:endParaRPr lang="en-US"/>
        </a:p>
      </dgm:t>
    </dgm:pt>
    <dgm:pt modelId="{9D2EDE96-893B-41BB-AB91-4072997B6D97}" type="sibTrans" cxnId="{5D227036-68A4-4BA9-9D65-6DAD6AD34DC4}">
      <dgm:prSet/>
      <dgm:spPr/>
      <dgm:t>
        <a:bodyPr/>
        <a:lstStyle/>
        <a:p>
          <a:endParaRPr lang="en-US"/>
        </a:p>
      </dgm:t>
    </dgm:pt>
    <dgm:pt modelId="{018FF737-1784-417A-9893-745808697AA1}">
      <dgm:prSet/>
      <dgm:spPr/>
      <dgm:t>
        <a:bodyPr/>
        <a:lstStyle/>
        <a:p>
          <a:r>
            <a:rPr lang="en-US"/>
            <a:t>ignore explanation reliability</a:t>
          </a:r>
        </a:p>
      </dgm:t>
    </dgm:pt>
    <dgm:pt modelId="{19F423C7-291C-471F-A9E8-B1ABD87DA115}" type="parTrans" cxnId="{479A1FD2-858D-451D-BAD9-6FB2D58B2595}">
      <dgm:prSet/>
      <dgm:spPr/>
      <dgm:t>
        <a:bodyPr/>
        <a:lstStyle/>
        <a:p>
          <a:endParaRPr lang="en-US"/>
        </a:p>
      </dgm:t>
    </dgm:pt>
    <dgm:pt modelId="{0A65F4B6-3C3B-4D33-9465-00D28424D9CC}" type="sibTrans" cxnId="{479A1FD2-858D-451D-BAD9-6FB2D58B2595}">
      <dgm:prSet/>
      <dgm:spPr/>
      <dgm:t>
        <a:bodyPr/>
        <a:lstStyle/>
        <a:p>
          <a:endParaRPr lang="en-US"/>
        </a:p>
      </dgm:t>
    </dgm:pt>
    <dgm:pt modelId="{467440B6-5A6C-4194-97DD-CD38F79F36DA}">
      <dgm:prSet/>
      <dgm:spPr/>
      <dgm:t>
        <a:bodyPr/>
        <a:lstStyle/>
        <a:p>
          <a:r>
            <a:rPr lang="en-US"/>
            <a:t>lack distinction between:</a:t>
          </a:r>
        </a:p>
      </dgm:t>
    </dgm:pt>
    <dgm:pt modelId="{17E2A28A-4C82-49D9-9018-1EF25CFA656F}" type="parTrans" cxnId="{F24CED93-A8ED-4EB7-B39B-C976B09BEA3E}">
      <dgm:prSet/>
      <dgm:spPr/>
      <dgm:t>
        <a:bodyPr/>
        <a:lstStyle/>
        <a:p>
          <a:endParaRPr lang="en-US"/>
        </a:p>
      </dgm:t>
    </dgm:pt>
    <dgm:pt modelId="{A5E2B668-15D0-4700-8E33-71A04BA65AB6}" type="sibTrans" cxnId="{F24CED93-A8ED-4EB7-B39B-C976B09BEA3E}">
      <dgm:prSet/>
      <dgm:spPr/>
      <dgm:t>
        <a:bodyPr/>
        <a:lstStyle/>
        <a:p>
          <a:endParaRPr lang="en-US"/>
        </a:p>
      </dgm:t>
    </dgm:pt>
    <dgm:pt modelId="{A2A52232-8556-4799-9BDD-89B71D57DCD8}">
      <dgm:prSet/>
      <dgm:spPr/>
      <dgm:t>
        <a:bodyPr/>
        <a:lstStyle/>
        <a:p>
          <a:r>
            <a:rPr lang="en-US"/>
            <a:t>physiological anomaly</a:t>
          </a:r>
        </a:p>
      </dgm:t>
    </dgm:pt>
    <dgm:pt modelId="{D1173ECF-FDB7-4ECE-9D67-A6C9497F3797}" type="parTrans" cxnId="{0800F4EC-07C2-4986-8CF5-51212BD838A0}">
      <dgm:prSet/>
      <dgm:spPr/>
      <dgm:t>
        <a:bodyPr/>
        <a:lstStyle/>
        <a:p>
          <a:endParaRPr lang="en-US"/>
        </a:p>
      </dgm:t>
    </dgm:pt>
    <dgm:pt modelId="{9562F53E-04A0-492D-9EB9-DB22A4238FC1}" type="sibTrans" cxnId="{0800F4EC-07C2-4986-8CF5-51212BD838A0}">
      <dgm:prSet/>
      <dgm:spPr/>
      <dgm:t>
        <a:bodyPr/>
        <a:lstStyle/>
        <a:p>
          <a:endParaRPr lang="en-US"/>
        </a:p>
      </dgm:t>
    </dgm:pt>
    <dgm:pt modelId="{F4CB7D2D-3040-42F2-ABB0-94068BCD75A3}">
      <dgm:prSet/>
      <dgm:spPr/>
      <dgm:t>
        <a:bodyPr/>
        <a:lstStyle/>
        <a:p>
          <a:r>
            <a:rPr lang="en-US"/>
            <a:t>sensor fault</a:t>
          </a:r>
        </a:p>
      </dgm:t>
    </dgm:pt>
    <dgm:pt modelId="{2E7AE07C-B2F0-4856-A9CF-EBF30215405D}" type="parTrans" cxnId="{E8A50878-AE5B-462C-B9E3-A0D74AAE9A16}">
      <dgm:prSet/>
      <dgm:spPr/>
      <dgm:t>
        <a:bodyPr/>
        <a:lstStyle/>
        <a:p>
          <a:endParaRPr lang="en-US"/>
        </a:p>
      </dgm:t>
    </dgm:pt>
    <dgm:pt modelId="{740200BE-0AFB-4371-A7F6-7024373D0599}" type="sibTrans" cxnId="{E8A50878-AE5B-462C-B9E3-A0D74AAE9A16}">
      <dgm:prSet/>
      <dgm:spPr/>
      <dgm:t>
        <a:bodyPr/>
        <a:lstStyle/>
        <a:p>
          <a:endParaRPr lang="en-US"/>
        </a:p>
      </dgm:t>
    </dgm:pt>
    <dgm:pt modelId="{27BAF77D-35C5-4946-87C2-8AC8A9A50678}" type="pres">
      <dgm:prSet presAssocID="{724D40C9-99EA-4504-9907-6ECE3DA8B6E4}" presName="linear" presStyleCnt="0">
        <dgm:presLayoutVars>
          <dgm:dir/>
          <dgm:animLvl val="lvl"/>
          <dgm:resizeHandles val="exact"/>
        </dgm:presLayoutVars>
      </dgm:prSet>
      <dgm:spPr/>
    </dgm:pt>
    <dgm:pt modelId="{A42CFE8D-EC35-6541-96F0-C5948F4085B9}" type="pres">
      <dgm:prSet presAssocID="{E7205CEE-1496-4D21-B657-33CCD90BEA79}" presName="parentLin" presStyleCnt="0"/>
      <dgm:spPr/>
    </dgm:pt>
    <dgm:pt modelId="{4415C397-AB0B-B84D-AA84-683CEDE93137}" type="pres">
      <dgm:prSet presAssocID="{E7205CEE-1496-4D21-B657-33CCD90BEA79}" presName="parentLeftMargin" presStyleLbl="node1" presStyleIdx="0" presStyleCnt="2"/>
      <dgm:spPr/>
    </dgm:pt>
    <dgm:pt modelId="{8FDD5C0A-C07F-EA4D-BAA2-10846FF7BD1C}" type="pres">
      <dgm:prSet presAssocID="{E7205CEE-1496-4D21-B657-33CCD90BEA79}" presName="parentText" presStyleLbl="node1" presStyleIdx="0" presStyleCnt="2">
        <dgm:presLayoutVars>
          <dgm:chMax val="0"/>
          <dgm:bulletEnabled val="1"/>
        </dgm:presLayoutVars>
      </dgm:prSet>
      <dgm:spPr/>
    </dgm:pt>
    <dgm:pt modelId="{990C95C3-D8C6-7A4A-9F91-370B8B964C96}" type="pres">
      <dgm:prSet presAssocID="{E7205CEE-1496-4D21-B657-33CCD90BEA79}" presName="negativeSpace" presStyleCnt="0"/>
      <dgm:spPr/>
    </dgm:pt>
    <dgm:pt modelId="{6242905F-621E-5D4B-86F5-D1CE0D95C792}" type="pres">
      <dgm:prSet presAssocID="{E7205CEE-1496-4D21-B657-33CCD90BEA79}" presName="childText" presStyleLbl="conFgAcc1" presStyleIdx="0" presStyleCnt="2">
        <dgm:presLayoutVars>
          <dgm:bulletEnabled val="1"/>
        </dgm:presLayoutVars>
      </dgm:prSet>
      <dgm:spPr/>
    </dgm:pt>
    <dgm:pt modelId="{A1AAF1B0-50D8-3F4A-A27B-ABFDEADC4FB5}" type="pres">
      <dgm:prSet presAssocID="{3EC53C52-3774-4265-909B-C8209E76AED3}" presName="spaceBetweenRectangles" presStyleCnt="0"/>
      <dgm:spPr/>
    </dgm:pt>
    <dgm:pt modelId="{C0F41ACE-85FC-DC43-8F25-D9F2138FF25E}" type="pres">
      <dgm:prSet presAssocID="{ABAE1B94-BAE6-480D-8567-5C599232CF84}" presName="parentLin" presStyleCnt="0"/>
      <dgm:spPr/>
    </dgm:pt>
    <dgm:pt modelId="{B3AC795B-5EAE-BA47-830D-E50D83E8D247}" type="pres">
      <dgm:prSet presAssocID="{ABAE1B94-BAE6-480D-8567-5C599232CF84}" presName="parentLeftMargin" presStyleLbl="node1" presStyleIdx="0" presStyleCnt="2"/>
      <dgm:spPr/>
    </dgm:pt>
    <dgm:pt modelId="{01A6DF97-E93E-034D-B41B-54B6B33DCC40}" type="pres">
      <dgm:prSet presAssocID="{ABAE1B94-BAE6-480D-8567-5C599232CF84}" presName="parentText" presStyleLbl="node1" presStyleIdx="1" presStyleCnt="2">
        <dgm:presLayoutVars>
          <dgm:chMax val="0"/>
          <dgm:bulletEnabled val="1"/>
        </dgm:presLayoutVars>
      </dgm:prSet>
      <dgm:spPr/>
    </dgm:pt>
    <dgm:pt modelId="{1B9A4DE5-F472-684A-86B3-93E123D71D5C}" type="pres">
      <dgm:prSet presAssocID="{ABAE1B94-BAE6-480D-8567-5C599232CF84}" presName="negativeSpace" presStyleCnt="0"/>
      <dgm:spPr/>
    </dgm:pt>
    <dgm:pt modelId="{9A36688C-DB1D-3A45-966D-D95F67F3B23B}" type="pres">
      <dgm:prSet presAssocID="{ABAE1B94-BAE6-480D-8567-5C599232CF84}" presName="childText" presStyleLbl="conFgAcc1" presStyleIdx="1" presStyleCnt="2">
        <dgm:presLayoutVars>
          <dgm:bulletEnabled val="1"/>
        </dgm:presLayoutVars>
      </dgm:prSet>
      <dgm:spPr/>
    </dgm:pt>
  </dgm:ptLst>
  <dgm:cxnLst>
    <dgm:cxn modelId="{5D227036-68A4-4BA9-9D65-6DAD6AD34DC4}" srcId="{ABAE1B94-BAE6-480D-8567-5C599232CF84}" destId="{6975FD18-D1A0-4FEB-8BEE-E2A0ED95DB1E}" srcOrd="0" destOrd="0" parTransId="{2CE9D369-6446-460A-9AD2-AC9858ACFD36}" sibTransId="{9D2EDE96-893B-41BB-AB91-4072997B6D97}"/>
    <dgm:cxn modelId="{5717DA39-7B39-8D44-9C8B-8C64E4B002D5}" type="presOf" srcId="{018FF737-1784-417A-9893-745808697AA1}" destId="{9A36688C-DB1D-3A45-966D-D95F67F3B23B}" srcOrd="0" destOrd="1" presId="urn:microsoft.com/office/officeart/2005/8/layout/list1"/>
    <dgm:cxn modelId="{845D9F40-AE0A-834A-9EF4-96E33FD0EE98}" type="presOf" srcId="{6975FD18-D1A0-4FEB-8BEE-E2A0ED95DB1E}" destId="{9A36688C-DB1D-3A45-966D-D95F67F3B23B}" srcOrd="0" destOrd="0" presId="urn:microsoft.com/office/officeart/2005/8/layout/list1"/>
    <dgm:cxn modelId="{0D027C58-A5C4-FC42-9E0D-74A9B7FDC1BD}" type="presOf" srcId="{A2A52232-8556-4799-9BDD-89B71D57DCD8}" destId="{9A36688C-DB1D-3A45-966D-D95F67F3B23B}" srcOrd="0" destOrd="3" presId="urn:microsoft.com/office/officeart/2005/8/layout/list1"/>
    <dgm:cxn modelId="{95CA7259-201D-D847-A021-8A5B49C9BB11}" type="presOf" srcId="{E7205CEE-1496-4D21-B657-33CCD90BEA79}" destId="{8FDD5C0A-C07F-EA4D-BAA2-10846FF7BD1C}" srcOrd="1" destOrd="0" presId="urn:microsoft.com/office/officeart/2005/8/layout/list1"/>
    <dgm:cxn modelId="{E8A50878-AE5B-462C-B9E3-A0D74AAE9A16}" srcId="{467440B6-5A6C-4194-97DD-CD38F79F36DA}" destId="{F4CB7D2D-3040-42F2-ABB0-94068BCD75A3}" srcOrd="1" destOrd="0" parTransId="{2E7AE07C-B2F0-4856-A9CF-EBF30215405D}" sibTransId="{740200BE-0AFB-4371-A7F6-7024373D0599}"/>
    <dgm:cxn modelId="{F24CED93-A8ED-4EB7-B39B-C976B09BEA3E}" srcId="{ABAE1B94-BAE6-480D-8567-5C599232CF84}" destId="{467440B6-5A6C-4194-97DD-CD38F79F36DA}" srcOrd="2" destOrd="0" parTransId="{17E2A28A-4C82-49D9-9018-1EF25CFA656F}" sibTransId="{A5E2B668-15D0-4700-8E33-71A04BA65AB6}"/>
    <dgm:cxn modelId="{79BED196-F304-3048-A4B7-0C142A16F754}" type="presOf" srcId="{E7205CEE-1496-4D21-B657-33CCD90BEA79}" destId="{4415C397-AB0B-B84D-AA84-683CEDE93137}" srcOrd="0" destOrd="0" presId="urn:microsoft.com/office/officeart/2005/8/layout/list1"/>
    <dgm:cxn modelId="{DE0F3997-34E1-4F3A-9974-03A0D818419F}" srcId="{724D40C9-99EA-4504-9907-6ECE3DA8B6E4}" destId="{ABAE1B94-BAE6-480D-8567-5C599232CF84}" srcOrd="1" destOrd="0" parTransId="{4EBFC56C-D393-4D9E-AD6D-7251DBE953E1}" sibTransId="{9B05A1CB-3460-4948-83E7-00114E5CAD0E}"/>
    <dgm:cxn modelId="{5BADD9A5-BB37-2943-A3C5-DB0FB2B2A7BC}" type="presOf" srcId="{F4CB7D2D-3040-42F2-ABB0-94068BCD75A3}" destId="{9A36688C-DB1D-3A45-966D-D95F67F3B23B}" srcOrd="0" destOrd="4" presId="urn:microsoft.com/office/officeart/2005/8/layout/list1"/>
    <dgm:cxn modelId="{479A1FD2-858D-451D-BAD9-6FB2D58B2595}" srcId="{ABAE1B94-BAE6-480D-8567-5C599232CF84}" destId="{018FF737-1784-417A-9893-745808697AA1}" srcOrd="1" destOrd="0" parTransId="{19F423C7-291C-471F-A9E8-B1ABD87DA115}" sibTransId="{0A65F4B6-3C3B-4D33-9465-00D28424D9CC}"/>
    <dgm:cxn modelId="{449D3DD2-5DAC-F549-9B42-D8DA9077B983}" type="presOf" srcId="{724D40C9-99EA-4504-9907-6ECE3DA8B6E4}" destId="{27BAF77D-35C5-4946-87C2-8AC8A9A50678}" srcOrd="0" destOrd="0" presId="urn:microsoft.com/office/officeart/2005/8/layout/list1"/>
    <dgm:cxn modelId="{E931B9D2-F8D0-BE41-986E-827891D97B58}" type="presOf" srcId="{ABAE1B94-BAE6-480D-8567-5C599232CF84}" destId="{B3AC795B-5EAE-BA47-830D-E50D83E8D247}" srcOrd="0" destOrd="0" presId="urn:microsoft.com/office/officeart/2005/8/layout/list1"/>
    <dgm:cxn modelId="{994B0CDD-5541-4285-9E82-D8DF5AD9076D}" srcId="{724D40C9-99EA-4504-9907-6ECE3DA8B6E4}" destId="{E7205CEE-1496-4D21-B657-33CCD90BEA79}" srcOrd="0" destOrd="0" parTransId="{68A879E7-AE66-4EA9-A19D-01529F3F11BE}" sibTransId="{3EC53C52-3774-4265-909B-C8209E76AED3}"/>
    <dgm:cxn modelId="{0800F4EC-07C2-4986-8CF5-51212BD838A0}" srcId="{467440B6-5A6C-4194-97DD-CD38F79F36DA}" destId="{A2A52232-8556-4799-9BDD-89B71D57DCD8}" srcOrd="0" destOrd="0" parTransId="{D1173ECF-FDB7-4ECE-9D67-A6C9497F3797}" sibTransId="{9562F53E-04A0-492D-9EB9-DB22A4238FC1}"/>
    <dgm:cxn modelId="{7A9DDAFA-F950-AA46-A398-59CC53A005F6}" type="presOf" srcId="{467440B6-5A6C-4194-97DD-CD38F79F36DA}" destId="{9A36688C-DB1D-3A45-966D-D95F67F3B23B}" srcOrd="0" destOrd="2" presId="urn:microsoft.com/office/officeart/2005/8/layout/list1"/>
    <dgm:cxn modelId="{1BEC48FF-546C-C64E-83C5-56146BD6EE26}" type="presOf" srcId="{ABAE1B94-BAE6-480D-8567-5C599232CF84}" destId="{01A6DF97-E93E-034D-B41B-54B6B33DCC40}" srcOrd="1" destOrd="0" presId="urn:microsoft.com/office/officeart/2005/8/layout/list1"/>
    <dgm:cxn modelId="{05066E02-6776-2945-B2B2-9551335CA301}" type="presParOf" srcId="{27BAF77D-35C5-4946-87C2-8AC8A9A50678}" destId="{A42CFE8D-EC35-6541-96F0-C5948F4085B9}" srcOrd="0" destOrd="0" presId="urn:microsoft.com/office/officeart/2005/8/layout/list1"/>
    <dgm:cxn modelId="{C7D719AF-8B12-5443-B718-EB7C71539D34}" type="presParOf" srcId="{A42CFE8D-EC35-6541-96F0-C5948F4085B9}" destId="{4415C397-AB0B-B84D-AA84-683CEDE93137}" srcOrd="0" destOrd="0" presId="urn:microsoft.com/office/officeart/2005/8/layout/list1"/>
    <dgm:cxn modelId="{5B739064-7F81-B549-9F5A-0C6BC4F7B359}" type="presParOf" srcId="{A42CFE8D-EC35-6541-96F0-C5948F4085B9}" destId="{8FDD5C0A-C07F-EA4D-BAA2-10846FF7BD1C}" srcOrd="1" destOrd="0" presId="urn:microsoft.com/office/officeart/2005/8/layout/list1"/>
    <dgm:cxn modelId="{93ED4E6F-3F14-4943-94A7-C3A94E34D808}" type="presParOf" srcId="{27BAF77D-35C5-4946-87C2-8AC8A9A50678}" destId="{990C95C3-D8C6-7A4A-9F91-370B8B964C96}" srcOrd="1" destOrd="0" presId="urn:microsoft.com/office/officeart/2005/8/layout/list1"/>
    <dgm:cxn modelId="{0947711C-F371-8D42-92E8-035C1E121899}" type="presParOf" srcId="{27BAF77D-35C5-4946-87C2-8AC8A9A50678}" destId="{6242905F-621E-5D4B-86F5-D1CE0D95C792}" srcOrd="2" destOrd="0" presId="urn:microsoft.com/office/officeart/2005/8/layout/list1"/>
    <dgm:cxn modelId="{33570713-FE9B-1649-AFF7-021B7B8B4D10}" type="presParOf" srcId="{27BAF77D-35C5-4946-87C2-8AC8A9A50678}" destId="{A1AAF1B0-50D8-3F4A-A27B-ABFDEADC4FB5}" srcOrd="3" destOrd="0" presId="urn:microsoft.com/office/officeart/2005/8/layout/list1"/>
    <dgm:cxn modelId="{902965DB-BF51-ED42-B665-4E1DD0FF3673}" type="presParOf" srcId="{27BAF77D-35C5-4946-87C2-8AC8A9A50678}" destId="{C0F41ACE-85FC-DC43-8F25-D9F2138FF25E}" srcOrd="4" destOrd="0" presId="urn:microsoft.com/office/officeart/2005/8/layout/list1"/>
    <dgm:cxn modelId="{68D81E23-EDA5-DE4E-9CCE-D3C873E00D21}" type="presParOf" srcId="{C0F41ACE-85FC-DC43-8F25-D9F2138FF25E}" destId="{B3AC795B-5EAE-BA47-830D-E50D83E8D247}" srcOrd="0" destOrd="0" presId="urn:microsoft.com/office/officeart/2005/8/layout/list1"/>
    <dgm:cxn modelId="{04F8EC46-92A5-1F4E-A146-541118AEC54A}" type="presParOf" srcId="{C0F41ACE-85FC-DC43-8F25-D9F2138FF25E}" destId="{01A6DF97-E93E-034D-B41B-54B6B33DCC40}" srcOrd="1" destOrd="0" presId="urn:microsoft.com/office/officeart/2005/8/layout/list1"/>
    <dgm:cxn modelId="{5C82CD23-E103-144F-9453-F4E82F86027D}" type="presParOf" srcId="{27BAF77D-35C5-4946-87C2-8AC8A9A50678}" destId="{1B9A4DE5-F472-684A-86B3-93E123D71D5C}" srcOrd="5" destOrd="0" presId="urn:microsoft.com/office/officeart/2005/8/layout/list1"/>
    <dgm:cxn modelId="{DFAB378A-8E09-1E4D-AC32-50E699E36012}" type="presParOf" srcId="{27BAF77D-35C5-4946-87C2-8AC8A9A50678}" destId="{9A36688C-DB1D-3A45-966D-D95F67F3B23B}"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387DE86-DC70-0248-9DAE-3D57D18068EC}"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en-GB"/>
        </a:p>
      </dgm:t>
    </dgm:pt>
    <dgm:pt modelId="{F33EF349-EBE3-1044-A2F8-B94A15D40BC9}">
      <dgm:prSet/>
      <dgm:spPr/>
      <dgm:t>
        <a:bodyPr/>
        <a:lstStyle/>
        <a:p>
          <a:r>
            <a:rPr lang="en-US"/>
            <a:t>Input </a:t>
          </a:r>
          <a:endParaRPr lang="en-GB" dirty="0"/>
        </a:p>
      </dgm:t>
    </dgm:pt>
    <dgm:pt modelId="{C0C933DC-9F8B-254D-A6AF-65191A33434E}" type="parTrans" cxnId="{3808B260-2CB7-4742-85EE-233617D86015}">
      <dgm:prSet/>
      <dgm:spPr/>
      <dgm:t>
        <a:bodyPr/>
        <a:lstStyle/>
        <a:p>
          <a:endParaRPr lang="en-GB"/>
        </a:p>
      </dgm:t>
    </dgm:pt>
    <dgm:pt modelId="{685E3133-4240-634F-9FDD-82817E4B41D0}" type="sibTrans" cxnId="{3808B260-2CB7-4742-85EE-233617D86015}">
      <dgm:prSet/>
      <dgm:spPr/>
      <dgm:t>
        <a:bodyPr/>
        <a:lstStyle/>
        <a:p>
          <a:endParaRPr lang="en-GB"/>
        </a:p>
      </dgm:t>
    </dgm:pt>
    <dgm:pt modelId="{A9D51A8E-462C-E04A-8694-63FDFF44495A}">
      <dgm:prSet/>
      <dgm:spPr/>
      <dgm:t>
        <a:bodyPr/>
        <a:lstStyle/>
        <a:p>
          <a:r>
            <a:rPr lang="en-US" dirty="0"/>
            <a:t>Encoder </a:t>
          </a:r>
          <a:endParaRPr lang="en-GB" dirty="0"/>
        </a:p>
      </dgm:t>
    </dgm:pt>
    <dgm:pt modelId="{11E884FF-5F4B-2540-BE6A-7BE8DE883983}" type="parTrans" cxnId="{FA8858FD-93CA-A747-81AC-1BF4BCE64258}">
      <dgm:prSet/>
      <dgm:spPr/>
      <dgm:t>
        <a:bodyPr/>
        <a:lstStyle/>
        <a:p>
          <a:endParaRPr lang="en-GB"/>
        </a:p>
      </dgm:t>
    </dgm:pt>
    <dgm:pt modelId="{79937063-316D-4944-B0C2-078A84BE13D1}" type="sibTrans" cxnId="{FA8858FD-93CA-A747-81AC-1BF4BCE64258}">
      <dgm:prSet/>
      <dgm:spPr/>
      <dgm:t>
        <a:bodyPr/>
        <a:lstStyle/>
        <a:p>
          <a:endParaRPr lang="en-GB"/>
        </a:p>
      </dgm:t>
    </dgm:pt>
    <dgm:pt modelId="{EC558412-5AEF-0A4B-8079-56DBA7BDA5CF}">
      <dgm:prSet/>
      <dgm:spPr/>
      <dgm:t>
        <a:bodyPr/>
        <a:lstStyle/>
        <a:p>
          <a:r>
            <a:rPr lang="en-US" dirty="0"/>
            <a:t> Latent Space </a:t>
          </a:r>
          <a:endParaRPr lang="en-GB" dirty="0"/>
        </a:p>
      </dgm:t>
    </dgm:pt>
    <dgm:pt modelId="{CE6F825D-38D0-5147-BD51-1CCC6D8465AF}" type="parTrans" cxnId="{41487E93-8FC9-784F-BA3F-3A25D1D2C451}">
      <dgm:prSet/>
      <dgm:spPr/>
      <dgm:t>
        <a:bodyPr/>
        <a:lstStyle/>
        <a:p>
          <a:endParaRPr lang="en-GB"/>
        </a:p>
      </dgm:t>
    </dgm:pt>
    <dgm:pt modelId="{950AC38B-219C-144A-AD46-9A07560024FC}" type="sibTrans" cxnId="{41487E93-8FC9-784F-BA3F-3A25D1D2C451}">
      <dgm:prSet/>
      <dgm:spPr/>
      <dgm:t>
        <a:bodyPr/>
        <a:lstStyle/>
        <a:p>
          <a:endParaRPr lang="en-GB"/>
        </a:p>
      </dgm:t>
    </dgm:pt>
    <dgm:pt modelId="{A5550EFA-40D4-8346-A762-0FA1F7E90848}">
      <dgm:prSet/>
      <dgm:spPr/>
      <dgm:t>
        <a:bodyPr/>
        <a:lstStyle/>
        <a:p>
          <a:r>
            <a:rPr lang="en-US" dirty="0"/>
            <a:t>Decoder </a:t>
          </a:r>
          <a:endParaRPr lang="en-GB" dirty="0"/>
        </a:p>
      </dgm:t>
    </dgm:pt>
    <dgm:pt modelId="{06D89904-F626-7C47-94FD-9A99B06BDBEF}" type="parTrans" cxnId="{E6ABF17F-4C03-594F-8C48-C1B6E0CACD08}">
      <dgm:prSet/>
      <dgm:spPr/>
      <dgm:t>
        <a:bodyPr/>
        <a:lstStyle/>
        <a:p>
          <a:endParaRPr lang="en-GB"/>
        </a:p>
      </dgm:t>
    </dgm:pt>
    <dgm:pt modelId="{A778FC01-91B2-FE4C-BB16-19A79723A7CE}" type="sibTrans" cxnId="{E6ABF17F-4C03-594F-8C48-C1B6E0CACD08}">
      <dgm:prSet/>
      <dgm:spPr/>
      <dgm:t>
        <a:bodyPr/>
        <a:lstStyle/>
        <a:p>
          <a:endParaRPr lang="en-GB"/>
        </a:p>
      </dgm:t>
    </dgm:pt>
    <dgm:pt modelId="{C90A5EE9-82F2-6443-9532-2F96DFCA9838}">
      <dgm:prSet/>
      <dgm:spPr/>
      <dgm:t>
        <a:bodyPr/>
        <a:lstStyle/>
        <a:p>
          <a:r>
            <a:rPr lang="en-US" dirty="0"/>
            <a:t> Reconstruction Error</a:t>
          </a:r>
          <a:endParaRPr lang="en-GB" dirty="0"/>
        </a:p>
      </dgm:t>
    </dgm:pt>
    <dgm:pt modelId="{F16833CC-2EBE-A245-B31D-A77A92F934BD}" type="parTrans" cxnId="{E90C0C04-4459-B24A-A1AA-D661824D1773}">
      <dgm:prSet/>
      <dgm:spPr/>
      <dgm:t>
        <a:bodyPr/>
        <a:lstStyle/>
        <a:p>
          <a:endParaRPr lang="en-GB"/>
        </a:p>
      </dgm:t>
    </dgm:pt>
    <dgm:pt modelId="{40EDC25A-7B73-4B46-B0E9-578AB004B2AB}" type="sibTrans" cxnId="{E90C0C04-4459-B24A-A1AA-D661824D1773}">
      <dgm:prSet/>
      <dgm:spPr/>
      <dgm:t>
        <a:bodyPr/>
        <a:lstStyle/>
        <a:p>
          <a:endParaRPr lang="en-GB"/>
        </a:p>
      </dgm:t>
    </dgm:pt>
    <dgm:pt modelId="{04AFEC77-C03A-0542-80EB-5AA11E927189}" type="pres">
      <dgm:prSet presAssocID="{5387DE86-DC70-0248-9DAE-3D57D18068EC}" presName="linearFlow" presStyleCnt="0">
        <dgm:presLayoutVars>
          <dgm:resizeHandles val="exact"/>
        </dgm:presLayoutVars>
      </dgm:prSet>
      <dgm:spPr/>
    </dgm:pt>
    <dgm:pt modelId="{42035384-40CB-8B4C-B1C3-28B54387326D}" type="pres">
      <dgm:prSet presAssocID="{F33EF349-EBE3-1044-A2F8-B94A15D40BC9}" presName="node" presStyleLbl="node1" presStyleIdx="0" presStyleCnt="5">
        <dgm:presLayoutVars>
          <dgm:bulletEnabled val="1"/>
        </dgm:presLayoutVars>
      </dgm:prSet>
      <dgm:spPr/>
    </dgm:pt>
    <dgm:pt modelId="{1A70DC35-955A-CB44-84F9-7B48357FC821}" type="pres">
      <dgm:prSet presAssocID="{685E3133-4240-634F-9FDD-82817E4B41D0}" presName="sibTrans" presStyleLbl="sibTrans2D1" presStyleIdx="0" presStyleCnt="4"/>
      <dgm:spPr/>
    </dgm:pt>
    <dgm:pt modelId="{E4130107-726D-714F-A338-570022A9C238}" type="pres">
      <dgm:prSet presAssocID="{685E3133-4240-634F-9FDD-82817E4B41D0}" presName="connectorText" presStyleLbl="sibTrans2D1" presStyleIdx="0" presStyleCnt="4"/>
      <dgm:spPr/>
    </dgm:pt>
    <dgm:pt modelId="{A291967D-A9D9-704A-89B8-245651C1B91D}" type="pres">
      <dgm:prSet presAssocID="{A9D51A8E-462C-E04A-8694-63FDFF44495A}" presName="node" presStyleLbl="node1" presStyleIdx="1" presStyleCnt="5">
        <dgm:presLayoutVars>
          <dgm:bulletEnabled val="1"/>
        </dgm:presLayoutVars>
      </dgm:prSet>
      <dgm:spPr/>
    </dgm:pt>
    <dgm:pt modelId="{406BB36A-8596-7946-80C9-9F79D997EBB4}" type="pres">
      <dgm:prSet presAssocID="{79937063-316D-4944-B0C2-078A84BE13D1}" presName="sibTrans" presStyleLbl="sibTrans2D1" presStyleIdx="1" presStyleCnt="4"/>
      <dgm:spPr/>
    </dgm:pt>
    <dgm:pt modelId="{373732DA-ABDD-F343-A905-904994A2D166}" type="pres">
      <dgm:prSet presAssocID="{79937063-316D-4944-B0C2-078A84BE13D1}" presName="connectorText" presStyleLbl="sibTrans2D1" presStyleIdx="1" presStyleCnt="4"/>
      <dgm:spPr/>
    </dgm:pt>
    <dgm:pt modelId="{1AE9A29D-C0A1-ED46-B842-35BF30FB0431}" type="pres">
      <dgm:prSet presAssocID="{EC558412-5AEF-0A4B-8079-56DBA7BDA5CF}" presName="node" presStyleLbl="node1" presStyleIdx="2" presStyleCnt="5">
        <dgm:presLayoutVars>
          <dgm:bulletEnabled val="1"/>
        </dgm:presLayoutVars>
      </dgm:prSet>
      <dgm:spPr/>
    </dgm:pt>
    <dgm:pt modelId="{F3ACBC66-B316-9545-A868-ECEE09EECAF5}" type="pres">
      <dgm:prSet presAssocID="{950AC38B-219C-144A-AD46-9A07560024FC}" presName="sibTrans" presStyleLbl="sibTrans2D1" presStyleIdx="2" presStyleCnt="4"/>
      <dgm:spPr/>
    </dgm:pt>
    <dgm:pt modelId="{50493A9E-B3F7-EC4F-AC03-3A7EA034AE9E}" type="pres">
      <dgm:prSet presAssocID="{950AC38B-219C-144A-AD46-9A07560024FC}" presName="connectorText" presStyleLbl="sibTrans2D1" presStyleIdx="2" presStyleCnt="4"/>
      <dgm:spPr/>
    </dgm:pt>
    <dgm:pt modelId="{919A82B4-9B00-F04F-ABE3-B4CBB3CEB949}" type="pres">
      <dgm:prSet presAssocID="{A5550EFA-40D4-8346-A762-0FA1F7E90848}" presName="node" presStyleLbl="node1" presStyleIdx="3" presStyleCnt="5">
        <dgm:presLayoutVars>
          <dgm:bulletEnabled val="1"/>
        </dgm:presLayoutVars>
      </dgm:prSet>
      <dgm:spPr/>
    </dgm:pt>
    <dgm:pt modelId="{EBECAD6A-2ACA-5B40-9AE5-0B65523726CE}" type="pres">
      <dgm:prSet presAssocID="{A778FC01-91B2-FE4C-BB16-19A79723A7CE}" presName="sibTrans" presStyleLbl="sibTrans2D1" presStyleIdx="3" presStyleCnt="4"/>
      <dgm:spPr/>
    </dgm:pt>
    <dgm:pt modelId="{7A9F0FB6-1E0B-D242-9B60-1EC89E3DB256}" type="pres">
      <dgm:prSet presAssocID="{A778FC01-91B2-FE4C-BB16-19A79723A7CE}" presName="connectorText" presStyleLbl="sibTrans2D1" presStyleIdx="3" presStyleCnt="4"/>
      <dgm:spPr/>
    </dgm:pt>
    <dgm:pt modelId="{8CA6CB2B-9643-DF4D-8EB8-8CF3E496842A}" type="pres">
      <dgm:prSet presAssocID="{C90A5EE9-82F2-6443-9532-2F96DFCA9838}" presName="node" presStyleLbl="node1" presStyleIdx="4" presStyleCnt="5">
        <dgm:presLayoutVars>
          <dgm:bulletEnabled val="1"/>
        </dgm:presLayoutVars>
      </dgm:prSet>
      <dgm:spPr/>
    </dgm:pt>
  </dgm:ptLst>
  <dgm:cxnLst>
    <dgm:cxn modelId="{E90C0C04-4459-B24A-A1AA-D661824D1773}" srcId="{5387DE86-DC70-0248-9DAE-3D57D18068EC}" destId="{C90A5EE9-82F2-6443-9532-2F96DFCA9838}" srcOrd="4" destOrd="0" parTransId="{F16833CC-2EBE-A245-B31D-A77A92F934BD}" sibTransId="{40EDC25A-7B73-4B46-B0E9-578AB004B2AB}"/>
    <dgm:cxn modelId="{7C1AAA4B-3CFA-1342-B867-1A6701AA26B5}" type="presOf" srcId="{A5550EFA-40D4-8346-A762-0FA1F7E90848}" destId="{919A82B4-9B00-F04F-ABE3-B4CBB3CEB949}" srcOrd="0" destOrd="0" presId="urn:microsoft.com/office/officeart/2005/8/layout/process2"/>
    <dgm:cxn modelId="{DD024358-F1E0-5F41-8BB2-6FA3FF5073E8}" type="presOf" srcId="{950AC38B-219C-144A-AD46-9A07560024FC}" destId="{50493A9E-B3F7-EC4F-AC03-3A7EA034AE9E}" srcOrd="1" destOrd="0" presId="urn:microsoft.com/office/officeart/2005/8/layout/process2"/>
    <dgm:cxn modelId="{FBF7695A-C537-D74E-9EF3-5F6EF4908A38}" type="presOf" srcId="{79937063-316D-4944-B0C2-078A84BE13D1}" destId="{406BB36A-8596-7946-80C9-9F79D997EBB4}" srcOrd="0" destOrd="0" presId="urn:microsoft.com/office/officeart/2005/8/layout/process2"/>
    <dgm:cxn modelId="{513A885D-E8CF-5842-8F72-5944E1E58D24}" type="presOf" srcId="{EC558412-5AEF-0A4B-8079-56DBA7BDA5CF}" destId="{1AE9A29D-C0A1-ED46-B842-35BF30FB0431}" srcOrd="0" destOrd="0" presId="urn:microsoft.com/office/officeart/2005/8/layout/process2"/>
    <dgm:cxn modelId="{3808B260-2CB7-4742-85EE-233617D86015}" srcId="{5387DE86-DC70-0248-9DAE-3D57D18068EC}" destId="{F33EF349-EBE3-1044-A2F8-B94A15D40BC9}" srcOrd="0" destOrd="0" parTransId="{C0C933DC-9F8B-254D-A6AF-65191A33434E}" sibTransId="{685E3133-4240-634F-9FDD-82817E4B41D0}"/>
    <dgm:cxn modelId="{B6B40963-5D9C-6140-A6E5-46E72395FAD6}" type="presOf" srcId="{A778FC01-91B2-FE4C-BB16-19A79723A7CE}" destId="{7A9F0FB6-1E0B-D242-9B60-1EC89E3DB256}" srcOrd="1" destOrd="0" presId="urn:microsoft.com/office/officeart/2005/8/layout/process2"/>
    <dgm:cxn modelId="{90817C79-DA3F-F141-AF1C-DFB1D33D5E27}" type="presOf" srcId="{685E3133-4240-634F-9FDD-82817E4B41D0}" destId="{1A70DC35-955A-CB44-84F9-7B48357FC821}" srcOrd="0" destOrd="0" presId="urn:microsoft.com/office/officeart/2005/8/layout/process2"/>
    <dgm:cxn modelId="{E6ABF17F-4C03-594F-8C48-C1B6E0CACD08}" srcId="{5387DE86-DC70-0248-9DAE-3D57D18068EC}" destId="{A5550EFA-40D4-8346-A762-0FA1F7E90848}" srcOrd="3" destOrd="0" parTransId="{06D89904-F626-7C47-94FD-9A99B06BDBEF}" sibTransId="{A778FC01-91B2-FE4C-BB16-19A79723A7CE}"/>
    <dgm:cxn modelId="{41487E93-8FC9-784F-BA3F-3A25D1D2C451}" srcId="{5387DE86-DC70-0248-9DAE-3D57D18068EC}" destId="{EC558412-5AEF-0A4B-8079-56DBA7BDA5CF}" srcOrd="2" destOrd="0" parTransId="{CE6F825D-38D0-5147-BD51-1CCC6D8465AF}" sibTransId="{950AC38B-219C-144A-AD46-9A07560024FC}"/>
    <dgm:cxn modelId="{4B5B08AB-7C6D-0D43-9F22-810D1587203C}" type="presOf" srcId="{685E3133-4240-634F-9FDD-82817E4B41D0}" destId="{E4130107-726D-714F-A338-570022A9C238}" srcOrd="1" destOrd="0" presId="urn:microsoft.com/office/officeart/2005/8/layout/process2"/>
    <dgm:cxn modelId="{9DA274B5-78DF-7C43-9ACF-02C8AE972538}" type="presOf" srcId="{A9D51A8E-462C-E04A-8694-63FDFF44495A}" destId="{A291967D-A9D9-704A-89B8-245651C1B91D}" srcOrd="0" destOrd="0" presId="urn:microsoft.com/office/officeart/2005/8/layout/process2"/>
    <dgm:cxn modelId="{E70272B7-7FCB-4C4F-9E63-81E5FB3C56A8}" type="presOf" srcId="{79937063-316D-4944-B0C2-078A84BE13D1}" destId="{373732DA-ABDD-F343-A905-904994A2D166}" srcOrd="1" destOrd="0" presId="urn:microsoft.com/office/officeart/2005/8/layout/process2"/>
    <dgm:cxn modelId="{1E8211BF-E647-8E4E-B033-824843611A71}" type="presOf" srcId="{5387DE86-DC70-0248-9DAE-3D57D18068EC}" destId="{04AFEC77-C03A-0542-80EB-5AA11E927189}" srcOrd="0" destOrd="0" presId="urn:microsoft.com/office/officeart/2005/8/layout/process2"/>
    <dgm:cxn modelId="{31EA54C8-085A-4949-893F-13AAB21BFFFE}" type="presOf" srcId="{C90A5EE9-82F2-6443-9532-2F96DFCA9838}" destId="{8CA6CB2B-9643-DF4D-8EB8-8CF3E496842A}" srcOrd="0" destOrd="0" presId="urn:microsoft.com/office/officeart/2005/8/layout/process2"/>
    <dgm:cxn modelId="{FE9612D2-4B21-6D49-ACBE-4ECF18FA61F4}" type="presOf" srcId="{950AC38B-219C-144A-AD46-9A07560024FC}" destId="{F3ACBC66-B316-9545-A868-ECEE09EECAF5}" srcOrd="0" destOrd="0" presId="urn:microsoft.com/office/officeart/2005/8/layout/process2"/>
    <dgm:cxn modelId="{9B525EDD-438C-3040-9675-29B4E3936545}" type="presOf" srcId="{F33EF349-EBE3-1044-A2F8-B94A15D40BC9}" destId="{42035384-40CB-8B4C-B1C3-28B54387326D}" srcOrd="0" destOrd="0" presId="urn:microsoft.com/office/officeart/2005/8/layout/process2"/>
    <dgm:cxn modelId="{CCC336FB-CCD8-1F4A-A833-A0D06140CF3C}" type="presOf" srcId="{A778FC01-91B2-FE4C-BB16-19A79723A7CE}" destId="{EBECAD6A-2ACA-5B40-9AE5-0B65523726CE}" srcOrd="0" destOrd="0" presId="urn:microsoft.com/office/officeart/2005/8/layout/process2"/>
    <dgm:cxn modelId="{FA8858FD-93CA-A747-81AC-1BF4BCE64258}" srcId="{5387DE86-DC70-0248-9DAE-3D57D18068EC}" destId="{A9D51A8E-462C-E04A-8694-63FDFF44495A}" srcOrd="1" destOrd="0" parTransId="{11E884FF-5F4B-2540-BE6A-7BE8DE883983}" sibTransId="{79937063-316D-4944-B0C2-078A84BE13D1}"/>
    <dgm:cxn modelId="{5CACB87E-B41E-BF4C-A202-391942C0EA5B}" type="presParOf" srcId="{04AFEC77-C03A-0542-80EB-5AA11E927189}" destId="{42035384-40CB-8B4C-B1C3-28B54387326D}" srcOrd="0" destOrd="0" presId="urn:microsoft.com/office/officeart/2005/8/layout/process2"/>
    <dgm:cxn modelId="{B09B01B4-BEBD-544C-9551-59F6DD50BA49}" type="presParOf" srcId="{04AFEC77-C03A-0542-80EB-5AA11E927189}" destId="{1A70DC35-955A-CB44-84F9-7B48357FC821}" srcOrd="1" destOrd="0" presId="urn:microsoft.com/office/officeart/2005/8/layout/process2"/>
    <dgm:cxn modelId="{6DBFA287-89E6-CB4C-802A-2D97FBB77C57}" type="presParOf" srcId="{1A70DC35-955A-CB44-84F9-7B48357FC821}" destId="{E4130107-726D-714F-A338-570022A9C238}" srcOrd="0" destOrd="0" presId="urn:microsoft.com/office/officeart/2005/8/layout/process2"/>
    <dgm:cxn modelId="{AD3C61F4-9C23-1A4B-A79E-09D7D9DAB3C4}" type="presParOf" srcId="{04AFEC77-C03A-0542-80EB-5AA11E927189}" destId="{A291967D-A9D9-704A-89B8-245651C1B91D}" srcOrd="2" destOrd="0" presId="urn:microsoft.com/office/officeart/2005/8/layout/process2"/>
    <dgm:cxn modelId="{E8D8A53D-2C98-CD47-A43D-A769BA5F6B58}" type="presParOf" srcId="{04AFEC77-C03A-0542-80EB-5AA11E927189}" destId="{406BB36A-8596-7946-80C9-9F79D997EBB4}" srcOrd="3" destOrd="0" presId="urn:microsoft.com/office/officeart/2005/8/layout/process2"/>
    <dgm:cxn modelId="{0C699679-F911-8947-B175-77B401E37454}" type="presParOf" srcId="{406BB36A-8596-7946-80C9-9F79D997EBB4}" destId="{373732DA-ABDD-F343-A905-904994A2D166}" srcOrd="0" destOrd="0" presId="urn:microsoft.com/office/officeart/2005/8/layout/process2"/>
    <dgm:cxn modelId="{720D88F1-D0E3-C24B-91E5-61508A07EAB7}" type="presParOf" srcId="{04AFEC77-C03A-0542-80EB-5AA11E927189}" destId="{1AE9A29D-C0A1-ED46-B842-35BF30FB0431}" srcOrd="4" destOrd="0" presId="urn:microsoft.com/office/officeart/2005/8/layout/process2"/>
    <dgm:cxn modelId="{56D1F3FC-97EF-F34F-A660-6E1D17104713}" type="presParOf" srcId="{04AFEC77-C03A-0542-80EB-5AA11E927189}" destId="{F3ACBC66-B316-9545-A868-ECEE09EECAF5}" srcOrd="5" destOrd="0" presId="urn:microsoft.com/office/officeart/2005/8/layout/process2"/>
    <dgm:cxn modelId="{DF48929A-EAD1-0347-8D9C-7CBB99A98E29}" type="presParOf" srcId="{F3ACBC66-B316-9545-A868-ECEE09EECAF5}" destId="{50493A9E-B3F7-EC4F-AC03-3A7EA034AE9E}" srcOrd="0" destOrd="0" presId="urn:microsoft.com/office/officeart/2005/8/layout/process2"/>
    <dgm:cxn modelId="{F19B8A5E-8ADE-444B-8E6E-F2650E1D7C5E}" type="presParOf" srcId="{04AFEC77-C03A-0542-80EB-5AA11E927189}" destId="{919A82B4-9B00-F04F-ABE3-B4CBB3CEB949}" srcOrd="6" destOrd="0" presId="urn:microsoft.com/office/officeart/2005/8/layout/process2"/>
    <dgm:cxn modelId="{B5F09CA0-3F26-E649-93A2-87CB665F72E9}" type="presParOf" srcId="{04AFEC77-C03A-0542-80EB-5AA11E927189}" destId="{EBECAD6A-2ACA-5B40-9AE5-0B65523726CE}" srcOrd="7" destOrd="0" presId="urn:microsoft.com/office/officeart/2005/8/layout/process2"/>
    <dgm:cxn modelId="{56C626BD-C470-0547-B69E-8E4429FA2763}" type="presParOf" srcId="{EBECAD6A-2ACA-5B40-9AE5-0B65523726CE}" destId="{7A9F0FB6-1E0B-D242-9B60-1EC89E3DB256}" srcOrd="0" destOrd="0" presId="urn:microsoft.com/office/officeart/2005/8/layout/process2"/>
    <dgm:cxn modelId="{A04849A4-954B-F04C-AEAB-6D6A9E1392EF}" type="presParOf" srcId="{04AFEC77-C03A-0542-80EB-5AA11E927189}" destId="{8CA6CB2B-9643-DF4D-8EB8-8CF3E496842A}" srcOrd="8" destOrd="0" presId="urn:microsoft.com/office/officeart/2005/8/layout/process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0A5D027-6FDD-D24A-BA17-448198E852D1}"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GB"/>
        </a:p>
      </dgm:t>
    </dgm:pt>
    <dgm:pt modelId="{D36E3206-9479-2C40-A884-898EA9D27423}">
      <dgm:prSet/>
      <dgm:spPr/>
      <dgm:t>
        <a:bodyPr/>
        <a:lstStyle/>
        <a:p>
          <a:r>
            <a:rPr lang="en-US" dirty="0"/>
            <a:t>Anomaly</a:t>
          </a:r>
          <a:endParaRPr lang="en-GB" dirty="0"/>
        </a:p>
      </dgm:t>
    </dgm:pt>
    <dgm:pt modelId="{24985BCE-5476-A74D-8DAA-61E54E3801CB}" type="parTrans" cxnId="{3BF01CC7-D9EF-F842-A328-DF91BB180B93}">
      <dgm:prSet/>
      <dgm:spPr/>
      <dgm:t>
        <a:bodyPr/>
        <a:lstStyle/>
        <a:p>
          <a:endParaRPr lang="en-GB"/>
        </a:p>
      </dgm:t>
    </dgm:pt>
    <dgm:pt modelId="{0DA3CAEF-FCEC-7540-ABA2-85753700A7C2}" type="sibTrans" cxnId="{3BF01CC7-D9EF-F842-A328-DF91BB180B93}">
      <dgm:prSet/>
      <dgm:spPr/>
      <dgm:t>
        <a:bodyPr/>
        <a:lstStyle/>
        <a:p>
          <a:endParaRPr lang="en-GB"/>
        </a:p>
      </dgm:t>
    </dgm:pt>
    <dgm:pt modelId="{E06453B2-CD6A-3B43-BB88-534B0E0766C3}">
      <dgm:prSet/>
      <dgm:spPr/>
      <dgm:t>
        <a:bodyPr/>
        <a:lstStyle/>
        <a:p>
          <a:r>
            <a:rPr lang="en-US" dirty="0"/>
            <a:t>Multi-feature change</a:t>
          </a:r>
          <a:endParaRPr lang="en-GB" dirty="0"/>
        </a:p>
      </dgm:t>
    </dgm:pt>
    <dgm:pt modelId="{99A52FDC-3044-BC4A-BD55-8BA3296B2DEA}" type="parTrans" cxnId="{F4A261A2-6478-534A-8E04-973C2AB3B721}">
      <dgm:prSet/>
      <dgm:spPr/>
      <dgm:t>
        <a:bodyPr/>
        <a:lstStyle/>
        <a:p>
          <a:endParaRPr lang="en-GB"/>
        </a:p>
      </dgm:t>
    </dgm:pt>
    <dgm:pt modelId="{5E385FFC-BE80-8543-93AD-09CD6893073A}" type="sibTrans" cxnId="{F4A261A2-6478-534A-8E04-973C2AB3B721}">
      <dgm:prSet/>
      <dgm:spPr/>
      <dgm:t>
        <a:bodyPr/>
        <a:lstStyle/>
        <a:p>
          <a:endParaRPr lang="en-GB"/>
        </a:p>
      </dgm:t>
    </dgm:pt>
    <dgm:pt modelId="{2AE0FBB3-41A6-2C4F-8E8D-7E28CF569912}">
      <dgm:prSet/>
      <dgm:spPr/>
      <dgm:t>
        <a:bodyPr/>
        <a:lstStyle/>
        <a:p>
          <a:r>
            <a:rPr lang="en-US" dirty="0"/>
            <a:t>Single noisy feature</a:t>
          </a:r>
          <a:endParaRPr lang="en-GB" dirty="0"/>
        </a:p>
      </dgm:t>
    </dgm:pt>
    <dgm:pt modelId="{CC92A3D6-CCE1-1749-AEAD-C48AD2EFFB73}" type="parTrans" cxnId="{95254C0B-B13E-084A-BAB3-59142F5CF47F}">
      <dgm:prSet/>
      <dgm:spPr/>
      <dgm:t>
        <a:bodyPr/>
        <a:lstStyle/>
        <a:p>
          <a:endParaRPr lang="en-GB"/>
        </a:p>
      </dgm:t>
    </dgm:pt>
    <dgm:pt modelId="{AFAA92F0-29B8-2144-869D-C22336D63BB9}" type="sibTrans" cxnId="{95254C0B-B13E-084A-BAB3-59142F5CF47F}">
      <dgm:prSet/>
      <dgm:spPr/>
      <dgm:t>
        <a:bodyPr/>
        <a:lstStyle/>
        <a:p>
          <a:endParaRPr lang="en-GB"/>
        </a:p>
      </dgm:t>
    </dgm:pt>
    <dgm:pt modelId="{15269D4A-1430-7543-9756-8CE83AEA32B8}">
      <dgm:prSet/>
      <dgm:spPr/>
      <dgm:t>
        <a:bodyPr/>
        <a:lstStyle/>
        <a:p>
          <a:r>
            <a:rPr lang="en-US" dirty="0"/>
            <a:t>SHAP Analysis</a:t>
          </a:r>
          <a:endParaRPr lang="en-GB" dirty="0"/>
        </a:p>
      </dgm:t>
    </dgm:pt>
    <dgm:pt modelId="{4B335226-5067-9749-9219-9E6BA45489B8}" type="parTrans" cxnId="{4962A0A1-AE74-C64A-82A5-4745DCECBB36}">
      <dgm:prSet/>
      <dgm:spPr/>
      <dgm:t>
        <a:bodyPr/>
        <a:lstStyle/>
        <a:p>
          <a:endParaRPr lang="en-GB"/>
        </a:p>
      </dgm:t>
    </dgm:pt>
    <dgm:pt modelId="{2574B729-1453-9543-A47B-3996ADE7A8E9}" type="sibTrans" cxnId="{4962A0A1-AE74-C64A-82A5-4745DCECBB36}">
      <dgm:prSet/>
      <dgm:spPr/>
      <dgm:t>
        <a:bodyPr/>
        <a:lstStyle/>
        <a:p>
          <a:endParaRPr lang="en-GB"/>
        </a:p>
      </dgm:t>
    </dgm:pt>
    <dgm:pt modelId="{848064E4-4901-7F4A-9C23-A3797551AD83}">
      <dgm:prSet/>
      <dgm:spPr/>
      <dgm:t>
        <a:bodyPr/>
        <a:lstStyle/>
        <a:p>
          <a:r>
            <a:rPr lang="en-US" dirty="0"/>
            <a:t>  Emergency Alert</a:t>
          </a:r>
          <a:endParaRPr lang="en-GB" dirty="0"/>
        </a:p>
      </dgm:t>
    </dgm:pt>
    <dgm:pt modelId="{B61727AC-BED6-5B4F-8FB4-9DBA0C1636A9}" type="parTrans" cxnId="{D2DF8927-9873-9C46-9B00-A1413C17023F}">
      <dgm:prSet/>
      <dgm:spPr/>
      <dgm:t>
        <a:bodyPr/>
        <a:lstStyle/>
        <a:p>
          <a:endParaRPr lang="en-GB"/>
        </a:p>
      </dgm:t>
    </dgm:pt>
    <dgm:pt modelId="{ED011BA9-9F3C-5D4A-A54B-F300290BDAE3}" type="sibTrans" cxnId="{D2DF8927-9873-9C46-9B00-A1413C17023F}">
      <dgm:prSet/>
      <dgm:spPr/>
      <dgm:t>
        <a:bodyPr/>
        <a:lstStyle/>
        <a:p>
          <a:endParaRPr lang="en-GB"/>
        </a:p>
      </dgm:t>
    </dgm:pt>
    <dgm:pt modelId="{C6E3D437-126F-F64F-8E19-8FF2626B9CC5}">
      <dgm:prSet/>
      <dgm:spPr/>
      <dgm:t>
        <a:bodyPr/>
        <a:lstStyle/>
        <a:p>
          <a:r>
            <a:rPr lang="en-US" dirty="0"/>
            <a:t> Sensor Check</a:t>
          </a:r>
          <a:endParaRPr lang="en-GB" dirty="0"/>
        </a:p>
      </dgm:t>
    </dgm:pt>
    <dgm:pt modelId="{73092AAD-02E7-DE46-92F7-DB6611D46F71}" type="parTrans" cxnId="{DC0496C1-4E4D-A24C-9739-B12C27C171F5}">
      <dgm:prSet/>
      <dgm:spPr/>
      <dgm:t>
        <a:bodyPr/>
        <a:lstStyle/>
        <a:p>
          <a:endParaRPr lang="en-GB"/>
        </a:p>
      </dgm:t>
    </dgm:pt>
    <dgm:pt modelId="{37EF35B0-38B2-2242-A08B-D13C52222250}" type="sibTrans" cxnId="{DC0496C1-4E4D-A24C-9739-B12C27C171F5}">
      <dgm:prSet/>
      <dgm:spPr/>
      <dgm:t>
        <a:bodyPr/>
        <a:lstStyle/>
        <a:p>
          <a:endParaRPr lang="en-GB"/>
        </a:p>
      </dgm:t>
    </dgm:pt>
    <dgm:pt modelId="{31BA032C-25A3-4441-807D-7331ADC05601}" type="pres">
      <dgm:prSet presAssocID="{C0A5D027-6FDD-D24A-BA17-448198E852D1}" presName="hierChild1" presStyleCnt="0">
        <dgm:presLayoutVars>
          <dgm:orgChart val="1"/>
          <dgm:chPref val="1"/>
          <dgm:dir/>
          <dgm:animOne val="branch"/>
          <dgm:animLvl val="lvl"/>
          <dgm:resizeHandles/>
        </dgm:presLayoutVars>
      </dgm:prSet>
      <dgm:spPr/>
    </dgm:pt>
    <dgm:pt modelId="{C3349BB0-A43A-DA46-B895-3412709F5CA1}" type="pres">
      <dgm:prSet presAssocID="{D36E3206-9479-2C40-A884-898EA9D27423}" presName="hierRoot1" presStyleCnt="0">
        <dgm:presLayoutVars>
          <dgm:hierBranch val="init"/>
        </dgm:presLayoutVars>
      </dgm:prSet>
      <dgm:spPr/>
    </dgm:pt>
    <dgm:pt modelId="{593F88A5-B659-FC4F-9428-E1ACB1CE32F8}" type="pres">
      <dgm:prSet presAssocID="{D36E3206-9479-2C40-A884-898EA9D27423}" presName="rootComposite1" presStyleCnt="0"/>
      <dgm:spPr/>
    </dgm:pt>
    <dgm:pt modelId="{6122DA74-F9CD-6E4F-ADC1-CCB1DCB605BD}" type="pres">
      <dgm:prSet presAssocID="{D36E3206-9479-2C40-A884-898EA9D27423}" presName="rootText1" presStyleLbl="node0" presStyleIdx="0" presStyleCnt="2">
        <dgm:presLayoutVars>
          <dgm:chPref val="3"/>
        </dgm:presLayoutVars>
      </dgm:prSet>
      <dgm:spPr/>
    </dgm:pt>
    <dgm:pt modelId="{1B260F09-1B7B-CA43-BFBB-B37D3217A493}" type="pres">
      <dgm:prSet presAssocID="{D36E3206-9479-2C40-A884-898EA9D27423}" presName="rootConnector1" presStyleLbl="node1" presStyleIdx="0" presStyleCnt="0"/>
      <dgm:spPr/>
    </dgm:pt>
    <dgm:pt modelId="{7F229FBB-5B35-C342-B097-C971CDB0E9A6}" type="pres">
      <dgm:prSet presAssocID="{D36E3206-9479-2C40-A884-898EA9D27423}" presName="hierChild2" presStyleCnt="0"/>
      <dgm:spPr/>
    </dgm:pt>
    <dgm:pt modelId="{BB6B6D49-3913-4C42-AD56-CC471EFA3885}" type="pres">
      <dgm:prSet presAssocID="{99A52FDC-3044-BC4A-BD55-8BA3296B2DEA}" presName="Name37" presStyleLbl="parChTrans1D2" presStyleIdx="0" presStyleCnt="2"/>
      <dgm:spPr/>
    </dgm:pt>
    <dgm:pt modelId="{60B1558A-0BCE-CF4B-8477-2721E9DB4F0F}" type="pres">
      <dgm:prSet presAssocID="{E06453B2-CD6A-3B43-BB88-534B0E0766C3}" presName="hierRoot2" presStyleCnt="0">
        <dgm:presLayoutVars>
          <dgm:hierBranch val="init"/>
        </dgm:presLayoutVars>
      </dgm:prSet>
      <dgm:spPr/>
    </dgm:pt>
    <dgm:pt modelId="{4DFBD040-FEE6-114A-B7C0-FF3CD94B6516}" type="pres">
      <dgm:prSet presAssocID="{E06453B2-CD6A-3B43-BB88-534B0E0766C3}" presName="rootComposite" presStyleCnt="0"/>
      <dgm:spPr/>
    </dgm:pt>
    <dgm:pt modelId="{44933975-EED9-A64B-8464-13831B9B9F0F}" type="pres">
      <dgm:prSet presAssocID="{E06453B2-CD6A-3B43-BB88-534B0E0766C3}" presName="rootText" presStyleLbl="node2" presStyleIdx="0" presStyleCnt="2">
        <dgm:presLayoutVars>
          <dgm:chPref val="3"/>
        </dgm:presLayoutVars>
      </dgm:prSet>
      <dgm:spPr/>
    </dgm:pt>
    <dgm:pt modelId="{0F13CD7F-605D-424F-914C-192660704783}" type="pres">
      <dgm:prSet presAssocID="{E06453B2-CD6A-3B43-BB88-534B0E0766C3}" presName="rootConnector" presStyleLbl="node2" presStyleIdx="0" presStyleCnt="2"/>
      <dgm:spPr/>
    </dgm:pt>
    <dgm:pt modelId="{30BE8A9E-1F69-9A4C-88D7-88B6BFACAEC2}" type="pres">
      <dgm:prSet presAssocID="{E06453B2-CD6A-3B43-BB88-534B0E0766C3}" presName="hierChild4" presStyleCnt="0"/>
      <dgm:spPr/>
    </dgm:pt>
    <dgm:pt modelId="{B65F3689-58F7-664C-B1DE-8129949E9078}" type="pres">
      <dgm:prSet presAssocID="{B61727AC-BED6-5B4F-8FB4-9DBA0C1636A9}" presName="Name37" presStyleLbl="parChTrans1D3" presStyleIdx="0" presStyleCnt="2"/>
      <dgm:spPr/>
    </dgm:pt>
    <dgm:pt modelId="{6091223B-CE35-EE4F-9D37-93782D3D60E9}" type="pres">
      <dgm:prSet presAssocID="{848064E4-4901-7F4A-9C23-A3797551AD83}" presName="hierRoot2" presStyleCnt="0">
        <dgm:presLayoutVars>
          <dgm:hierBranch val="init"/>
        </dgm:presLayoutVars>
      </dgm:prSet>
      <dgm:spPr/>
    </dgm:pt>
    <dgm:pt modelId="{E2DF0F6C-1E47-DE45-BA25-5EA7374629E2}" type="pres">
      <dgm:prSet presAssocID="{848064E4-4901-7F4A-9C23-A3797551AD83}" presName="rootComposite" presStyleCnt="0"/>
      <dgm:spPr/>
    </dgm:pt>
    <dgm:pt modelId="{730A458D-F736-7940-9078-BFBC65CB37E3}" type="pres">
      <dgm:prSet presAssocID="{848064E4-4901-7F4A-9C23-A3797551AD83}" presName="rootText" presStyleLbl="node3" presStyleIdx="0" presStyleCnt="2">
        <dgm:presLayoutVars>
          <dgm:chPref val="3"/>
        </dgm:presLayoutVars>
      </dgm:prSet>
      <dgm:spPr/>
    </dgm:pt>
    <dgm:pt modelId="{067AFDD1-FCBD-624D-B8D9-D4BF845484FA}" type="pres">
      <dgm:prSet presAssocID="{848064E4-4901-7F4A-9C23-A3797551AD83}" presName="rootConnector" presStyleLbl="node3" presStyleIdx="0" presStyleCnt="2"/>
      <dgm:spPr/>
    </dgm:pt>
    <dgm:pt modelId="{50E9757C-5D61-9D45-A8A2-713C5D699C3D}" type="pres">
      <dgm:prSet presAssocID="{848064E4-4901-7F4A-9C23-A3797551AD83}" presName="hierChild4" presStyleCnt="0"/>
      <dgm:spPr/>
    </dgm:pt>
    <dgm:pt modelId="{BCCD8032-DFD8-0949-BAA6-0EEA107F78BD}" type="pres">
      <dgm:prSet presAssocID="{848064E4-4901-7F4A-9C23-A3797551AD83}" presName="hierChild5" presStyleCnt="0"/>
      <dgm:spPr/>
    </dgm:pt>
    <dgm:pt modelId="{96B0E5A6-0869-2944-A336-2ABAE1C13949}" type="pres">
      <dgm:prSet presAssocID="{E06453B2-CD6A-3B43-BB88-534B0E0766C3}" presName="hierChild5" presStyleCnt="0"/>
      <dgm:spPr/>
    </dgm:pt>
    <dgm:pt modelId="{7D38EF03-7E8A-D949-AA87-4BC8DD122BF9}" type="pres">
      <dgm:prSet presAssocID="{CC92A3D6-CCE1-1749-AEAD-C48AD2EFFB73}" presName="Name37" presStyleLbl="parChTrans1D2" presStyleIdx="1" presStyleCnt="2"/>
      <dgm:spPr/>
    </dgm:pt>
    <dgm:pt modelId="{8804C1EB-10D0-9242-881F-33EDA946477F}" type="pres">
      <dgm:prSet presAssocID="{2AE0FBB3-41A6-2C4F-8E8D-7E28CF569912}" presName="hierRoot2" presStyleCnt="0">
        <dgm:presLayoutVars>
          <dgm:hierBranch val="init"/>
        </dgm:presLayoutVars>
      </dgm:prSet>
      <dgm:spPr/>
    </dgm:pt>
    <dgm:pt modelId="{D6C90DB5-E415-B64F-800F-C27607A6F1F8}" type="pres">
      <dgm:prSet presAssocID="{2AE0FBB3-41A6-2C4F-8E8D-7E28CF569912}" presName="rootComposite" presStyleCnt="0"/>
      <dgm:spPr/>
    </dgm:pt>
    <dgm:pt modelId="{6F54F175-9AD1-DB4C-97A6-B2C976EAB07D}" type="pres">
      <dgm:prSet presAssocID="{2AE0FBB3-41A6-2C4F-8E8D-7E28CF569912}" presName="rootText" presStyleLbl="node2" presStyleIdx="1" presStyleCnt="2">
        <dgm:presLayoutVars>
          <dgm:chPref val="3"/>
        </dgm:presLayoutVars>
      </dgm:prSet>
      <dgm:spPr/>
    </dgm:pt>
    <dgm:pt modelId="{BEEBB3E2-4DC7-2B44-B78A-BF40FCAEE993}" type="pres">
      <dgm:prSet presAssocID="{2AE0FBB3-41A6-2C4F-8E8D-7E28CF569912}" presName="rootConnector" presStyleLbl="node2" presStyleIdx="1" presStyleCnt="2"/>
      <dgm:spPr/>
    </dgm:pt>
    <dgm:pt modelId="{5D11E22E-FBEC-7F4D-832B-FD2A965BBDFD}" type="pres">
      <dgm:prSet presAssocID="{2AE0FBB3-41A6-2C4F-8E8D-7E28CF569912}" presName="hierChild4" presStyleCnt="0"/>
      <dgm:spPr/>
    </dgm:pt>
    <dgm:pt modelId="{7718FE2C-721A-8C43-9F79-D9A9AE976157}" type="pres">
      <dgm:prSet presAssocID="{73092AAD-02E7-DE46-92F7-DB6611D46F71}" presName="Name37" presStyleLbl="parChTrans1D3" presStyleIdx="1" presStyleCnt="2"/>
      <dgm:spPr/>
    </dgm:pt>
    <dgm:pt modelId="{40099C2B-AAF8-CD40-9E46-B03E17463B10}" type="pres">
      <dgm:prSet presAssocID="{C6E3D437-126F-F64F-8E19-8FF2626B9CC5}" presName="hierRoot2" presStyleCnt="0">
        <dgm:presLayoutVars>
          <dgm:hierBranch val="init"/>
        </dgm:presLayoutVars>
      </dgm:prSet>
      <dgm:spPr/>
    </dgm:pt>
    <dgm:pt modelId="{CE58B257-1A31-0840-91D6-94936AC408B5}" type="pres">
      <dgm:prSet presAssocID="{C6E3D437-126F-F64F-8E19-8FF2626B9CC5}" presName="rootComposite" presStyleCnt="0"/>
      <dgm:spPr/>
    </dgm:pt>
    <dgm:pt modelId="{6A326F28-9FDA-314A-99B2-291292170890}" type="pres">
      <dgm:prSet presAssocID="{C6E3D437-126F-F64F-8E19-8FF2626B9CC5}" presName="rootText" presStyleLbl="node3" presStyleIdx="1" presStyleCnt="2">
        <dgm:presLayoutVars>
          <dgm:chPref val="3"/>
        </dgm:presLayoutVars>
      </dgm:prSet>
      <dgm:spPr/>
    </dgm:pt>
    <dgm:pt modelId="{44D001E6-17F5-624F-BE3E-71B1239DE885}" type="pres">
      <dgm:prSet presAssocID="{C6E3D437-126F-F64F-8E19-8FF2626B9CC5}" presName="rootConnector" presStyleLbl="node3" presStyleIdx="1" presStyleCnt="2"/>
      <dgm:spPr/>
    </dgm:pt>
    <dgm:pt modelId="{2277BE13-79CA-5D4B-A4E0-1B41481E26DC}" type="pres">
      <dgm:prSet presAssocID="{C6E3D437-126F-F64F-8E19-8FF2626B9CC5}" presName="hierChild4" presStyleCnt="0"/>
      <dgm:spPr/>
    </dgm:pt>
    <dgm:pt modelId="{D0FEC2F7-05E9-394A-979F-C442CFAF706E}" type="pres">
      <dgm:prSet presAssocID="{C6E3D437-126F-F64F-8E19-8FF2626B9CC5}" presName="hierChild5" presStyleCnt="0"/>
      <dgm:spPr/>
    </dgm:pt>
    <dgm:pt modelId="{2B0B9EE6-5CC2-C44D-827D-EF774B521869}" type="pres">
      <dgm:prSet presAssocID="{2AE0FBB3-41A6-2C4F-8E8D-7E28CF569912}" presName="hierChild5" presStyleCnt="0"/>
      <dgm:spPr/>
    </dgm:pt>
    <dgm:pt modelId="{21E89DBE-E455-534D-A987-EE40680CF5F2}" type="pres">
      <dgm:prSet presAssocID="{D36E3206-9479-2C40-A884-898EA9D27423}" presName="hierChild3" presStyleCnt="0"/>
      <dgm:spPr/>
    </dgm:pt>
    <dgm:pt modelId="{E8EF0C2A-424E-5B46-8B71-1CA8B065F707}" type="pres">
      <dgm:prSet presAssocID="{15269D4A-1430-7543-9756-8CE83AEA32B8}" presName="hierRoot1" presStyleCnt="0">
        <dgm:presLayoutVars>
          <dgm:hierBranch val="init"/>
        </dgm:presLayoutVars>
      </dgm:prSet>
      <dgm:spPr/>
    </dgm:pt>
    <dgm:pt modelId="{E731400E-7C4F-0644-925B-8829D5526486}" type="pres">
      <dgm:prSet presAssocID="{15269D4A-1430-7543-9756-8CE83AEA32B8}" presName="rootComposite1" presStyleCnt="0"/>
      <dgm:spPr/>
    </dgm:pt>
    <dgm:pt modelId="{E4E0EDCB-8626-7C4D-8B31-35A4329FABC5}" type="pres">
      <dgm:prSet presAssocID="{15269D4A-1430-7543-9756-8CE83AEA32B8}" presName="rootText1" presStyleLbl="node0" presStyleIdx="1" presStyleCnt="2">
        <dgm:presLayoutVars>
          <dgm:chPref val="3"/>
        </dgm:presLayoutVars>
      </dgm:prSet>
      <dgm:spPr/>
    </dgm:pt>
    <dgm:pt modelId="{D0F2E828-CA56-8141-864F-6AE8D2A5971E}" type="pres">
      <dgm:prSet presAssocID="{15269D4A-1430-7543-9756-8CE83AEA32B8}" presName="rootConnector1" presStyleLbl="node1" presStyleIdx="0" presStyleCnt="0"/>
      <dgm:spPr/>
    </dgm:pt>
    <dgm:pt modelId="{416D4B4D-F918-A142-8FEE-4694807CE548}" type="pres">
      <dgm:prSet presAssocID="{15269D4A-1430-7543-9756-8CE83AEA32B8}" presName="hierChild2" presStyleCnt="0"/>
      <dgm:spPr/>
    </dgm:pt>
    <dgm:pt modelId="{E5D41E26-8BC0-194E-B6DA-36989E4C19F0}" type="pres">
      <dgm:prSet presAssocID="{15269D4A-1430-7543-9756-8CE83AEA32B8}" presName="hierChild3" presStyleCnt="0"/>
      <dgm:spPr/>
    </dgm:pt>
  </dgm:ptLst>
  <dgm:cxnLst>
    <dgm:cxn modelId="{CAA7D208-CA0E-1B41-9B57-1FE8D12BD4A6}" type="presOf" srcId="{E06453B2-CD6A-3B43-BB88-534B0E0766C3}" destId="{0F13CD7F-605D-424F-914C-192660704783}" srcOrd="1" destOrd="0" presId="urn:microsoft.com/office/officeart/2005/8/layout/orgChart1"/>
    <dgm:cxn modelId="{95254C0B-B13E-084A-BAB3-59142F5CF47F}" srcId="{D36E3206-9479-2C40-A884-898EA9D27423}" destId="{2AE0FBB3-41A6-2C4F-8E8D-7E28CF569912}" srcOrd="1" destOrd="0" parTransId="{CC92A3D6-CCE1-1749-AEAD-C48AD2EFFB73}" sibTransId="{AFAA92F0-29B8-2144-869D-C22336D63BB9}"/>
    <dgm:cxn modelId="{CFA81D24-D6C4-E54C-B062-10D647BD61C5}" type="presOf" srcId="{B61727AC-BED6-5B4F-8FB4-9DBA0C1636A9}" destId="{B65F3689-58F7-664C-B1DE-8129949E9078}" srcOrd="0" destOrd="0" presId="urn:microsoft.com/office/officeart/2005/8/layout/orgChart1"/>
    <dgm:cxn modelId="{85808E24-6733-044B-B820-0B8FF6D4D283}" type="presOf" srcId="{2AE0FBB3-41A6-2C4F-8E8D-7E28CF569912}" destId="{BEEBB3E2-4DC7-2B44-B78A-BF40FCAEE993}" srcOrd="1" destOrd="0" presId="urn:microsoft.com/office/officeart/2005/8/layout/orgChart1"/>
    <dgm:cxn modelId="{D2DF8927-9873-9C46-9B00-A1413C17023F}" srcId="{E06453B2-CD6A-3B43-BB88-534B0E0766C3}" destId="{848064E4-4901-7F4A-9C23-A3797551AD83}" srcOrd="0" destOrd="0" parTransId="{B61727AC-BED6-5B4F-8FB4-9DBA0C1636A9}" sibTransId="{ED011BA9-9F3C-5D4A-A54B-F300290BDAE3}"/>
    <dgm:cxn modelId="{828B503E-91AB-FA47-842A-D7FDF108517A}" type="presOf" srcId="{C6E3D437-126F-F64F-8E19-8FF2626B9CC5}" destId="{6A326F28-9FDA-314A-99B2-291292170890}" srcOrd="0" destOrd="0" presId="urn:microsoft.com/office/officeart/2005/8/layout/orgChart1"/>
    <dgm:cxn modelId="{6FB4144D-C9AE-AE42-9128-D41B6219B444}" type="presOf" srcId="{C6E3D437-126F-F64F-8E19-8FF2626B9CC5}" destId="{44D001E6-17F5-624F-BE3E-71B1239DE885}" srcOrd="1" destOrd="0" presId="urn:microsoft.com/office/officeart/2005/8/layout/orgChart1"/>
    <dgm:cxn modelId="{AE80B24F-095F-A043-9F42-5402076DA505}" type="presOf" srcId="{CC92A3D6-CCE1-1749-AEAD-C48AD2EFFB73}" destId="{7D38EF03-7E8A-D949-AA87-4BC8DD122BF9}" srcOrd="0" destOrd="0" presId="urn:microsoft.com/office/officeart/2005/8/layout/orgChart1"/>
    <dgm:cxn modelId="{6E0DEE73-3186-D645-93B8-91E7E8457346}" type="presOf" srcId="{848064E4-4901-7F4A-9C23-A3797551AD83}" destId="{730A458D-F736-7940-9078-BFBC65CB37E3}" srcOrd="0" destOrd="0" presId="urn:microsoft.com/office/officeart/2005/8/layout/orgChart1"/>
    <dgm:cxn modelId="{690C6B83-8094-4F4A-98E6-C701244AECB6}" type="presOf" srcId="{15269D4A-1430-7543-9756-8CE83AEA32B8}" destId="{E4E0EDCB-8626-7C4D-8B31-35A4329FABC5}" srcOrd="0" destOrd="0" presId="urn:microsoft.com/office/officeart/2005/8/layout/orgChart1"/>
    <dgm:cxn modelId="{1D533098-3F49-4A4E-89B8-0C0F22EE80C7}" type="presOf" srcId="{73092AAD-02E7-DE46-92F7-DB6611D46F71}" destId="{7718FE2C-721A-8C43-9F79-D9A9AE976157}" srcOrd="0" destOrd="0" presId="urn:microsoft.com/office/officeart/2005/8/layout/orgChart1"/>
    <dgm:cxn modelId="{4962A0A1-AE74-C64A-82A5-4745DCECBB36}" srcId="{C0A5D027-6FDD-D24A-BA17-448198E852D1}" destId="{15269D4A-1430-7543-9756-8CE83AEA32B8}" srcOrd="1" destOrd="0" parTransId="{4B335226-5067-9749-9219-9E6BA45489B8}" sibTransId="{2574B729-1453-9543-A47B-3996ADE7A8E9}"/>
    <dgm:cxn modelId="{F4A261A2-6478-534A-8E04-973C2AB3B721}" srcId="{D36E3206-9479-2C40-A884-898EA9D27423}" destId="{E06453B2-CD6A-3B43-BB88-534B0E0766C3}" srcOrd="0" destOrd="0" parTransId="{99A52FDC-3044-BC4A-BD55-8BA3296B2DEA}" sibTransId="{5E385FFC-BE80-8543-93AD-09CD6893073A}"/>
    <dgm:cxn modelId="{A561F5AD-502E-F840-B42A-0F790701D843}" type="presOf" srcId="{C0A5D027-6FDD-D24A-BA17-448198E852D1}" destId="{31BA032C-25A3-4441-807D-7331ADC05601}" srcOrd="0" destOrd="0" presId="urn:microsoft.com/office/officeart/2005/8/layout/orgChart1"/>
    <dgm:cxn modelId="{84775DAE-BFDC-9A4F-AC59-9089F0552969}" type="presOf" srcId="{D36E3206-9479-2C40-A884-898EA9D27423}" destId="{6122DA74-F9CD-6E4F-ADC1-CCB1DCB605BD}" srcOrd="0" destOrd="0" presId="urn:microsoft.com/office/officeart/2005/8/layout/orgChart1"/>
    <dgm:cxn modelId="{AF5258B8-0605-0747-A68F-D824D8E87111}" type="presOf" srcId="{15269D4A-1430-7543-9756-8CE83AEA32B8}" destId="{D0F2E828-CA56-8141-864F-6AE8D2A5971E}" srcOrd="1" destOrd="0" presId="urn:microsoft.com/office/officeart/2005/8/layout/orgChart1"/>
    <dgm:cxn modelId="{1E88D6BE-BB28-9543-AAE0-C837D5F95DF9}" type="presOf" srcId="{848064E4-4901-7F4A-9C23-A3797551AD83}" destId="{067AFDD1-FCBD-624D-B8D9-D4BF845484FA}" srcOrd="1" destOrd="0" presId="urn:microsoft.com/office/officeart/2005/8/layout/orgChart1"/>
    <dgm:cxn modelId="{DC0496C1-4E4D-A24C-9739-B12C27C171F5}" srcId="{2AE0FBB3-41A6-2C4F-8E8D-7E28CF569912}" destId="{C6E3D437-126F-F64F-8E19-8FF2626B9CC5}" srcOrd="0" destOrd="0" parTransId="{73092AAD-02E7-DE46-92F7-DB6611D46F71}" sibTransId="{37EF35B0-38B2-2242-A08B-D13C52222250}"/>
    <dgm:cxn modelId="{3BF01CC7-D9EF-F842-A328-DF91BB180B93}" srcId="{C0A5D027-6FDD-D24A-BA17-448198E852D1}" destId="{D36E3206-9479-2C40-A884-898EA9D27423}" srcOrd="0" destOrd="0" parTransId="{24985BCE-5476-A74D-8DAA-61E54E3801CB}" sibTransId="{0DA3CAEF-FCEC-7540-ABA2-85753700A7C2}"/>
    <dgm:cxn modelId="{F565F3C8-0DC7-6746-BC20-A07F85B456AF}" type="presOf" srcId="{2AE0FBB3-41A6-2C4F-8E8D-7E28CF569912}" destId="{6F54F175-9AD1-DB4C-97A6-B2C976EAB07D}" srcOrd="0" destOrd="0" presId="urn:microsoft.com/office/officeart/2005/8/layout/orgChart1"/>
    <dgm:cxn modelId="{732F70C9-CD0A-174D-9B9C-8CA44F1B71F3}" type="presOf" srcId="{E06453B2-CD6A-3B43-BB88-534B0E0766C3}" destId="{44933975-EED9-A64B-8464-13831B9B9F0F}" srcOrd="0" destOrd="0" presId="urn:microsoft.com/office/officeart/2005/8/layout/orgChart1"/>
    <dgm:cxn modelId="{EA4DECD9-9320-5A49-8DC2-24A381228DB2}" type="presOf" srcId="{D36E3206-9479-2C40-A884-898EA9D27423}" destId="{1B260F09-1B7B-CA43-BFBB-B37D3217A493}" srcOrd="1" destOrd="0" presId="urn:microsoft.com/office/officeart/2005/8/layout/orgChart1"/>
    <dgm:cxn modelId="{E189A7EA-8770-104D-A299-58D9A32B1844}" type="presOf" srcId="{99A52FDC-3044-BC4A-BD55-8BA3296B2DEA}" destId="{BB6B6D49-3913-4C42-AD56-CC471EFA3885}" srcOrd="0" destOrd="0" presId="urn:microsoft.com/office/officeart/2005/8/layout/orgChart1"/>
    <dgm:cxn modelId="{54ED91D1-1331-EA40-95BF-EAF00B01D760}" type="presParOf" srcId="{31BA032C-25A3-4441-807D-7331ADC05601}" destId="{C3349BB0-A43A-DA46-B895-3412709F5CA1}" srcOrd="0" destOrd="0" presId="urn:microsoft.com/office/officeart/2005/8/layout/orgChart1"/>
    <dgm:cxn modelId="{9850072C-3B35-F84E-8CF4-DB6CF8C9A26B}" type="presParOf" srcId="{C3349BB0-A43A-DA46-B895-3412709F5CA1}" destId="{593F88A5-B659-FC4F-9428-E1ACB1CE32F8}" srcOrd="0" destOrd="0" presId="urn:microsoft.com/office/officeart/2005/8/layout/orgChart1"/>
    <dgm:cxn modelId="{648B8160-52C9-FE4B-BF67-DC5656C94960}" type="presParOf" srcId="{593F88A5-B659-FC4F-9428-E1ACB1CE32F8}" destId="{6122DA74-F9CD-6E4F-ADC1-CCB1DCB605BD}" srcOrd="0" destOrd="0" presId="urn:microsoft.com/office/officeart/2005/8/layout/orgChart1"/>
    <dgm:cxn modelId="{E38C80A0-92B6-534E-872C-C06913C72C40}" type="presParOf" srcId="{593F88A5-B659-FC4F-9428-E1ACB1CE32F8}" destId="{1B260F09-1B7B-CA43-BFBB-B37D3217A493}" srcOrd="1" destOrd="0" presId="urn:microsoft.com/office/officeart/2005/8/layout/orgChart1"/>
    <dgm:cxn modelId="{CE4168CA-3F36-1D42-A685-F24E9B4331E2}" type="presParOf" srcId="{C3349BB0-A43A-DA46-B895-3412709F5CA1}" destId="{7F229FBB-5B35-C342-B097-C971CDB0E9A6}" srcOrd="1" destOrd="0" presId="urn:microsoft.com/office/officeart/2005/8/layout/orgChart1"/>
    <dgm:cxn modelId="{3268BEE3-BAAD-534A-9467-58ED9408E9D3}" type="presParOf" srcId="{7F229FBB-5B35-C342-B097-C971CDB0E9A6}" destId="{BB6B6D49-3913-4C42-AD56-CC471EFA3885}" srcOrd="0" destOrd="0" presId="urn:microsoft.com/office/officeart/2005/8/layout/orgChart1"/>
    <dgm:cxn modelId="{9A713233-6829-2F4E-9F49-AF50034DCB40}" type="presParOf" srcId="{7F229FBB-5B35-C342-B097-C971CDB0E9A6}" destId="{60B1558A-0BCE-CF4B-8477-2721E9DB4F0F}" srcOrd="1" destOrd="0" presId="urn:microsoft.com/office/officeart/2005/8/layout/orgChart1"/>
    <dgm:cxn modelId="{55895968-140A-8D47-B0B4-4DC8F6A92798}" type="presParOf" srcId="{60B1558A-0BCE-CF4B-8477-2721E9DB4F0F}" destId="{4DFBD040-FEE6-114A-B7C0-FF3CD94B6516}" srcOrd="0" destOrd="0" presId="urn:microsoft.com/office/officeart/2005/8/layout/orgChart1"/>
    <dgm:cxn modelId="{DB9AB1AD-82E0-0D48-BE56-9964BC87293A}" type="presParOf" srcId="{4DFBD040-FEE6-114A-B7C0-FF3CD94B6516}" destId="{44933975-EED9-A64B-8464-13831B9B9F0F}" srcOrd="0" destOrd="0" presId="urn:microsoft.com/office/officeart/2005/8/layout/orgChart1"/>
    <dgm:cxn modelId="{5C3D24D4-2BFE-414A-8ADD-CF04C5F4DC5B}" type="presParOf" srcId="{4DFBD040-FEE6-114A-B7C0-FF3CD94B6516}" destId="{0F13CD7F-605D-424F-914C-192660704783}" srcOrd="1" destOrd="0" presId="urn:microsoft.com/office/officeart/2005/8/layout/orgChart1"/>
    <dgm:cxn modelId="{FA73BEFD-5F9D-F54B-ABC9-7E09A7645A1B}" type="presParOf" srcId="{60B1558A-0BCE-CF4B-8477-2721E9DB4F0F}" destId="{30BE8A9E-1F69-9A4C-88D7-88B6BFACAEC2}" srcOrd="1" destOrd="0" presId="urn:microsoft.com/office/officeart/2005/8/layout/orgChart1"/>
    <dgm:cxn modelId="{810ABCA5-0DAA-5341-9201-F7B1F1ABAB24}" type="presParOf" srcId="{30BE8A9E-1F69-9A4C-88D7-88B6BFACAEC2}" destId="{B65F3689-58F7-664C-B1DE-8129949E9078}" srcOrd="0" destOrd="0" presId="urn:microsoft.com/office/officeart/2005/8/layout/orgChart1"/>
    <dgm:cxn modelId="{4501F9D1-B521-294F-B39A-4962E0E1641C}" type="presParOf" srcId="{30BE8A9E-1F69-9A4C-88D7-88B6BFACAEC2}" destId="{6091223B-CE35-EE4F-9D37-93782D3D60E9}" srcOrd="1" destOrd="0" presId="urn:microsoft.com/office/officeart/2005/8/layout/orgChart1"/>
    <dgm:cxn modelId="{0A8FA0E9-EEAC-C945-93B8-7E9524A305D7}" type="presParOf" srcId="{6091223B-CE35-EE4F-9D37-93782D3D60E9}" destId="{E2DF0F6C-1E47-DE45-BA25-5EA7374629E2}" srcOrd="0" destOrd="0" presId="urn:microsoft.com/office/officeart/2005/8/layout/orgChart1"/>
    <dgm:cxn modelId="{00F2E68E-900A-0747-93C5-5745FA8D147E}" type="presParOf" srcId="{E2DF0F6C-1E47-DE45-BA25-5EA7374629E2}" destId="{730A458D-F736-7940-9078-BFBC65CB37E3}" srcOrd="0" destOrd="0" presId="urn:microsoft.com/office/officeart/2005/8/layout/orgChart1"/>
    <dgm:cxn modelId="{A6105360-8F46-9941-A6AE-2E3F8DDC23BF}" type="presParOf" srcId="{E2DF0F6C-1E47-DE45-BA25-5EA7374629E2}" destId="{067AFDD1-FCBD-624D-B8D9-D4BF845484FA}" srcOrd="1" destOrd="0" presId="urn:microsoft.com/office/officeart/2005/8/layout/orgChart1"/>
    <dgm:cxn modelId="{54D92D98-295D-F748-84DD-9B4C2548EA8D}" type="presParOf" srcId="{6091223B-CE35-EE4F-9D37-93782D3D60E9}" destId="{50E9757C-5D61-9D45-A8A2-713C5D699C3D}" srcOrd="1" destOrd="0" presId="urn:microsoft.com/office/officeart/2005/8/layout/orgChart1"/>
    <dgm:cxn modelId="{2B699CCF-7D1A-4F4F-A338-902CFA89F6A1}" type="presParOf" srcId="{6091223B-CE35-EE4F-9D37-93782D3D60E9}" destId="{BCCD8032-DFD8-0949-BAA6-0EEA107F78BD}" srcOrd="2" destOrd="0" presId="urn:microsoft.com/office/officeart/2005/8/layout/orgChart1"/>
    <dgm:cxn modelId="{0CAC1BB4-5AB9-E347-960F-58464A66D46E}" type="presParOf" srcId="{60B1558A-0BCE-CF4B-8477-2721E9DB4F0F}" destId="{96B0E5A6-0869-2944-A336-2ABAE1C13949}" srcOrd="2" destOrd="0" presId="urn:microsoft.com/office/officeart/2005/8/layout/orgChart1"/>
    <dgm:cxn modelId="{2FDEA30D-C780-A34E-8336-6FFC0874821F}" type="presParOf" srcId="{7F229FBB-5B35-C342-B097-C971CDB0E9A6}" destId="{7D38EF03-7E8A-D949-AA87-4BC8DD122BF9}" srcOrd="2" destOrd="0" presId="urn:microsoft.com/office/officeart/2005/8/layout/orgChart1"/>
    <dgm:cxn modelId="{B7FDB257-C16E-284A-81DD-A8CB2E9EBD83}" type="presParOf" srcId="{7F229FBB-5B35-C342-B097-C971CDB0E9A6}" destId="{8804C1EB-10D0-9242-881F-33EDA946477F}" srcOrd="3" destOrd="0" presId="urn:microsoft.com/office/officeart/2005/8/layout/orgChart1"/>
    <dgm:cxn modelId="{7F76BE44-B031-2540-95F6-201D94DA7FC5}" type="presParOf" srcId="{8804C1EB-10D0-9242-881F-33EDA946477F}" destId="{D6C90DB5-E415-B64F-800F-C27607A6F1F8}" srcOrd="0" destOrd="0" presId="urn:microsoft.com/office/officeart/2005/8/layout/orgChart1"/>
    <dgm:cxn modelId="{8277E851-E958-FE44-AC0E-43A6D2C8EFE3}" type="presParOf" srcId="{D6C90DB5-E415-B64F-800F-C27607A6F1F8}" destId="{6F54F175-9AD1-DB4C-97A6-B2C976EAB07D}" srcOrd="0" destOrd="0" presId="urn:microsoft.com/office/officeart/2005/8/layout/orgChart1"/>
    <dgm:cxn modelId="{438D59D6-2D41-A941-BA56-4E0C1B149009}" type="presParOf" srcId="{D6C90DB5-E415-B64F-800F-C27607A6F1F8}" destId="{BEEBB3E2-4DC7-2B44-B78A-BF40FCAEE993}" srcOrd="1" destOrd="0" presId="urn:microsoft.com/office/officeart/2005/8/layout/orgChart1"/>
    <dgm:cxn modelId="{332E1A99-91DD-CE49-9CFC-E1BAD1EEE72A}" type="presParOf" srcId="{8804C1EB-10D0-9242-881F-33EDA946477F}" destId="{5D11E22E-FBEC-7F4D-832B-FD2A965BBDFD}" srcOrd="1" destOrd="0" presId="urn:microsoft.com/office/officeart/2005/8/layout/orgChart1"/>
    <dgm:cxn modelId="{CF38682C-E39E-284D-AFE0-701A0767BE58}" type="presParOf" srcId="{5D11E22E-FBEC-7F4D-832B-FD2A965BBDFD}" destId="{7718FE2C-721A-8C43-9F79-D9A9AE976157}" srcOrd="0" destOrd="0" presId="urn:microsoft.com/office/officeart/2005/8/layout/orgChart1"/>
    <dgm:cxn modelId="{17E509F4-FA4B-A842-BBFB-1ADDAF11B3AF}" type="presParOf" srcId="{5D11E22E-FBEC-7F4D-832B-FD2A965BBDFD}" destId="{40099C2B-AAF8-CD40-9E46-B03E17463B10}" srcOrd="1" destOrd="0" presId="urn:microsoft.com/office/officeart/2005/8/layout/orgChart1"/>
    <dgm:cxn modelId="{3880E865-B421-714F-9B9A-5D188EFA7D1A}" type="presParOf" srcId="{40099C2B-AAF8-CD40-9E46-B03E17463B10}" destId="{CE58B257-1A31-0840-91D6-94936AC408B5}" srcOrd="0" destOrd="0" presId="urn:microsoft.com/office/officeart/2005/8/layout/orgChart1"/>
    <dgm:cxn modelId="{2C8C74CB-6D07-0B4B-BE89-3272FC86A280}" type="presParOf" srcId="{CE58B257-1A31-0840-91D6-94936AC408B5}" destId="{6A326F28-9FDA-314A-99B2-291292170890}" srcOrd="0" destOrd="0" presId="urn:microsoft.com/office/officeart/2005/8/layout/orgChart1"/>
    <dgm:cxn modelId="{610EB241-5978-684B-9A01-A16D0E40EAD0}" type="presParOf" srcId="{CE58B257-1A31-0840-91D6-94936AC408B5}" destId="{44D001E6-17F5-624F-BE3E-71B1239DE885}" srcOrd="1" destOrd="0" presId="urn:microsoft.com/office/officeart/2005/8/layout/orgChart1"/>
    <dgm:cxn modelId="{9556936E-3AF8-4C42-8736-29991CA2EBBD}" type="presParOf" srcId="{40099C2B-AAF8-CD40-9E46-B03E17463B10}" destId="{2277BE13-79CA-5D4B-A4E0-1B41481E26DC}" srcOrd="1" destOrd="0" presId="urn:microsoft.com/office/officeart/2005/8/layout/orgChart1"/>
    <dgm:cxn modelId="{BEC767E2-9D03-4644-B000-918A70D8981E}" type="presParOf" srcId="{40099C2B-AAF8-CD40-9E46-B03E17463B10}" destId="{D0FEC2F7-05E9-394A-979F-C442CFAF706E}" srcOrd="2" destOrd="0" presId="urn:microsoft.com/office/officeart/2005/8/layout/orgChart1"/>
    <dgm:cxn modelId="{0B0AA136-09D7-DE47-B2C0-B2F6DCF8BFD9}" type="presParOf" srcId="{8804C1EB-10D0-9242-881F-33EDA946477F}" destId="{2B0B9EE6-5CC2-C44D-827D-EF774B521869}" srcOrd="2" destOrd="0" presId="urn:microsoft.com/office/officeart/2005/8/layout/orgChart1"/>
    <dgm:cxn modelId="{9ECF6AFB-0710-E141-AAF5-42FA4344F6BE}" type="presParOf" srcId="{C3349BB0-A43A-DA46-B895-3412709F5CA1}" destId="{21E89DBE-E455-534D-A987-EE40680CF5F2}" srcOrd="2" destOrd="0" presId="urn:microsoft.com/office/officeart/2005/8/layout/orgChart1"/>
    <dgm:cxn modelId="{8F5D56C5-2935-3349-806F-5FCA7B914D2C}" type="presParOf" srcId="{31BA032C-25A3-4441-807D-7331ADC05601}" destId="{E8EF0C2A-424E-5B46-8B71-1CA8B065F707}" srcOrd="1" destOrd="0" presId="urn:microsoft.com/office/officeart/2005/8/layout/orgChart1"/>
    <dgm:cxn modelId="{6008FADE-AAE3-F245-A07A-DD9C1818A18D}" type="presParOf" srcId="{E8EF0C2A-424E-5B46-8B71-1CA8B065F707}" destId="{E731400E-7C4F-0644-925B-8829D5526486}" srcOrd="0" destOrd="0" presId="urn:microsoft.com/office/officeart/2005/8/layout/orgChart1"/>
    <dgm:cxn modelId="{47A08E14-6779-234D-98F2-6ED77169C986}" type="presParOf" srcId="{E731400E-7C4F-0644-925B-8829D5526486}" destId="{E4E0EDCB-8626-7C4D-8B31-35A4329FABC5}" srcOrd="0" destOrd="0" presId="urn:microsoft.com/office/officeart/2005/8/layout/orgChart1"/>
    <dgm:cxn modelId="{BE6DC9CC-3B34-3A4B-BD76-5A3E2572553F}" type="presParOf" srcId="{E731400E-7C4F-0644-925B-8829D5526486}" destId="{D0F2E828-CA56-8141-864F-6AE8D2A5971E}" srcOrd="1" destOrd="0" presId="urn:microsoft.com/office/officeart/2005/8/layout/orgChart1"/>
    <dgm:cxn modelId="{4D3E6791-A679-D143-8DA8-4682AF7043E1}" type="presParOf" srcId="{E8EF0C2A-424E-5B46-8B71-1CA8B065F707}" destId="{416D4B4D-F918-A142-8FEE-4694807CE548}" srcOrd="1" destOrd="0" presId="urn:microsoft.com/office/officeart/2005/8/layout/orgChart1"/>
    <dgm:cxn modelId="{875A6D31-E5DF-D245-9055-9EB44FBBB30C}" type="presParOf" srcId="{E8EF0C2A-424E-5B46-8B71-1CA8B065F707}" destId="{E5D41E26-8BC0-194E-B6DA-36989E4C19F0}"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1C94682-5506-4E7C-BFAC-9465DAA64E1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D094E733-A4E6-472F-9A76-2A2A9BDD0BC7}">
      <dgm:prSet/>
      <dgm:spPr/>
      <dgm:t>
        <a:bodyPr/>
        <a:lstStyle/>
        <a:p>
          <a:r>
            <a:rPr lang="en-GB" b="1"/>
            <a:t>Developed an Explainable mIoT Anomaly Detection Framework</a:t>
          </a:r>
          <a:endParaRPr lang="en-US"/>
        </a:p>
      </dgm:t>
    </dgm:pt>
    <dgm:pt modelId="{338434E3-49D4-41A3-B74F-6334846FB129}" type="parTrans" cxnId="{C5D5BF37-0C70-4DDF-B47B-9F67AE5E4C48}">
      <dgm:prSet/>
      <dgm:spPr/>
      <dgm:t>
        <a:bodyPr/>
        <a:lstStyle/>
        <a:p>
          <a:endParaRPr lang="en-US"/>
        </a:p>
      </dgm:t>
    </dgm:pt>
    <dgm:pt modelId="{96922469-B66F-4D2A-BD4E-772DA30E6B33}" type="sibTrans" cxnId="{C5D5BF37-0C70-4DDF-B47B-9F67AE5E4C48}">
      <dgm:prSet/>
      <dgm:spPr/>
      <dgm:t>
        <a:bodyPr/>
        <a:lstStyle/>
        <a:p>
          <a:endParaRPr lang="en-US"/>
        </a:p>
      </dgm:t>
    </dgm:pt>
    <dgm:pt modelId="{9D68C1ED-3805-4A38-BCD5-3FD2E6241C34}">
      <dgm:prSet/>
      <dgm:spPr/>
      <dgm:t>
        <a:bodyPr/>
        <a:lstStyle/>
        <a:p>
          <a:r>
            <a:rPr lang="en-GB" dirty="0"/>
            <a:t>Autoencoder-based anomaly detection</a:t>
          </a:r>
          <a:endParaRPr lang="en-US" dirty="0"/>
        </a:p>
      </dgm:t>
    </dgm:pt>
    <dgm:pt modelId="{66135A6B-4F73-45BD-A6D0-EFF09D73F557}" type="parTrans" cxnId="{7AB3C581-90AA-455F-A5C8-B282C815E0D2}">
      <dgm:prSet/>
      <dgm:spPr/>
      <dgm:t>
        <a:bodyPr/>
        <a:lstStyle/>
        <a:p>
          <a:endParaRPr lang="en-US"/>
        </a:p>
      </dgm:t>
    </dgm:pt>
    <dgm:pt modelId="{01AD3E3F-34AE-4AF3-BA61-241DF7008FC5}" type="sibTrans" cxnId="{7AB3C581-90AA-455F-A5C8-B282C815E0D2}">
      <dgm:prSet/>
      <dgm:spPr/>
      <dgm:t>
        <a:bodyPr/>
        <a:lstStyle/>
        <a:p>
          <a:endParaRPr lang="en-US"/>
        </a:p>
      </dgm:t>
    </dgm:pt>
    <dgm:pt modelId="{AC22DED7-18B8-4ECC-992E-7EDF8932467C}">
      <dgm:prSet/>
      <dgm:spPr/>
      <dgm:t>
        <a:bodyPr/>
        <a:lstStyle/>
        <a:p>
          <a:r>
            <a:rPr lang="en-GB"/>
            <a:t>SHAP/LIME explainability techniques</a:t>
          </a:r>
          <a:endParaRPr lang="en-US"/>
        </a:p>
      </dgm:t>
    </dgm:pt>
    <dgm:pt modelId="{5C9807B7-DDE8-4A94-8667-E5280CCC543E}" type="parTrans" cxnId="{80D97BE5-C643-4583-9DC4-23EC4B60DB2F}">
      <dgm:prSet/>
      <dgm:spPr/>
      <dgm:t>
        <a:bodyPr/>
        <a:lstStyle/>
        <a:p>
          <a:endParaRPr lang="en-US"/>
        </a:p>
      </dgm:t>
    </dgm:pt>
    <dgm:pt modelId="{16101FA0-C9A1-46DF-8E56-F8847C161C0B}" type="sibTrans" cxnId="{80D97BE5-C643-4583-9DC4-23EC4B60DB2F}">
      <dgm:prSet/>
      <dgm:spPr/>
      <dgm:t>
        <a:bodyPr/>
        <a:lstStyle/>
        <a:p>
          <a:endParaRPr lang="en-US"/>
        </a:p>
      </dgm:t>
    </dgm:pt>
    <dgm:pt modelId="{67F92E22-959B-45DC-8C62-27940A49A788}">
      <dgm:prSet/>
      <dgm:spPr/>
      <dgm:t>
        <a:bodyPr/>
        <a:lstStyle/>
        <a:p>
          <a:r>
            <a:rPr lang="en-GB"/>
            <a:t>Clinical decision-support logic</a:t>
          </a:r>
          <a:endParaRPr lang="en-US"/>
        </a:p>
      </dgm:t>
    </dgm:pt>
    <dgm:pt modelId="{259FA7C7-EC6D-48AB-B81F-4AA670BCB4F1}" type="parTrans" cxnId="{AD20D8A0-2D1B-4EC5-B7B4-36C3471DB089}">
      <dgm:prSet/>
      <dgm:spPr/>
      <dgm:t>
        <a:bodyPr/>
        <a:lstStyle/>
        <a:p>
          <a:endParaRPr lang="en-US"/>
        </a:p>
      </dgm:t>
    </dgm:pt>
    <dgm:pt modelId="{78B12356-B471-4B6D-AA44-1CEB6D4BDE6B}" type="sibTrans" cxnId="{AD20D8A0-2D1B-4EC5-B7B4-36C3471DB089}">
      <dgm:prSet/>
      <dgm:spPr/>
      <dgm:t>
        <a:bodyPr/>
        <a:lstStyle/>
        <a:p>
          <a:endParaRPr lang="en-US"/>
        </a:p>
      </dgm:t>
    </dgm:pt>
    <dgm:pt modelId="{F024889B-152D-46C5-8624-832957B39A3D}">
      <dgm:prSet/>
      <dgm:spPr/>
      <dgm:t>
        <a:bodyPr/>
        <a:lstStyle/>
        <a:p>
          <a:r>
            <a:rPr lang="en-GB" b="1" dirty="0"/>
            <a:t>Addressed the Interpretability Gap</a:t>
          </a:r>
          <a:endParaRPr lang="en-US" dirty="0"/>
        </a:p>
      </dgm:t>
    </dgm:pt>
    <dgm:pt modelId="{61C5EDD5-3699-4573-AC70-782253A386A7}" type="parTrans" cxnId="{DBDDEBF6-8936-4EC9-B1A8-DA9FEA9B275B}">
      <dgm:prSet/>
      <dgm:spPr/>
      <dgm:t>
        <a:bodyPr/>
        <a:lstStyle/>
        <a:p>
          <a:endParaRPr lang="en-US"/>
        </a:p>
      </dgm:t>
    </dgm:pt>
    <dgm:pt modelId="{E2CAB2F6-38E0-41D9-AE2C-F6152A168191}" type="sibTrans" cxnId="{DBDDEBF6-8936-4EC9-B1A8-DA9FEA9B275B}">
      <dgm:prSet/>
      <dgm:spPr/>
      <dgm:t>
        <a:bodyPr/>
        <a:lstStyle/>
        <a:p>
          <a:endParaRPr lang="en-US"/>
        </a:p>
      </dgm:t>
    </dgm:pt>
    <dgm:pt modelId="{DD5F4FB0-716A-4D2B-8C78-9F54858497E4}">
      <dgm:prSet/>
      <dgm:spPr/>
      <dgm:t>
        <a:bodyPr/>
        <a:lstStyle/>
        <a:p>
          <a:r>
            <a:rPr lang="en-GB" dirty="0"/>
            <a:t>Moved beyond “black-box” predictions</a:t>
          </a:r>
          <a:endParaRPr lang="en-US" dirty="0"/>
        </a:p>
      </dgm:t>
    </dgm:pt>
    <dgm:pt modelId="{291B0925-1781-4CAC-A1AA-46B148C96CB0}" type="parTrans" cxnId="{B57E0EF9-1354-48FC-83C1-3D941C389F56}">
      <dgm:prSet/>
      <dgm:spPr/>
      <dgm:t>
        <a:bodyPr/>
        <a:lstStyle/>
        <a:p>
          <a:endParaRPr lang="en-US"/>
        </a:p>
      </dgm:t>
    </dgm:pt>
    <dgm:pt modelId="{BC3E7B19-8A01-4D95-ABAB-6C8E4BB90A95}" type="sibTrans" cxnId="{B57E0EF9-1354-48FC-83C1-3D941C389F56}">
      <dgm:prSet/>
      <dgm:spPr/>
      <dgm:t>
        <a:bodyPr/>
        <a:lstStyle/>
        <a:p>
          <a:endParaRPr lang="en-US"/>
        </a:p>
      </dgm:t>
    </dgm:pt>
    <dgm:pt modelId="{BEA1C6B2-083D-4287-825E-D867BBCD4B9A}">
      <dgm:prSet/>
      <dgm:spPr/>
      <dgm:t>
        <a:bodyPr/>
        <a:lstStyle/>
        <a:p>
          <a:r>
            <a:rPr lang="en-GB" dirty="0"/>
            <a:t>Enabled clinicians to understand:</a:t>
          </a:r>
          <a:endParaRPr lang="en-US" dirty="0"/>
        </a:p>
      </dgm:t>
    </dgm:pt>
    <dgm:pt modelId="{C1AF0926-9858-4D06-BDE3-4856CBEB36D1}" type="parTrans" cxnId="{90CCCD66-2E4F-4AFE-962E-483BBE72218E}">
      <dgm:prSet/>
      <dgm:spPr/>
      <dgm:t>
        <a:bodyPr/>
        <a:lstStyle/>
        <a:p>
          <a:endParaRPr lang="en-US"/>
        </a:p>
      </dgm:t>
    </dgm:pt>
    <dgm:pt modelId="{870AF274-4E1C-45C6-8A19-5762E01FE570}" type="sibTrans" cxnId="{90CCCD66-2E4F-4AFE-962E-483BBE72218E}">
      <dgm:prSet/>
      <dgm:spPr/>
      <dgm:t>
        <a:bodyPr/>
        <a:lstStyle/>
        <a:p>
          <a:endParaRPr lang="en-US"/>
        </a:p>
      </dgm:t>
    </dgm:pt>
    <dgm:pt modelId="{7D0B21CA-9B58-4BBE-8F47-9C1243C83807}">
      <dgm:prSet/>
      <dgm:spPr/>
      <dgm:t>
        <a:bodyPr/>
        <a:lstStyle/>
        <a:p>
          <a:r>
            <a:rPr lang="en-GB" i="1" dirty="0"/>
            <a:t>why</a:t>
          </a:r>
          <a:r>
            <a:rPr lang="en-GB" dirty="0"/>
            <a:t> anomalies occur</a:t>
          </a:r>
          <a:endParaRPr lang="en-US" dirty="0"/>
        </a:p>
      </dgm:t>
    </dgm:pt>
    <dgm:pt modelId="{1C7DF1FC-C6DB-4095-9785-44C6BEC61612}" type="parTrans" cxnId="{54076166-763D-4E2C-8749-2D5C25766A18}">
      <dgm:prSet/>
      <dgm:spPr/>
      <dgm:t>
        <a:bodyPr/>
        <a:lstStyle/>
        <a:p>
          <a:endParaRPr lang="en-US"/>
        </a:p>
      </dgm:t>
    </dgm:pt>
    <dgm:pt modelId="{E8246291-5A33-453B-8FAD-0F2E7C6B9ABA}" type="sibTrans" cxnId="{54076166-763D-4E2C-8749-2D5C25766A18}">
      <dgm:prSet/>
      <dgm:spPr/>
      <dgm:t>
        <a:bodyPr/>
        <a:lstStyle/>
        <a:p>
          <a:endParaRPr lang="en-US"/>
        </a:p>
      </dgm:t>
    </dgm:pt>
    <dgm:pt modelId="{E9ED9746-AC22-4829-925A-73AB930401D8}">
      <dgm:prSet/>
      <dgm:spPr/>
      <dgm:t>
        <a:bodyPr/>
        <a:lstStyle/>
        <a:p>
          <a:r>
            <a:rPr lang="en-GB"/>
            <a:t>whether alerts represent:</a:t>
          </a:r>
          <a:endParaRPr lang="en-US"/>
        </a:p>
      </dgm:t>
    </dgm:pt>
    <dgm:pt modelId="{6FB6CFF5-D71E-48EA-9CCA-48E7BB077008}" type="parTrans" cxnId="{FB0052AB-0B9C-4158-9DD0-E70E8333130C}">
      <dgm:prSet/>
      <dgm:spPr/>
      <dgm:t>
        <a:bodyPr/>
        <a:lstStyle/>
        <a:p>
          <a:endParaRPr lang="en-US"/>
        </a:p>
      </dgm:t>
    </dgm:pt>
    <dgm:pt modelId="{47087A5A-D7E0-4FCE-91E8-D7485AF0AD98}" type="sibTrans" cxnId="{FB0052AB-0B9C-4158-9DD0-E70E8333130C}">
      <dgm:prSet/>
      <dgm:spPr/>
      <dgm:t>
        <a:bodyPr/>
        <a:lstStyle/>
        <a:p>
          <a:endParaRPr lang="en-US"/>
        </a:p>
      </dgm:t>
    </dgm:pt>
    <dgm:pt modelId="{8036DA68-234A-43D3-9957-91DD0BD7CEE4}">
      <dgm:prSet/>
      <dgm:spPr/>
      <dgm:t>
        <a:bodyPr/>
        <a:lstStyle/>
        <a:p>
          <a:r>
            <a:rPr lang="en-GB"/>
            <a:t>physiological emergencies</a:t>
          </a:r>
          <a:endParaRPr lang="en-US"/>
        </a:p>
      </dgm:t>
    </dgm:pt>
    <dgm:pt modelId="{ED44D053-93C0-4143-B694-B5793A8E69E0}" type="parTrans" cxnId="{55421A17-930D-4CFB-9AD8-62BD1D068A6E}">
      <dgm:prSet/>
      <dgm:spPr/>
      <dgm:t>
        <a:bodyPr/>
        <a:lstStyle/>
        <a:p>
          <a:endParaRPr lang="en-US"/>
        </a:p>
      </dgm:t>
    </dgm:pt>
    <dgm:pt modelId="{D43B084D-8C01-44C6-80E4-1F40311270D9}" type="sibTrans" cxnId="{55421A17-930D-4CFB-9AD8-62BD1D068A6E}">
      <dgm:prSet/>
      <dgm:spPr/>
      <dgm:t>
        <a:bodyPr/>
        <a:lstStyle/>
        <a:p>
          <a:endParaRPr lang="en-US"/>
        </a:p>
      </dgm:t>
    </dgm:pt>
    <dgm:pt modelId="{53FCFDAD-75CC-43CB-822E-4ED73D185B9D}">
      <dgm:prSet/>
      <dgm:spPr/>
      <dgm:t>
        <a:bodyPr/>
        <a:lstStyle/>
        <a:p>
          <a:r>
            <a:rPr lang="en-GB"/>
            <a:t>sensor/device faults</a:t>
          </a:r>
          <a:endParaRPr lang="en-US"/>
        </a:p>
      </dgm:t>
    </dgm:pt>
    <dgm:pt modelId="{7459533E-782C-49DC-A6BA-51DF3EEF5479}" type="parTrans" cxnId="{D0BE1E76-3554-4581-90D3-4423FB2BFC93}">
      <dgm:prSet/>
      <dgm:spPr/>
      <dgm:t>
        <a:bodyPr/>
        <a:lstStyle/>
        <a:p>
          <a:endParaRPr lang="en-US"/>
        </a:p>
      </dgm:t>
    </dgm:pt>
    <dgm:pt modelId="{04CA062C-7F3B-487C-9718-D62BDA095D8E}" type="sibTrans" cxnId="{D0BE1E76-3554-4581-90D3-4423FB2BFC93}">
      <dgm:prSet/>
      <dgm:spPr/>
      <dgm:t>
        <a:bodyPr/>
        <a:lstStyle/>
        <a:p>
          <a:endParaRPr lang="en-US"/>
        </a:p>
      </dgm:t>
    </dgm:pt>
    <dgm:pt modelId="{B94C93FA-C69A-4468-A857-E5844864942E}">
      <dgm:prSet/>
      <dgm:spPr/>
      <dgm:t>
        <a:bodyPr/>
        <a:lstStyle/>
        <a:p>
          <a:r>
            <a:rPr lang="en-GB" b="1" dirty="0"/>
            <a:t>Improved Clinical Reliability</a:t>
          </a:r>
          <a:endParaRPr lang="en-US" dirty="0"/>
        </a:p>
      </dgm:t>
    </dgm:pt>
    <dgm:pt modelId="{8520226C-24A3-4749-8910-0759B98FA5DB}" type="parTrans" cxnId="{5B66101A-13FE-4F9E-8498-27ED27BD124F}">
      <dgm:prSet/>
      <dgm:spPr/>
      <dgm:t>
        <a:bodyPr/>
        <a:lstStyle/>
        <a:p>
          <a:endParaRPr lang="en-US"/>
        </a:p>
      </dgm:t>
    </dgm:pt>
    <dgm:pt modelId="{FB61C794-FD8F-48DE-8ADB-CEE3C994ABFD}" type="sibTrans" cxnId="{5B66101A-13FE-4F9E-8498-27ED27BD124F}">
      <dgm:prSet/>
      <dgm:spPr/>
      <dgm:t>
        <a:bodyPr/>
        <a:lstStyle/>
        <a:p>
          <a:endParaRPr lang="en-US"/>
        </a:p>
      </dgm:t>
    </dgm:pt>
    <dgm:pt modelId="{D75A123F-8247-4A4B-AE44-BE9257176B23}">
      <dgm:prSet/>
      <dgm:spPr/>
      <dgm:t>
        <a:bodyPr/>
        <a:lstStyle/>
        <a:p>
          <a:r>
            <a:rPr lang="en-GB" dirty="0"/>
            <a:t>Reduced alarm fatigue</a:t>
          </a:r>
          <a:endParaRPr lang="en-US" dirty="0"/>
        </a:p>
      </dgm:t>
    </dgm:pt>
    <dgm:pt modelId="{8EE362BD-F8D7-44A4-95C3-DA181AF07FF4}" type="parTrans" cxnId="{0E115CDE-002D-4338-A2F6-AE96EECB6F81}">
      <dgm:prSet/>
      <dgm:spPr/>
      <dgm:t>
        <a:bodyPr/>
        <a:lstStyle/>
        <a:p>
          <a:endParaRPr lang="en-US"/>
        </a:p>
      </dgm:t>
    </dgm:pt>
    <dgm:pt modelId="{10136E22-3EF1-4ECE-8FDF-A80147BC7197}" type="sibTrans" cxnId="{0E115CDE-002D-4338-A2F6-AE96EECB6F81}">
      <dgm:prSet/>
      <dgm:spPr/>
      <dgm:t>
        <a:bodyPr/>
        <a:lstStyle/>
        <a:p>
          <a:endParaRPr lang="en-US"/>
        </a:p>
      </dgm:t>
    </dgm:pt>
    <dgm:pt modelId="{1C32AD48-EE3B-419E-893E-F273F4C8EE27}">
      <dgm:prSet/>
      <dgm:spPr/>
      <dgm:t>
        <a:bodyPr/>
        <a:lstStyle/>
        <a:p>
          <a:r>
            <a:rPr lang="en-GB" dirty="0"/>
            <a:t>Prioritised high recall for patient safety</a:t>
          </a:r>
          <a:endParaRPr lang="en-US" dirty="0"/>
        </a:p>
      </dgm:t>
    </dgm:pt>
    <dgm:pt modelId="{62AC43C3-DF5B-46D1-A417-383B9A8B8E43}" type="parTrans" cxnId="{7A198759-83FE-432E-80F5-DD8D6848DC5A}">
      <dgm:prSet/>
      <dgm:spPr/>
      <dgm:t>
        <a:bodyPr/>
        <a:lstStyle/>
        <a:p>
          <a:endParaRPr lang="en-US"/>
        </a:p>
      </dgm:t>
    </dgm:pt>
    <dgm:pt modelId="{3E671351-8F18-4FCA-A91E-11BE87DB355C}" type="sibTrans" cxnId="{7A198759-83FE-432E-80F5-DD8D6848DC5A}">
      <dgm:prSet/>
      <dgm:spPr/>
      <dgm:t>
        <a:bodyPr/>
        <a:lstStyle/>
        <a:p>
          <a:endParaRPr lang="en-US"/>
        </a:p>
      </dgm:t>
    </dgm:pt>
    <dgm:pt modelId="{59FE1E7B-6EC6-4BA3-BA7D-82EF22EE16A6}">
      <dgm:prSet/>
      <dgm:spPr/>
      <dgm:t>
        <a:bodyPr/>
        <a:lstStyle/>
        <a:p>
          <a:r>
            <a:rPr lang="en-GB" dirty="0"/>
            <a:t>Enhanced transparency and clinician trust</a:t>
          </a:r>
          <a:endParaRPr lang="en-US" dirty="0"/>
        </a:p>
      </dgm:t>
    </dgm:pt>
    <dgm:pt modelId="{C911B3E8-3802-4A55-950F-8059BB78EC2A}" type="parTrans" cxnId="{6576CA19-5E1F-4E68-AD30-FDF0A997A0A3}">
      <dgm:prSet/>
      <dgm:spPr/>
      <dgm:t>
        <a:bodyPr/>
        <a:lstStyle/>
        <a:p>
          <a:endParaRPr lang="en-US"/>
        </a:p>
      </dgm:t>
    </dgm:pt>
    <dgm:pt modelId="{1EF7ED9D-2A47-4A1C-AD0E-FDF3719A2F0B}" type="sibTrans" cxnId="{6576CA19-5E1F-4E68-AD30-FDF0A997A0A3}">
      <dgm:prSet/>
      <dgm:spPr/>
      <dgm:t>
        <a:bodyPr/>
        <a:lstStyle/>
        <a:p>
          <a:endParaRPr lang="en-US"/>
        </a:p>
      </dgm:t>
    </dgm:pt>
    <dgm:pt modelId="{F77AB16A-A6EC-5745-83A2-F4B14B983902}">
      <dgm:prSet/>
      <dgm:spPr/>
      <dgm:t>
        <a:bodyPr/>
        <a:lstStyle/>
        <a:p>
          <a:r>
            <a:rPr lang="en-GB" b="1" dirty="0"/>
            <a:t>Demonstrated Practical Healthcare Value</a:t>
          </a:r>
          <a:endParaRPr lang="en-GB" dirty="0"/>
        </a:p>
      </dgm:t>
    </dgm:pt>
    <dgm:pt modelId="{A7B74A39-D339-8947-84DF-E40BB6FB064C}" type="parTrans" cxnId="{B4FEAAAA-CB8B-9C42-9F3B-4F5EBA79164A}">
      <dgm:prSet/>
      <dgm:spPr/>
      <dgm:t>
        <a:bodyPr/>
        <a:lstStyle/>
        <a:p>
          <a:endParaRPr lang="en-GB"/>
        </a:p>
      </dgm:t>
    </dgm:pt>
    <dgm:pt modelId="{3D77CBFF-6863-194A-96E3-C39F941F178E}" type="sibTrans" cxnId="{B4FEAAAA-CB8B-9C42-9F3B-4F5EBA79164A}">
      <dgm:prSet/>
      <dgm:spPr/>
      <dgm:t>
        <a:bodyPr/>
        <a:lstStyle/>
        <a:p>
          <a:endParaRPr lang="en-GB"/>
        </a:p>
      </dgm:t>
    </dgm:pt>
    <dgm:pt modelId="{D9C3B63A-A9C2-C64D-8FFB-5844D664D5B4}">
      <dgm:prSet/>
      <dgm:spPr/>
      <dgm:t>
        <a:bodyPr/>
        <a:lstStyle/>
        <a:p>
          <a:pPr>
            <a:buFont typeface="Arial" panose="020B0604020202020204" pitchFamily="34" charset="0"/>
            <a:buChar char="•"/>
          </a:pPr>
          <a:r>
            <a:rPr lang="en-GB" dirty="0"/>
            <a:t>Converted raw anomaly scores into actionable medical insights</a:t>
          </a:r>
        </a:p>
      </dgm:t>
    </dgm:pt>
    <dgm:pt modelId="{1AD9D9DE-DB4D-A04E-9CCA-EC2E63EE3FAD}" type="parTrans" cxnId="{5848A0DF-274C-D348-84D4-D91FB08E561D}">
      <dgm:prSet/>
      <dgm:spPr/>
      <dgm:t>
        <a:bodyPr/>
        <a:lstStyle/>
        <a:p>
          <a:endParaRPr lang="en-GB"/>
        </a:p>
      </dgm:t>
    </dgm:pt>
    <dgm:pt modelId="{8ED8AF07-7E02-5640-B75C-C4BAF093DD7F}" type="sibTrans" cxnId="{5848A0DF-274C-D348-84D4-D91FB08E561D}">
      <dgm:prSet/>
      <dgm:spPr/>
      <dgm:t>
        <a:bodyPr/>
        <a:lstStyle/>
        <a:p>
          <a:endParaRPr lang="en-GB"/>
        </a:p>
      </dgm:t>
    </dgm:pt>
    <dgm:pt modelId="{C73C3FF8-36BA-0F47-A12E-7DCE59DC599B}">
      <dgm:prSet/>
      <dgm:spPr/>
      <dgm:t>
        <a:bodyPr/>
        <a:lstStyle/>
        <a:p>
          <a:pPr>
            <a:buFont typeface="Arial" panose="020B0604020202020204" pitchFamily="34" charset="0"/>
            <a:buChar char="•"/>
          </a:pPr>
          <a:r>
            <a:rPr lang="en-GB"/>
            <a:t>Supported proactive and context-aware monitoring in mIoT environments</a:t>
          </a:r>
          <a:endParaRPr lang="en-GB" dirty="0"/>
        </a:p>
      </dgm:t>
    </dgm:pt>
    <dgm:pt modelId="{80C0239C-0E3A-4E4D-84BC-8758641AEE1B}" type="parTrans" cxnId="{D783AE46-93F0-174E-A894-53F090BE3678}">
      <dgm:prSet/>
      <dgm:spPr/>
      <dgm:t>
        <a:bodyPr/>
        <a:lstStyle/>
        <a:p>
          <a:endParaRPr lang="en-GB"/>
        </a:p>
      </dgm:t>
    </dgm:pt>
    <dgm:pt modelId="{2AA49018-49FD-A34D-AB61-4E94AB569837}" type="sibTrans" cxnId="{D783AE46-93F0-174E-A894-53F090BE3678}">
      <dgm:prSet/>
      <dgm:spPr/>
      <dgm:t>
        <a:bodyPr/>
        <a:lstStyle/>
        <a:p>
          <a:endParaRPr lang="en-GB"/>
        </a:p>
      </dgm:t>
    </dgm:pt>
    <dgm:pt modelId="{56752979-53DD-2E4E-8D2A-D43AF4CF8B59}" type="pres">
      <dgm:prSet presAssocID="{51C94682-5506-4E7C-BFAC-9465DAA64E1D}" presName="Name0" presStyleCnt="0">
        <dgm:presLayoutVars>
          <dgm:dir/>
          <dgm:animLvl val="lvl"/>
          <dgm:resizeHandles val="exact"/>
        </dgm:presLayoutVars>
      </dgm:prSet>
      <dgm:spPr/>
    </dgm:pt>
    <dgm:pt modelId="{EA522C22-9CE1-8049-8699-15F75AFE0347}" type="pres">
      <dgm:prSet presAssocID="{D094E733-A4E6-472F-9A76-2A2A9BDD0BC7}" presName="composite" presStyleCnt="0"/>
      <dgm:spPr/>
    </dgm:pt>
    <dgm:pt modelId="{A2806CE1-D7F4-A440-8922-8E0F2E786FF6}" type="pres">
      <dgm:prSet presAssocID="{D094E733-A4E6-472F-9A76-2A2A9BDD0BC7}" presName="parTx" presStyleLbl="alignNode1" presStyleIdx="0" presStyleCnt="4">
        <dgm:presLayoutVars>
          <dgm:chMax val="0"/>
          <dgm:chPref val="0"/>
          <dgm:bulletEnabled val="1"/>
        </dgm:presLayoutVars>
      </dgm:prSet>
      <dgm:spPr/>
    </dgm:pt>
    <dgm:pt modelId="{DF8C6144-B6A8-FD44-9285-C48F2BCE9E9B}" type="pres">
      <dgm:prSet presAssocID="{D094E733-A4E6-472F-9A76-2A2A9BDD0BC7}" presName="desTx" presStyleLbl="alignAccFollowNode1" presStyleIdx="0" presStyleCnt="4">
        <dgm:presLayoutVars>
          <dgm:bulletEnabled val="1"/>
        </dgm:presLayoutVars>
      </dgm:prSet>
      <dgm:spPr/>
    </dgm:pt>
    <dgm:pt modelId="{86FF5E22-C21E-344E-BD0B-2689E552726C}" type="pres">
      <dgm:prSet presAssocID="{96922469-B66F-4D2A-BD4E-772DA30E6B33}" presName="space" presStyleCnt="0"/>
      <dgm:spPr/>
    </dgm:pt>
    <dgm:pt modelId="{259A430F-2002-ED4C-A23D-BAAAE4222708}" type="pres">
      <dgm:prSet presAssocID="{F024889B-152D-46C5-8624-832957B39A3D}" presName="composite" presStyleCnt="0"/>
      <dgm:spPr/>
    </dgm:pt>
    <dgm:pt modelId="{55E8D4D7-04AC-5C46-A19E-0D1904AD1E11}" type="pres">
      <dgm:prSet presAssocID="{F024889B-152D-46C5-8624-832957B39A3D}" presName="parTx" presStyleLbl="alignNode1" presStyleIdx="1" presStyleCnt="4">
        <dgm:presLayoutVars>
          <dgm:chMax val="0"/>
          <dgm:chPref val="0"/>
          <dgm:bulletEnabled val="1"/>
        </dgm:presLayoutVars>
      </dgm:prSet>
      <dgm:spPr/>
    </dgm:pt>
    <dgm:pt modelId="{ADB3FF6F-52A6-2941-854C-BFA0E2D58A09}" type="pres">
      <dgm:prSet presAssocID="{F024889B-152D-46C5-8624-832957B39A3D}" presName="desTx" presStyleLbl="alignAccFollowNode1" presStyleIdx="1" presStyleCnt="4">
        <dgm:presLayoutVars>
          <dgm:bulletEnabled val="1"/>
        </dgm:presLayoutVars>
      </dgm:prSet>
      <dgm:spPr/>
    </dgm:pt>
    <dgm:pt modelId="{0BFA6433-0091-E14D-9BD3-A6D5B4989349}" type="pres">
      <dgm:prSet presAssocID="{E2CAB2F6-38E0-41D9-AE2C-F6152A168191}" presName="space" presStyleCnt="0"/>
      <dgm:spPr/>
    </dgm:pt>
    <dgm:pt modelId="{E5B59A2F-6F63-0048-8519-15584B081B2A}" type="pres">
      <dgm:prSet presAssocID="{B94C93FA-C69A-4468-A857-E5844864942E}" presName="composite" presStyleCnt="0"/>
      <dgm:spPr/>
    </dgm:pt>
    <dgm:pt modelId="{086640BA-A4CA-9745-B2EE-4A918D5CC47F}" type="pres">
      <dgm:prSet presAssocID="{B94C93FA-C69A-4468-A857-E5844864942E}" presName="parTx" presStyleLbl="alignNode1" presStyleIdx="2" presStyleCnt="4">
        <dgm:presLayoutVars>
          <dgm:chMax val="0"/>
          <dgm:chPref val="0"/>
          <dgm:bulletEnabled val="1"/>
        </dgm:presLayoutVars>
      </dgm:prSet>
      <dgm:spPr/>
    </dgm:pt>
    <dgm:pt modelId="{674BBC2D-4D9A-D94A-B65B-2065A848BAA8}" type="pres">
      <dgm:prSet presAssocID="{B94C93FA-C69A-4468-A857-E5844864942E}" presName="desTx" presStyleLbl="alignAccFollowNode1" presStyleIdx="2" presStyleCnt="4">
        <dgm:presLayoutVars>
          <dgm:bulletEnabled val="1"/>
        </dgm:presLayoutVars>
      </dgm:prSet>
      <dgm:spPr/>
    </dgm:pt>
    <dgm:pt modelId="{3B2AAE66-4243-8742-B96C-65E122FF125A}" type="pres">
      <dgm:prSet presAssocID="{FB61C794-FD8F-48DE-8ADB-CEE3C994ABFD}" presName="space" presStyleCnt="0"/>
      <dgm:spPr/>
    </dgm:pt>
    <dgm:pt modelId="{F76E7CD8-F759-5349-8099-11FDF7072524}" type="pres">
      <dgm:prSet presAssocID="{F77AB16A-A6EC-5745-83A2-F4B14B983902}" presName="composite" presStyleCnt="0"/>
      <dgm:spPr/>
    </dgm:pt>
    <dgm:pt modelId="{9BA4EDD4-609C-A44D-A9DB-748071A17C49}" type="pres">
      <dgm:prSet presAssocID="{F77AB16A-A6EC-5745-83A2-F4B14B983902}" presName="parTx" presStyleLbl="alignNode1" presStyleIdx="3" presStyleCnt="4">
        <dgm:presLayoutVars>
          <dgm:chMax val="0"/>
          <dgm:chPref val="0"/>
          <dgm:bulletEnabled val="1"/>
        </dgm:presLayoutVars>
      </dgm:prSet>
      <dgm:spPr/>
    </dgm:pt>
    <dgm:pt modelId="{B5B7F9E5-0184-4D41-8742-A7657CBF1B89}" type="pres">
      <dgm:prSet presAssocID="{F77AB16A-A6EC-5745-83A2-F4B14B983902}" presName="desTx" presStyleLbl="alignAccFollowNode1" presStyleIdx="3" presStyleCnt="4">
        <dgm:presLayoutVars>
          <dgm:bulletEnabled val="1"/>
        </dgm:presLayoutVars>
      </dgm:prSet>
      <dgm:spPr/>
    </dgm:pt>
  </dgm:ptLst>
  <dgm:cxnLst>
    <dgm:cxn modelId="{84593F03-97BF-3743-AF83-D0B51C3F7159}" type="presOf" srcId="{8036DA68-234A-43D3-9957-91DD0BD7CEE4}" destId="{ADB3FF6F-52A6-2941-854C-BFA0E2D58A09}" srcOrd="0" destOrd="4" presId="urn:microsoft.com/office/officeart/2005/8/layout/hList1"/>
    <dgm:cxn modelId="{CD1AEA09-4A85-3947-980E-39778883D7A9}" type="presOf" srcId="{C73C3FF8-36BA-0F47-A12E-7DCE59DC599B}" destId="{B5B7F9E5-0184-4D41-8742-A7657CBF1B89}" srcOrd="0" destOrd="1" presId="urn:microsoft.com/office/officeart/2005/8/layout/hList1"/>
    <dgm:cxn modelId="{55421A17-930D-4CFB-9AD8-62BD1D068A6E}" srcId="{E9ED9746-AC22-4829-925A-73AB930401D8}" destId="{8036DA68-234A-43D3-9957-91DD0BD7CEE4}" srcOrd="0" destOrd="0" parTransId="{ED44D053-93C0-4143-B694-B5793A8E69E0}" sibTransId="{D43B084D-8C01-44C6-80E4-1F40311270D9}"/>
    <dgm:cxn modelId="{6576CA19-5E1F-4E68-AD30-FDF0A997A0A3}" srcId="{B94C93FA-C69A-4468-A857-E5844864942E}" destId="{59FE1E7B-6EC6-4BA3-BA7D-82EF22EE16A6}" srcOrd="2" destOrd="0" parTransId="{C911B3E8-3802-4A55-950F-8059BB78EC2A}" sibTransId="{1EF7ED9D-2A47-4A1C-AD0E-FDF3719A2F0B}"/>
    <dgm:cxn modelId="{5B66101A-13FE-4F9E-8498-27ED27BD124F}" srcId="{51C94682-5506-4E7C-BFAC-9465DAA64E1D}" destId="{B94C93FA-C69A-4468-A857-E5844864942E}" srcOrd="2" destOrd="0" parTransId="{8520226C-24A3-4749-8910-0759B98FA5DB}" sibTransId="{FB61C794-FD8F-48DE-8ADB-CEE3C994ABFD}"/>
    <dgm:cxn modelId="{C5D5BF37-0C70-4DDF-B47B-9F67AE5E4C48}" srcId="{51C94682-5506-4E7C-BFAC-9465DAA64E1D}" destId="{D094E733-A4E6-472F-9A76-2A2A9BDD0BC7}" srcOrd="0" destOrd="0" parTransId="{338434E3-49D4-41A3-B74F-6334846FB129}" sibTransId="{96922469-B66F-4D2A-BD4E-772DA30E6B33}"/>
    <dgm:cxn modelId="{1D3CDE38-920D-784F-B60F-44F756FD60A3}" type="presOf" srcId="{D094E733-A4E6-472F-9A76-2A2A9BDD0BC7}" destId="{A2806CE1-D7F4-A440-8922-8E0F2E786FF6}" srcOrd="0" destOrd="0" presId="urn:microsoft.com/office/officeart/2005/8/layout/hList1"/>
    <dgm:cxn modelId="{D783AE46-93F0-174E-A894-53F090BE3678}" srcId="{F77AB16A-A6EC-5745-83A2-F4B14B983902}" destId="{C73C3FF8-36BA-0F47-A12E-7DCE59DC599B}" srcOrd="1" destOrd="0" parTransId="{80C0239C-0E3A-4E4D-84BC-8758641AEE1B}" sibTransId="{2AA49018-49FD-A34D-AB61-4E94AB569837}"/>
    <dgm:cxn modelId="{A7B3F64E-CE04-EA4F-8B93-5A1100B6041E}" type="presOf" srcId="{B94C93FA-C69A-4468-A857-E5844864942E}" destId="{086640BA-A4CA-9745-B2EE-4A918D5CC47F}" srcOrd="0" destOrd="0" presId="urn:microsoft.com/office/officeart/2005/8/layout/hList1"/>
    <dgm:cxn modelId="{7E882358-8577-8643-B5B0-774CFE88D73B}" type="presOf" srcId="{67F92E22-959B-45DC-8C62-27940A49A788}" destId="{DF8C6144-B6A8-FD44-9285-C48F2BCE9E9B}" srcOrd="0" destOrd="2" presId="urn:microsoft.com/office/officeart/2005/8/layout/hList1"/>
    <dgm:cxn modelId="{7A198759-83FE-432E-80F5-DD8D6848DC5A}" srcId="{B94C93FA-C69A-4468-A857-E5844864942E}" destId="{1C32AD48-EE3B-419E-893E-F273F4C8EE27}" srcOrd="1" destOrd="0" parTransId="{62AC43C3-DF5B-46D1-A417-383B9A8B8E43}" sibTransId="{3E671351-8F18-4FCA-A91E-11BE87DB355C}"/>
    <dgm:cxn modelId="{54076166-763D-4E2C-8749-2D5C25766A18}" srcId="{F024889B-152D-46C5-8624-832957B39A3D}" destId="{7D0B21CA-9B58-4BBE-8F47-9C1243C83807}" srcOrd="2" destOrd="0" parTransId="{1C7DF1FC-C6DB-4095-9785-44C6BEC61612}" sibTransId="{E8246291-5A33-453B-8FAD-0F2E7C6B9ABA}"/>
    <dgm:cxn modelId="{90CCCD66-2E4F-4AFE-962E-483BBE72218E}" srcId="{F024889B-152D-46C5-8624-832957B39A3D}" destId="{BEA1C6B2-083D-4287-825E-D867BBCD4B9A}" srcOrd="1" destOrd="0" parTransId="{C1AF0926-9858-4D06-BDE3-4856CBEB36D1}" sibTransId="{870AF274-4E1C-45C6-8A19-5762E01FE570}"/>
    <dgm:cxn modelId="{8E3CA674-C495-0846-8BD8-692FA71CDE1C}" type="presOf" srcId="{59FE1E7B-6EC6-4BA3-BA7D-82EF22EE16A6}" destId="{674BBC2D-4D9A-D94A-B65B-2065A848BAA8}" srcOrd="0" destOrd="2" presId="urn:microsoft.com/office/officeart/2005/8/layout/hList1"/>
    <dgm:cxn modelId="{D0BE1E76-3554-4581-90D3-4423FB2BFC93}" srcId="{E9ED9746-AC22-4829-925A-73AB930401D8}" destId="{53FCFDAD-75CC-43CB-822E-4ED73D185B9D}" srcOrd="1" destOrd="0" parTransId="{7459533E-782C-49DC-A6BA-51DF3EEF5479}" sibTransId="{04CA062C-7F3B-487C-9718-D62BDA095D8E}"/>
    <dgm:cxn modelId="{20266B76-C89E-4141-BDEE-305660D9E837}" type="presOf" srcId="{AC22DED7-18B8-4ECC-992E-7EDF8932467C}" destId="{DF8C6144-B6A8-FD44-9285-C48F2BCE9E9B}" srcOrd="0" destOrd="1" presId="urn:microsoft.com/office/officeart/2005/8/layout/hList1"/>
    <dgm:cxn modelId="{B1F6037C-B62C-ED4D-95F0-FE10969EB100}" type="presOf" srcId="{51C94682-5506-4E7C-BFAC-9465DAA64E1D}" destId="{56752979-53DD-2E4E-8D2A-D43AF4CF8B59}" srcOrd="0" destOrd="0" presId="urn:microsoft.com/office/officeart/2005/8/layout/hList1"/>
    <dgm:cxn modelId="{7AB3C581-90AA-455F-A5C8-B282C815E0D2}" srcId="{D094E733-A4E6-472F-9A76-2A2A9BDD0BC7}" destId="{9D68C1ED-3805-4A38-BCD5-3FD2E6241C34}" srcOrd="0" destOrd="0" parTransId="{66135A6B-4F73-45BD-A6D0-EFF09D73F557}" sibTransId="{01AD3E3F-34AE-4AF3-BA61-241DF7008FC5}"/>
    <dgm:cxn modelId="{AD20D8A0-2D1B-4EC5-B7B4-36C3471DB089}" srcId="{D094E733-A4E6-472F-9A76-2A2A9BDD0BC7}" destId="{67F92E22-959B-45DC-8C62-27940A49A788}" srcOrd="2" destOrd="0" parTransId="{259FA7C7-EC6D-48AB-B81F-4AA670BCB4F1}" sibTransId="{78B12356-B471-4B6D-AA44-1CEB6D4BDE6B}"/>
    <dgm:cxn modelId="{42FCBDA3-A38C-B842-B754-5EA6B2123BD6}" type="presOf" srcId="{BEA1C6B2-083D-4287-825E-D867BBCD4B9A}" destId="{ADB3FF6F-52A6-2941-854C-BFA0E2D58A09}" srcOrd="0" destOrd="1" presId="urn:microsoft.com/office/officeart/2005/8/layout/hList1"/>
    <dgm:cxn modelId="{B4FEAAAA-CB8B-9C42-9F3B-4F5EBA79164A}" srcId="{51C94682-5506-4E7C-BFAC-9465DAA64E1D}" destId="{F77AB16A-A6EC-5745-83A2-F4B14B983902}" srcOrd="3" destOrd="0" parTransId="{A7B74A39-D339-8947-84DF-E40BB6FB064C}" sibTransId="{3D77CBFF-6863-194A-96E3-C39F941F178E}"/>
    <dgm:cxn modelId="{FB0052AB-0B9C-4158-9DD0-E70E8333130C}" srcId="{F024889B-152D-46C5-8624-832957B39A3D}" destId="{E9ED9746-AC22-4829-925A-73AB930401D8}" srcOrd="3" destOrd="0" parTransId="{6FB6CFF5-D71E-48EA-9CCA-48E7BB077008}" sibTransId="{47087A5A-D7E0-4FCE-91E8-D7485AF0AD98}"/>
    <dgm:cxn modelId="{1B90C5B6-CC8E-4042-AF97-01F621EEFAB2}" type="presOf" srcId="{E9ED9746-AC22-4829-925A-73AB930401D8}" destId="{ADB3FF6F-52A6-2941-854C-BFA0E2D58A09}" srcOrd="0" destOrd="3" presId="urn:microsoft.com/office/officeart/2005/8/layout/hList1"/>
    <dgm:cxn modelId="{C93819B7-E61A-5F4A-8559-95EE33175B5F}" type="presOf" srcId="{F024889B-152D-46C5-8624-832957B39A3D}" destId="{55E8D4D7-04AC-5C46-A19E-0D1904AD1E11}" srcOrd="0" destOrd="0" presId="urn:microsoft.com/office/officeart/2005/8/layout/hList1"/>
    <dgm:cxn modelId="{1E9C11BC-3E91-F24C-9E89-3DF78A4E2FF3}" type="presOf" srcId="{7D0B21CA-9B58-4BBE-8F47-9C1243C83807}" destId="{ADB3FF6F-52A6-2941-854C-BFA0E2D58A09}" srcOrd="0" destOrd="2" presId="urn:microsoft.com/office/officeart/2005/8/layout/hList1"/>
    <dgm:cxn modelId="{FB8E9ACB-EDC4-B144-92FD-AD3A58B7FF99}" type="presOf" srcId="{53FCFDAD-75CC-43CB-822E-4ED73D185B9D}" destId="{ADB3FF6F-52A6-2941-854C-BFA0E2D58A09}" srcOrd="0" destOrd="5" presId="urn:microsoft.com/office/officeart/2005/8/layout/hList1"/>
    <dgm:cxn modelId="{5676EBD1-E6DF-AC4C-9767-658DBEB2BBFA}" type="presOf" srcId="{D9C3B63A-A9C2-C64D-8FFB-5844D664D5B4}" destId="{B5B7F9E5-0184-4D41-8742-A7657CBF1B89}" srcOrd="0" destOrd="0" presId="urn:microsoft.com/office/officeart/2005/8/layout/hList1"/>
    <dgm:cxn modelId="{3B173ED2-0632-464C-80C7-5A220A19DC15}" type="presOf" srcId="{9D68C1ED-3805-4A38-BCD5-3FD2E6241C34}" destId="{DF8C6144-B6A8-FD44-9285-C48F2BCE9E9B}" srcOrd="0" destOrd="0" presId="urn:microsoft.com/office/officeart/2005/8/layout/hList1"/>
    <dgm:cxn modelId="{DB4445D3-4B46-344F-9861-CD2845174D47}" type="presOf" srcId="{F77AB16A-A6EC-5745-83A2-F4B14B983902}" destId="{9BA4EDD4-609C-A44D-A9DB-748071A17C49}" srcOrd="0" destOrd="0" presId="urn:microsoft.com/office/officeart/2005/8/layout/hList1"/>
    <dgm:cxn modelId="{88E684D9-85F9-5741-A66C-CE45B1DAF46D}" type="presOf" srcId="{D75A123F-8247-4A4B-AE44-BE9257176B23}" destId="{674BBC2D-4D9A-D94A-B65B-2065A848BAA8}" srcOrd="0" destOrd="0" presId="urn:microsoft.com/office/officeart/2005/8/layout/hList1"/>
    <dgm:cxn modelId="{0E115CDE-002D-4338-A2F6-AE96EECB6F81}" srcId="{B94C93FA-C69A-4468-A857-E5844864942E}" destId="{D75A123F-8247-4A4B-AE44-BE9257176B23}" srcOrd="0" destOrd="0" parTransId="{8EE362BD-F8D7-44A4-95C3-DA181AF07FF4}" sibTransId="{10136E22-3EF1-4ECE-8FDF-A80147BC7197}"/>
    <dgm:cxn modelId="{5848A0DF-274C-D348-84D4-D91FB08E561D}" srcId="{F77AB16A-A6EC-5745-83A2-F4B14B983902}" destId="{D9C3B63A-A9C2-C64D-8FFB-5844D664D5B4}" srcOrd="0" destOrd="0" parTransId="{1AD9D9DE-DB4D-A04E-9CCA-EC2E63EE3FAD}" sibTransId="{8ED8AF07-7E02-5640-B75C-C4BAF093DD7F}"/>
    <dgm:cxn modelId="{5BF165E0-2D77-1840-B2B2-72101C8D5293}" type="presOf" srcId="{DD5F4FB0-716A-4D2B-8C78-9F54858497E4}" destId="{ADB3FF6F-52A6-2941-854C-BFA0E2D58A09}" srcOrd="0" destOrd="0" presId="urn:microsoft.com/office/officeart/2005/8/layout/hList1"/>
    <dgm:cxn modelId="{80D97BE5-C643-4583-9DC4-23EC4B60DB2F}" srcId="{D094E733-A4E6-472F-9A76-2A2A9BDD0BC7}" destId="{AC22DED7-18B8-4ECC-992E-7EDF8932467C}" srcOrd="1" destOrd="0" parTransId="{5C9807B7-DDE8-4A94-8667-E5280CCC543E}" sibTransId="{16101FA0-C9A1-46DF-8E56-F8847C161C0B}"/>
    <dgm:cxn modelId="{79DBF0F4-7150-3C4B-9D9F-D37C5083C676}" type="presOf" srcId="{1C32AD48-EE3B-419E-893E-F273F4C8EE27}" destId="{674BBC2D-4D9A-D94A-B65B-2065A848BAA8}" srcOrd="0" destOrd="1" presId="urn:microsoft.com/office/officeart/2005/8/layout/hList1"/>
    <dgm:cxn modelId="{DBDDEBF6-8936-4EC9-B1A8-DA9FEA9B275B}" srcId="{51C94682-5506-4E7C-BFAC-9465DAA64E1D}" destId="{F024889B-152D-46C5-8624-832957B39A3D}" srcOrd="1" destOrd="0" parTransId="{61C5EDD5-3699-4573-AC70-782253A386A7}" sibTransId="{E2CAB2F6-38E0-41D9-AE2C-F6152A168191}"/>
    <dgm:cxn modelId="{B57E0EF9-1354-48FC-83C1-3D941C389F56}" srcId="{F024889B-152D-46C5-8624-832957B39A3D}" destId="{DD5F4FB0-716A-4D2B-8C78-9F54858497E4}" srcOrd="0" destOrd="0" parTransId="{291B0925-1781-4CAC-A1AA-46B148C96CB0}" sibTransId="{BC3E7B19-8A01-4D95-ABAB-6C8E4BB90A95}"/>
    <dgm:cxn modelId="{22C635EE-1C7E-D44A-BA3F-A5F88D28AA8E}" type="presParOf" srcId="{56752979-53DD-2E4E-8D2A-D43AF4CF8B59}" destId="{EA522C22-9CE1-8049-8699-15F75AFE0347}" srcOrd="0" destOrd="0" presId="urn:microsoft.com/office/officeart/2005/8/layout/hList1"/>
    <dgm:cxn modelId="{6B509C0A-A00D-FC46-92F8-D9175DC10B77}" type="presParOf" srcId="{EA522C22-9CE1-8049-8699-15F75AFE0347}" destId="{A2806CE1-D7F4-A440-8922-8E0F2E786FF6}" srcOrd="0" destOrd="0" presId="urn:microsoft.com/office/officeart/2005/8/layout/hList1"/>
    <dgm:cxn modelId="{1CC66D59-374E-5041-A011-1B3F0832FFD1}" type="presParOf" srcId="{EA522C22-9CE1-8049-8699-15F75AFE0347}" destId="{DF8C6144-B6A8-FD44-9285-C48F2BCE9E9B}" srcOrd="1" destOrd="0" presId="urn:microsoft.com/office/officeart/2005/8/layout/hList1"/>
    <dgm:cxn modelId="{1BD2B8E6-E6E3-904A-977E-5451524AC1E0}" type="presParOf" srcId="{56752979-53DD-2E4E-8D2A-D43AF4CF8B59}" destId="{86FF5E22-C21E-344E-BD0B-2689E552726C}" srcOrd="1" destOrd="0" presId="urn:microsoft.com/office/officeart/2005/8/layout/hList1"/>
    <dgm:cxn modelId="{A5D0489A-CDD3-9B47-BA75-A19FA6C22BA0}" type="presParOf" srcId="{56752979-53DD-2E4E-8D2A-D43AF4CF8B59}" destId="{259A430F-2002-ED4C-A23D-BAAAE4222708}" srcOrd="2" destOrd="0" presId="urn:microsoft.com/office/officeart/2005/8/layout/hList1"/>
    <dgm:cxn modelId="{99B5DC4D-B977-3D4F-8206-A1EA7761877D}" type="presParOf" srcId="{259A430F-2002-ED4C-A23D-BAAAE4222708}" destId="{55E8D4D7-04AC-5C46-A19E-0D1904AD1E11}" srcOrd="0" destOrd="0" presId="urn:microsoft.com/office/officeart/2005/8/layout/hList1"/>
    <dgm:cxn modelId="{D21E9CBF-9220-AF42-9F4D-6BD1B32837DF}" type="presParOf" srcId="{259A430F-2002-ED4C-A23D-BAAAE4222708}" destId="{ADB3FF6F-52A6-2941-854C-BFA0E2D58A09}" srcOrd="1" destOrd="0" presId="urn:microsoft.com/office/officeart/2005/8/layout/hList1"/>
    <dgm:cxn modelId="{16541F49-B9E2-7D42-BBD4-383F27510ACD}" type="presParOf" srcId="{56752979-53DD-2E4E-8D2A-D43AF4CF8B59}" destId="{0BFA6433-0091-E14D-9BD3-A6D5B4989349}" srcOrd="3" destOrd="0" presId="urn:microsoft.com/office/officeart/2005/8/layout/hList1"/>
    <dgm:cxn modelId="{1F0B34F9-0846-6D43-9A93-8FF329454A54}" type="presParOf" srcId="{56752979-53DD-2E4E-8D2A-D43AF4CF8B59}" destId="{E5B59A2F-6F63-0048-8519-15584B081B2A}" srcOrd="4" destOrd="0" presId="urn:microsoft.com/office/officeart/2005/8/layout/hList1"/>
    <dgm:cxn modelId="{60C9887E-7C52-244B-B5B4-D8AFA211708E}" type="presParOf" srcId="{E5B59A2F-6F63-0048-8519-15584B081B2A}" destId="{086640BA-A4CA-9745-B2EE-4A918D5CC47F}" srcOrd="0" destOrd="0" presId="urn:microsoft.com/office/officeart/2005/8/layout/hList1"/>
    <dgm:cxn modelId="{D9C489F6-5E0D-044D-A8D4-309A5F486FD2}" type="presParOf" srcId="{E5B59A2F-6F63-0048-8519-15584B081B2A}" destId="{674BBC2D-4D9A-D94A-B65B-2065A848BAA8}" srcOrd="1" destOrd="0" presId="urn:microsoft.com/office/officeart/2005/8/layout/hList1"/>
    <dgm:cxn modelId="{81C683CD-BB85-2D4F-8A05-D970DF0D35F4}" type="presParOf" srcId="{56752979-53DD-2E4E-8D2A-D43AF4CF8B59}" destId="{3B2AAE66-4243-8742-B96C-65E122FF125A}" srcOrd="5" destOrd="0" presId="urn:microsoft.com/office/officeart/2005/8/layout/hList1"/>
    <dgm:cxn modelId="{04CE9EC8-142B-C748-A3BA-28B62FF93C59}" type="presParOf" srcId="{56752979-53DD-2E4E-8D2A-D43AF4CF8B59}" destId="{F76E7CD8-F759-5349-8099-11FDF7072524}" srcOrd="6" destOrd="0" presId="urn:microsoft.com/office/officeart/2005/8/layout/hList1"/>
    <dgm:cxn modelId="{E56BF7FF-894A-C948-9628-A215B1C6A66E}" type="presParOf" srcId="{F76E7CD8-F759-5349-8099-11FDF7072524}" destId="{9BA4EDD4-609C-A44D-A9DB-748071A17C49}" srcOrd="0" destOrd="0" presId="urn:microsoft.com/office/officeart/2005/8/layout/hList1"/>
    <dgm:cxn modelId="{18B437D1-81EE-1340-8431-575F69DAC9B4}" type="presParOf" srcId="{F76E7CD8-F759-5349-8099-11FDF7072524}" destId="{B5B7F9E5-0184-4D41-8742-A7657CBF1B89}"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878B47-1738-9641-B43B-743069C51EB6}">
      <dsp:nvSpPr>
        <dsp:cNvPr id="0" name=""/>
        <dsp:cNvSpPr/>
      </dsp:nvSpPr>
      <dsp:spPr>
        <a:xfrm>
          <a:off x="0" y="324648"/>
          <a:ext cx="10691265" cy="17671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29761" tIns="354076" rIns="829761" bIns="120904" numCol="1" spcCol="1270" anchor="t" anchorCtr="0">
          <a:noAutofit/>
        </a:bodyPr>
        <a:lstStyle/>
        <a:p>
          <a:pPr marL="171450" lvl="1" indent="-171450" algn="l" defTabSz="755650">
            <a:lnSpc>
              <a:spcPct val="90000"/>
            </a:lnSpc>
            <a:spcBef>
              <a:spcPct val="0"/>
            </a:spcBef>
            <a:spcAft>
              <a:spcPct val="15000"/>
            </a:spcAft>
            <a:buChar char="•"/>
          </a:pPr>
          <a:r>
            <a:rPr lang="en-GB" sz="1700" kern="1200" dirty="0" err="1"/>
            <a:t>mIoT</a:t>
          </a:r>
          <a:r>
            <a:rPr lang="en-GB" sz="1700" kern="1200" dirty="0"/>
            <a:t> produces high-velocity physiological data</a:t>
          </a:r>
          <a:endParaRPr lang="en-US" sz="1700" kern="1200" dirty="0"/>
        </a:p>
        <a:p>
          <a:pPr marL="171450" lvl="1" indent="-171450" algn="l" defTabSz="755650">
            <a:lnSpc>
              <a:spcPct val="90000"/>
            </a:lnSpc>
            <a:spcBef>
              <a:spcPct val="0"/>
            </a:spcBef>
            <a:spcAft>
              <a:spcPct val="15000"/>
            </a:spcAft>
            <a:buChar char="•"/>
          </a:pPr>
          <a:r>
            <a:rPr lang="en-GB" sz="1700" kern="1200" dirty="0"/>
            <a:t>Difficult to distinguish:</a:t>
          </a:r>
          <a:endParaRPr lang="en-US" sz="1700" kern="1200" dirty="0"/>
        </a:p>
        <a:p>
          <a:pPr marL="342900" lvl="2" indent="-171450" algn="l" defTabSz="755650">
            <a:lnSpc>
              <a:spcPct val="90000"/>
            </a:lnSpc>
            <a:spcBef>
              <a:spcPct val="0"/>
            </a:spcBef>
            <a:spcAft>
              <a:spcPct val="15000"/>
            </a:spcAft>
            <a:buChar char="•"/>
          </a:pPr>
          <a:r>
            <a:rPr lang="en-GB" sz="1700" kern="1200" dirty="0"/>
            <a:t>medical emergency</a:t>
          </a:r>
          <a:endParaRPr lang="en-US" sz="1700" kern="1200" dirty="0"/>
        </a:p>
        <a:p>
          <a:pPr marL="342900" lvl="2" indent="-171450" algn="l" defTabSz="755650">
            <a:lnSpc>
              <a:spcPct val="90000"/>
            </a:lnSpc>
            <a:spcBef>
              <a:spcPct val="0"/>
            </a:spcBef>
            <a:spcAft>
              <a:spcPct val="15000"/>
            </a:spcAft>
            <a:buChar char="•"/>
          </a:pPr>
          <a:r>
            <a:rPr lang="en-GB" sz="1700" kern="1200" dirty="0"/>
            <a:t>sensor malfunction</a:t>
          </a:r>
          <a:endParaRPr lang="en-US" sz="1700" kern="1200" dirty="0"/>
        </a:p>
        <a:p>
          <a:pPr marL="171450" lvl="1" indent="-171450" algn="l" defTabSz="755650">
            <a:lnSpc>
              <a:spcPct val="90000"/>
            </a:lnSpc>
            <a:spcBef>
              <a:spcPct val="0"/>
            </a:spcBef>
            <a:spcAft>
              <a:spcPct val="15000"/>
            </a:spcAft>
            <a:buChar char="•"/>
          </a:pPr>
          <a:r>
            <a:rPr lang="en-GB" sz="1700" kern="1200" dirty="0"/>
            <a:t>Existing AI systems are “black-box”</a:t>
          </a:r>
          <a:endParaRPr lang="en-US" sz="1700" kern="1200" dirty="0"/>
        </a:p>
      </dsp:txBody>
      <dsp:txXfrm>
        <a:off x="0" y="324648"/>
        <a:ext cx="10691265" cy="1767150"/>
      </dsp:txXfrm>
    </dsp:sp>
    <dsp:sp modelId="{DBF3652C-D2B3-DF40-943A-909233EED934}">
      <dsp:nvSpPr>
        <dsp:cNvPr id="0" name=""/>
        <dsp:cNvSpPr/>
      </dsp:nvSpPr>
      <dsp:spPr>
        <a:xfrm>
          <a:off x="534563" y="73728"/>
          <a:ext cx="7483885"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2873" tIns="0" rIns="282873" bIns="0" numCol="1" spcCol="1270" anchor="ctr" anchorCtr="0">
          <a:noAutofit/>
        </a:bodyPr>
        <a:lstStyle/>
        <a:p>
          <a:pPr marL="0" lvl="0" indent="0" algn="l" defTabSz="755650">
            <a:lnSpc>
              <a:spcPct val="90000"/>
            </a:lnSpc>
            <a:spcBef>
              <a:spcPct val="0"/>
            </a:spcBef>
            <a:spcAft>
              <a:spcPct val="35000"/>
            </a:spcAft>
            <a:buNone/>
          </a:pPr>
          <a:r>
            <a:rPr lang="en-GB" sz="1700" b="1" kern="1200"/>
            <a:t>The Problem</a:t>
          </a:r>
          <a:endParaRPr lang="en-US" sz="1700" kern="1200"/>
        </a:p>
      </dsp:txBody>
      <dsp:txXfrm>
        <a:off x="559061" y="98226"/>
        <a:ext cx="7434889" cy="452844"/>
      </dsp:txXfrm>
    </dsp:sp>
    <dsp:sp modelId="{3C6FD127-856E-3C42-A848-0B94681060E0}">
      <dsp:nvSpPr>
        <dsp:cNvPr id="0" name=""/>
        <dsp:cNvSpPr/>
      </dsp:nvSpPr>
      <dsp:spPr>
        <a:xfrm>
          <a:off x="0" y="2434518"/>
          <a:ext cx="10691265" cy="123164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29761" tIns="354076" rIns="829761" bIns="120904" numCol="1" spcCol="1270" anchor="t" anchorCtr="0">
          <a:noAutofit/>
        </a:bodyPr>
        <a:lstStyle/>
        <a:p>
          <a:pPr marL="171450" lvl="1" indent="-171450" algn="l" defTabSz="755650">
            <a:lnSpc>
              <a:spcPct val="90000"/>
            </a:lnSpc>
            <a:spcBef>
              <a:spcPct val="0"/>
            </a:spcBef>
            <a:spcAft>
              <a:spcPct val="15000"/>
            </a:spcAft>
            <a:buChar char="•"/>
          </a:pPr>
          <a:r>
            <a:rPr lang="en-GB" sz="1700" kern="1200" dirty="0"/>
            <a:t>Alarm Fatigue</a:t>
          </a:r>
          <a:endParaRPr lang="en-US" sz="1700" kern="1200" dirty="0"/>
        </a:p>
        <a:p>
          <a:pPr marL="171450" lvl="1" indent="-171450" algn="l" defTabSz="755650">
            <a:lnSpc>
              <a:spcPct val="90000"/>
            </a:lnSpc>
            <a:spcBef>
              <a:spcPct val="0"/>
            </a:spcBef>
            <a:spcAft>
              <a:spcPct val="15000"/>
            </a:spcAft>
            <a:buChar char="•"/>
          </a:pPr>
          <a:r>
            <a:rPr lang="en-GB" sz="1700" kern="1200" dirty="0"/>
            <a:t>Reduced clinician trust</a:t>
          </a:r>
          <a:endParaRPr lang="en-US" sz="1700" kern="1200" dirty="0"/>
        </a:p>
        <a:p>
          <a:pPr marL="171450" lvl="1" indent="-171450" algn="l" defTabSz="755650">
            <a:lnSpc>
              <a:spcPct val="90000"/>
            </a:lnSpc>
            <a:spcBef>
              <a:spcPct val="0"/>
            </a:spcBef>
            <a:spcAft>
              <a:spcPct val="15000"/>
            </a:spcAft>
            <a:buChar char="•"/>
          </a:pPr>
          <a:r>
            <a:rPr lang="en-GB" sz="1700" kern="1200" dirty="0"/>
            <a:t>Delayed intervention</a:t>
          </a:r>
          <a:endParaRPr lang="en-US" sz="1700" kern="1200" dirty="0"/>
        </a:p>
      </dsp:txBody>
      <dsp:txXfrm>
        <a:off x="0" y="2434518"/>
        <a:ext cx="10691265" cy="1231649"/>
      </dsp:txXfrm>
    </dsp:sp>
    <dsp:sp modelId="{4F5A8194-B83F-F94C-B603-C619BA51692A}">
      <dsp:nvSpPr>
        <dsp:cNvPr id="0" name=""/>
        <dsp:cNvSpPr/>
      </dsp:nvSpPr>
      <dsp:spPr>
        <a:xfrm>
          <a:off x="534563" y="2183598"/>
          <a:ext cx="7483885"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2873" tIns="0" rIns="282873" bIns="0" numCol="1" spcCol="1270" anchor="ctr" anchorCtr="0">
          <a:noAutofit/>
        </a:bodyPr>
        <a:lstStyle/>
        <a:p>
          <a:pPr marL="0" lvl="0" indent="0" algn="l" defTabSz="755650">
            <a:lnSpc>
              <a:spcPct val="90000"/>
            </a:lnSpc>
            <a:spcBef>
              <a:spcPct val="0"/>
            </a:spcBef>
            <a:spcAft>
              <a:spcPct val="35000"/>
            </a:spcAft>
            <a:buNone/>
          </a:pPr>
          <a:r>
            <a:rPr lang="en-GB" sz="1700" b="1" kern="1200" dirty="0"/>
            <a:t>Clinical Consequence</a:t>
          </a:r>
          <a:endParaRPr lang="en-US" sz="1700" kern="1200" dirty="0"/>
        </a:p>
      </dsp:txBody>
      <dsp:txXfrm>
        <a:off x="559061" y="2208096"/>
        <a:ext cx="7434889" cy="4528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42473B-5D97-DA45-B9D5-FFAD0DEF45B2}">
      <dsp:nvSpPr>
        <dsp:cNvPr id="0" name=""/>
        <dsp:cNvSpPr/>
      </dsp:nvSpPr>
      <dsp:spPr>
        <a:xfrm>
          <a:off x="0" y="0"/>
          <a:ext cx="1571169" cy="56163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Sensor </a:t>
          </a:r>
          <a:r>
            <a:rPr lang="en-US" sz="1500" kern="1200"/>
            <a:t>Data </a:t>
          </a:r>
          <a:endParaRPr lang="en-GB" sz="1500" kern="1200" dirty="0"/>
        </a:p>
      </dsp:txBody>
      <dsp:txXfrm>
        <a:off x="16450" y="16450"/>
        <a:ext cx="1538269" cy="528732"/>
      </dsp:txXfrm>
    </dsp:sp>
    <dsp:sp modelId="{3778DB37-CD6F-934B-9E07-31B85A19C158}">
      <dsp:nvSpPr>
        <dsp:cNvPr id="0" name=""/>
        <dsp:cNvSpPr/>
      </dsp:nvSpPr>
      <dsp:spPr>
        <a:xfrm>
          <a:off x="1725491" y="85990"/>
          <a:ext cx="327161" cy="3896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GB" sz="1200" kern="1200"/>
        </a:p>
      </dsp:txBody>
      <dsp:txXfrm>
        <a:off x="1725491" y="163920"/>
        <a:ext cx="229013" cy="233790"/>
      </dsp:txXfrm>
    </dsp:sp>
    <dsp:sp modelId="{8B6C71C3-D376-7241-A095-5F8348BA2325}">
      <dsp:nvSpPr>
        <dsp:cNvPr id="0" name=""/>
        <dsp:cNvSpPr/>
      </dsp:nvSpPr>
      <dsp:spPr>
        <a:xfrm>
          <a:off x="2188455" y="0"/>
          <a:ext cx="1571169" cy="56163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Black Box AI </a:t>
          </a:r>
          <a:endParaRPr lang="en-GB" sz="1500" kern="1200" dirty="0"/>
        </a:p>
      </dsp:txBody>
      <dsp:txXfrm>
        <a:off x="2204905" y="16450"/>
        <a:ext cx="1538269" cy="528732"/>
      </dsp:txXfrm>
    </dsp:sp>
    <dsp:sp modelId="{A90E0881-5E16-B740-A41B-66B6EBB06AA4}">
      <dsp:nvSpPr>
        <dsp:cNvPr id="0" name=""/>
        <dsp:cNvSpPr/>
      </dsp:nvSpPr>
      <dsp:spPr>
        <a:xfrm>
          <a:off x="3920436" y="85990"/>
          <a:ext cx="340918" cy="3896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GB" sz="1200" kern="1200"/>
        </a:p>
      </dsp:txBody>
      <dsp:txXfrm>
        <a:off x="3920436" y="163920"/>
        <a:ext cx="238643" cy="233790"/>
      </dsp:txXfrm>
    </dsp:sp>
    <dsp:sp modelId="{46014F40-6D99-C041-80CA-398D3876F193}">
      <dsp:nvSpPr>
        <dsp:cNvPr id="0" name=""/>
        <dsp:cNvSpPr/>
      </dsp:nvSpPr>
      <dsp:spPr>
        <a:xfrm>
          <a:off x="4402868" y="0"/>
          <a:ext cx="1571169" cy="56163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Unclear Alert </a:t>
          </a:r>
          <a:endParaRPr lang="en-GB" sz="1500" kern="1200" dirty="0"/>
        </a:p>
      </dsp:txBody>
      <dsp:txXfrm>
        <a:off x="4419318" y="16450"/>
        <a:ext cx="1538269" cy="528732"/>
      </dsp:txXfrm>
    </dsp:sp>
    <dsp:sp modelId="{9C9BBC7C-199F-F346-9FBA-ED0CC8371339}">
      <dsp:nvSpPr>
        <dsp:cNvPr id="0" name=""/>
        <dsp:cNvSpPr/>
      </dsp:nvSpPr>
      <dsp:spPr>
        <a:xfrm>
          <a:off x="6131155" y="85990"/>
          <a:ext cx="333087" cy="3896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GB" sz="1200" kern="1200"/>
        </a:p>
      </dsp:txBody>
      <dsp:txXfrm>
        <a:off x="6131155" y="163920"/>
        <a:ext cx="233161" cy="233790"/>
      </dsp:txXfrm>
    </dsp:sp>
    <dsp:sp modelId="{82B58480-105F-F143-A465-64ABA21AAFBB}">
      <dsp:nvSpPr>
        <dsp:cNvPr id="0" name=""/>
        <dsp:cNvSpPr/>
      </dsp:nvSpPr>
      <dsp:spPr>
        <a:xfrm>
          <a:off x="6602506" y="0"/>
          <a:ext cx="1571169" cy="56163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Clinician Confusion</a:t>
          </a:r>
          <a:endParaRPr lang="en-GB" sz="1500" kern="1200" dirty="0"/>
        </a:p>
      </dsp:txBody>
      <dsp:txXfrm>
        <a:off x="6618956" y="16450"/>
        <a:ext cx="1538269" cy="5287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42905F-621E-5D4B-86F5-D1CE0D95C792}">
      <dsp:nvSpPr>
        <dsp:cNvPr id="0" name=""/>
        <dsp:cNvSpPr/>
      </dsp:nvSpPr>
      <dsp:spPr>
        <a:xfrm>
          <a:off x="0" y="335459"/>
          <a:ext cx="3869400" cy="42839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FDD5C0A-C07F-EA4D-BAA2-10846FF7BD1C}">
      <dsp:nvSpPr>
        <dsp:cNvPr id="0" name=""/>
        <dsp:cNvSpPr/>
      </dsp:nvSpPr>
      <dsp:spPr>
        <a:xfrm>
          <a:off x="193470" y="84539"/>
          <a:ext cx="2708580"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378" tIns="0" rIns="102378" bIns="0" numCol="1" spcCol="1270" anchor="ctr" anchorCtr="0">
          <a:noAutofit/>
        </a:bodyPr>
        <a:lstStyle/>
        <a:p>
          <a:pPr marL="0" lvl="0" indent="0" algn="l" defTabSz="755650">
            <a:lnSpc>
              <a:spcPct val="90000"/>
            </a:lnSpc>
            <a:spcBef>
              <a:spcPct val="0"/>
            </a:spcBef>
            <a:spcAft>
              <a:spcPct val="35000"/>
            </a:spcAft>
            <a:buNone/>
          </a:pPr>
          <a:r>
            <a:rPr lang="en-US" sz="1700" b="1" kern="1200"/>
            <a:t>Existing Gap</a:t>
          </a:r>
          <a:endParaRPr lang="en-US" sz="1700" kern="1200"/>
        </a:p>
      </dsp:txBody>
      <dsp:txXfrm>
        <a:off x="217968" y="109037"/>
        <a:ext cx="2659584" cy="452844"/>
      </dsp:txXfrm>
    </dsp:sp>
    <dsp:sp modelId="{9A36688C-DB1D-3A45-966D-D95F67F3B23B}">
      <dsp:nvSpPr>
        <dsp:cNvPr id="0" name=""/>
        <dsp:cNvSpPr/>
      </dsp:nvSpPr>
      <dsp:spPr>
        <a:xfrm>
          <a:off x="0" y="1106579"/>
          <a:ext cx="3869400" cy="17671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0308" tIns="354076" rIns="300308"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a:t>focus on anomaly detection only</a:t>
          </a:r>
        </a:p>
        <a:p>
          <a:pPr marL="171450" lvl="1" indent="-171450" algn="l" defTabSz="755650">
            <a:lnSpc>
              <a:spcPct val="90000"/>
            </a:lnSpc>
            <a:spcBef>
              <a:spcPct val="0"/>
            </a:spcBef>
            <a:spcAft>
              <a:spcPct val="15000"/>
            </a:spcAft>
            <a:buChar char="•"/>
          </a:pPr>
          <a:r>
            <a:rPr lang="en-US" sz="1700" kern="1200"/>
            <a:t>ignore explanation reliability</a:t>
          </a:r>
        </a:p>
        <a:p>
          <a:pPr marL="171450" lvl="1" indent="-171450" algn="l" defTabSz="755650">
            <a:lnSpc>
              <a:spcPct val="90000"/>
            </a:lnSpc>
            <a:spcBef>
              <a:spcPct val="0"/>
            </a:spcBef>
            <a:spcAft>
              <a:spcPct val="15000"/>
            </a:spcAft>
            <a:buChar char="•"/>
          </a:pPr>
          <a:r>
            <a:rPr lang="en-US" sz="1700" kern="1200"/>
            <a:t>lack distinction between:</a:t>
          </a:r>
        </a:p>
        <a:p>
          <a:pPr marL="342900" lvl="2" indent="-171450" algn="l" defTabSz="755650">
            <a:lnSpc>
              <a:spcPct val="90000"/>
            </a:lnSpc>
            <a:spcBef>
              <a:spcPct val="0"/>
            </a:spcBef>
            <a:spcAft>
              <a:spcPct val="15000"/>
            </a:spcAft>
            <a:buChar char="•"/>
          </a:pPr>
          <a:r>
            <a:rPr lang="en-US" sz="1700" kern="1200"/>
            <a:t>physiological anomaly</a:t>
          </a:r>
        </a:p>
        <a:p>
          <a:pPr marL="342900" lvl="2" indent="-171450" algn="l" defTabSz="755650">
            <a:lnSpc>
              <a:spcPct val="90000"/>
            </a:lnSpc>
            <a:spcBef>
              <a:spcPct val="0"/>
            </a:spcBef>
            <a:spcAft>
              <a:spcPct val="15000"/>
            </a:spcAft>
            <a:buChar char="•"/>
          </a:pPr>
          <a:r>
            <a:rPr lang="en-US" sz="1700" kern="1200"/>
            <a:t>sensor fault</a:t>
          </a:r>
        </a:p>
      </dsp:txBody>
      <dsp:txXfrm>
        <a:off x="0" y="1106579"/>
        <a:ext cx="3869400" cy="1767150"/>
      </dsp:txXfrm>
    </dsp:sp>
    <dsp:sp modelId="{01A6DF97-E93E-034D-B41B-54B6B33DCC40}">
      <dsp:nvSpPr>
        <dsp:cNvPr id="0" name=""/>
        <dsp:cNvSpPr/>
      </dsp:nvSpPr>
      <dsp:spPr>
        <a:xfrm>
          <a:off x="193470" y="855659"/>
          <a:ext cx="2708580"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378" tIns="0" rIns="102378" bIns="0" numCol="1" spcCol="1270" anchor="ctr" anchorCtr="0">
          <a:noAutofit/>
        </a:bodyPr>
        <a:lstStyle/>
        <a:p>
          <a:pPr marL="0" lvl="0" indent="0" algn="l" defTabSz="755650">
            <a:lnSpc>
              <a:spcPct val="90000"/>
            </a:lnSpc>
            <a:spcBef>
              <a:spcPct val="0"/>
            </a:spcBef>
            <a:spcAft>
              <a:spcPct val="35000"/>
            </a:spcAft>
            <a:buNone/>
          </a:pPr>
          <a:r>
            <a:rPr lang="en-US" sz="1700" kern="1200"/>
            <a:t>Most studies:</a:t>
          </a:r>
        </a:p>
      </dsp:txBody>
      <dsp:txXfrm>
        <a:off x="217968" y="880157"/>
        <a:ext cx="2659584" cy="4528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035384-40CB-8B4C-B1C3-28B54387326D}">
      <dsp:nvSpPr>
        <dsp:cNvPr id="0" name=""/>
        <dsp:cNvSpPr/>
      </dsp:nvSpPr>
      <dsp:spPr>
        <a:xfrm>
          <a:off x="99739" y="505"/>
          <a:ext cx="1553351" cy="59175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Input </a:t>
          </a:r>
          <a:endParaRPr lang="en-GB" sz="1600" kern="1200" dirty="0"/>
        </a:p>
      </dsp:txBody>
      <dsp:txXfrm>
        <a:off x="117071" y="17837"/>
        <a:ext cx="1518687" cy="557089"/>
      </dsp:txXfrm>
    </dsp:sp>
    <dsp:sp modelId="{1A70DC35-955A-CB44-84F9-7B48357FC821}">
      <dsp:nvSpPr>
        <dsp:cNvPr id="0" name=""/>
        <dsp:cNvSpPr/>
      </dsp:nvSpPr>
      <dsp:spPr>
        <a:xfrm rot="5400000">
          <a:off x="765461" y="607052"/>
          <a:ext cx="221907" cy="2662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rot="-5400000">
        <a:off x="796529" y="629242"/>
        <a:ext cx="159772" cy="155335"/>
      </dsp:txXfrm>
    </dsp:sp>
    <dsp:sp modelId="{A291967D-A9D9-704A-89B8-245651C1B91D}">
      <dsp:nvSpPr>
        <dsp:cNvPr id="0" name=""/>
        <dsp:cNvSpPr/>
      </dsp:nvSpPr>
      <dsp:spPr>
        <a:xfrm>
          <a:off x="99739" y="888135"/>
          <a:ext cx="1553351" cy="59175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Encoder </a:t>
          </a:r>
          <a:endParaRPr lang="en-GB" sz="1600" kern="1200" dirty="0"/>
        </a:p>
      </dsp:txBody>
      <dsp:txXfrm>
        <a:off x="117071" y="905467"/>
        <a:ext cx="1518687" cy="557089"/>
      </dsp:txXfrm>
    </dsp:sp>
    <dsp:sp modelId="{406BB36A-8596-7946-80C9-9F79D997EBB4}">
      <dsp:nvSpPr>
        <dsp:cNvPr id="0" name=""/>
        <dsp:cNvSpPr/>
      </dsp:nvSpPr>
      <dsp:spPr>
        <a:xfrm rot="5400000">
          <a:off x="765461" y="1494682"/>
          <a:ext cx="221907" cy="2662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rot="-5400000">
        <a:off x="796529" y="1516872"/>
        <a:ext cx="159772" cy="155335"/>
      </dsp:txXfrm>
    </dsp:sp>
    <dsp:sp modelId="{1AE9A29D-C0A1-ED46-B842-35BF30FB0431}">
      <dsp:nvSpPr>
        <dsp:cNvPr id="0" name=""/>
        <dsp:cNvSpPr/>
      </dsp:nvSpPr>
      <dsp:spPr>
        <a:xfrm>
          <a:off x="99739" y="1775764"/>
          <a:ext cx="1553351" cy="59175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 Latent Space </a:t>
          </a:r>
          <a:endParaRPr lang="en-GB" sz="1600" kern="1200" dirty="0"/>
        </a:p>
      </dsp:txBody>
      <dsp:txXfrm>
        <a:off x="117071" y="1793096"/>
        <a:ext cx="1518687" cy="557089"/>
      </dsp:txXfrm>
    </dsp:sp>
    <dsp:sp modelId="{F3ACBC66-B316-9545-A868-ECEE09EECAF5}">
      <dsp:nvSpPr>
        <dsp:cNvPr id="0" name=""/>
        <dsp:cNvSpPr/>
      </dsp:nvSpPr>
      <dsp:spPr>
        <a:xfrm rot="5400000">
          <a:off x="765461" y="2382311"/>
          <a:ext cx="221907" cy="2662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rot="-5400000">
        <a:off x="796529" y="2404501"/>
        <a:ext cx="159772" cy="155335"/>
      </dsp:txXfrm>
    </dsp:sp>
    <dsp:sp modelId="{919A82B4-9B00-F04F-ABE3-B4CBB3CEB949}">
      <dsp:nvSpPr>
        <dsp:cNvPr id="0" name=""/>
        <dsp:cNvSpPr/>
      </dsp:nvSpPr>
      <dsp:spPr>
        <a:xfrm>
          <a:off x="99739" y="2663394"/>
          <a:ext cx="1553351" cy="59175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Decoder </a:t>
          </a:r>
          <a:endParaRPr lang="en-GB" sz="1600" kern="1200" dirty="0"/>
        </a:p>
      </dsp:txBody>
      <dsp:txXfrm>
        <a:off x="117071" y="2680726"/>
        <a:ext cx="1518687" cy="557089"/>
      </dsp:txXfrm>
    </dsp:sp>
    <dsp:sp modelId="{EBECAD6A-2ACA-5B40-9AE5-0B65523726CE}">
      <dsp:nvSpPr>
        <dsp:cNvPr id="0" name=""/>
        <dsp:cNvSpPr/>
      </dsp:nvSpPr>
      <dsp:spPr>
        <a:xfrm rot="5400000">
          <a:off x="765461" y="3269941"/>
          <a:ext cx="221907" cy="26628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rot="-5400000">
        <a:off x="796529" y="3292131"/>
        <a:ext cx="159772" cy="155335"/>
      </dsp:txXfrm>
    </dsp:sp>
    <dsp:sp modelId="{8CA6CB2B-9643-DF4D-8EB8-8CF3E496842A}">
      <dsp:nvSpPr>
        <dsp:cNvPr id="0" name=""/>
        <dsp:cNvSpPr/>
      </dsp:nvSpPr>
      <dsp:spPr>
        <a:xfrm>
          <a:off x="99739" y="3551024"/>
          <a:ext cx="1553351" cy="59175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 Reconstruction Error</a:t>
          </a:r>
          <a:endParaRPr lang="en-GB" sz="1600" kern="1200" dirty="0"/>
        </a:p>
      </dsp:txBody>
      <dsp:txXfrm>
        <a:off x="117071" y="3568356"/>
        <a:ext cx="1518687" cy="5570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18FE2C-721A-8C43-9F79-D9A9AE976157}">
      <dsp:nvSpPr>
        <dsp:cNvPr id="0" name=""/>
        <dsp:cNvSpPr/>
      </dsp:nvSpPr>
      <dsp:spPr>
        <a:xfrm>
          <a:off x="1905127" y="2111568"/>
          <a:ext cx="218134" cy="668945"/>
        </a:xfrm>
        <a:custGeom>
          <a:avLst/>
          <a:gdLst/>
          <a:ahLst/>
          <a:cxnLst/>
          <a:rect l="0" t="0" r="0" b="0"/>
          <a:pathLst>
            <a:path>
              <a:moveTo>
                <a:pt x="0" y="0"/>
              </a:moveTo>
              <a:lnTo>
                <a:pt x="0" y="668945"/>
              </a:lnTo>
              <a:lnTo>
                <a:pt x="218134" y="6689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D38EF03-7E8A-D949-AA87-4BC8DD122BF9}">
      <dsp:nvSpPr>
        <dsp:cNvPr id="0" name=""/>
        <dsp:cNvSpPr/>
      </dsp:nvSpPr>
      <dsp:spPr>
        <a:xfrm>
          <a:off x="1607010" y="1079066"/>
          <a:ext cx="879808" cy="305388"/>
        </a:xfrm>
        <a:custGeom>
          <a:avLst/>
          <a:gdLst/>
          <a:ahLst/>
          <a:cxnLst/>
          <a:rect l="0" t="0" r="0" b="0"/>
          <a:pathLst>
            <a:path>
              <a:moveTo>
                <a:pt x="0" y="0"/>
              </a:moveTo>
              <a:lnTo>
                <a:pt x="0" y="152694"/>
              </a:lnTo>
              <a:lnTo>
                <a:pt x="879808" y="152694"/>
              </a:lnTo>
              <a:lnTo>
                <a:pt x="879808" y="3053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65F3689-58F7-664C-B1DE-8129949E9078}">
      <dsp:nvSpPr>
        <dsp:cNvPr id="0" name=""/>
        <dsp:cNvSpPr/>
      </dsp:nvSpPr>
      <dsp:spPr>
        <a:xfrm>
          <a:off x="145510" y="2111568"/>
          <a:ext cx="218134" cy="668945"/>
        </a:xfrm>
        <a:custGeom>
          <a:avLst/>
          <a:gdLst/>
          <a:ahLst/>
          <a:cxnLst/>
          <a:rect l="0" t="0" r="0" b="0"/>
          <a:pathLst>
            <a:path>
              <a:moveTo>
                <a:pt x="0" y="0"/>
              </a:moveTo>
              <a:lnTo>
                <a:pt x="0" y="668945"/>
              </a:lnTo>
              <a:lnTo>
                <a:pt x="218134" y="66894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6B6D49-3913-4C42-AD56-CC471EFA3885}">
      <dsp:nvSpPr>
        <dsp:cNvPr id="0" name=""/>
        <dsp:cNvSpPr/>
      </dsp:nvSpPr>
      <dsp:spPr>
        <a:xfrm>
          <a:off x="727202" y="1079066"/>
          <a:ext cx="879808" cy="305388"/>
        </a:xfrm>
        <a:custGeom>
          <a:avLst/>
          <a:gdLst/>
          <a:ahLst/>
          <a:cxnLst/>
          <a:rect l="0" t="0" r="0" b="0"/>
          <a:pathLst>
            <a:path>
              <a:moveTo>
                <a:pt x="879808" y="0"/>
              </a:moveTo>
              <a:lnTo>
                <a:pt x="879808" y="152694"/>
              </a:lnTo>
              <a:lnTo>
                <a:pt x="0" y="152694"/>
              </a:lnTo>
              <a:lnTo>
                <a:pt x="0" y="30538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122DA74-F9CD-6E4F-ADC1-CCB1DCB605BD}">
      <dsp:nvSpPr>
        <dsp:cNvPr id="0" name=""/>
        <dsp:cNvSpPr/>
      </dsp:nvSpPr>
      <dsp:spPr>
        <a:xfrm>
          <a:off x="879896" y="351951"/>
          <a:ext cx="1454229" cy="7271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Anomaly</a:t>
          </a:r>
          <a:endParaRPr lang="en-GB" sz="2000" kern="1200" dirty="0"/>
        </a:p>
      </dsp:txBody>
      <dsp:txXfrm>
        <a:off x="879896" y="351951"/>
        <a:ext cx="1454229" cy="727114"/>
      </dsp:txXfrm>
    </dsp:sp>
    <dsp:sp modelId="{44933975-EED9-A64B-8464-13831B9B9F0F}">
      <dsp:nvSpPr>
        <dsp:cNvPr id="0" name=""/>
        <dsp:cNvSpPr/>
      </dsp:nvSpPr>
      <dsp:spPr>
        <a:xfrm>
          <a:off x="87" y="1384454"/>
          <a:ext cx="1454229" cy="7271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Multi-feature change</a:t>
          </a:r>
          <a:endParaRPr lang="en-GB" sz="2000" kern="1200" dirty="0"/>
        </a:p>
      </dsp:txBody>
      <dsp:txXfrm>
        <a:off x="87" y="1384454"/>
        <a:ext cx="1454229" cy="727114"/>
      </dsp:txXfrm>
    </dsp:sp>
    <dsp:sp modelId="{730A458D-F736-7940-9078-BFBC65CB37E3}">
      <dsp:nvSpPr>
        <dsp:cNvPr id="0" name=""/>
        <dsp:cNvSpPr/>
      </dsp:nvSpPr>
      <dsp:spPr>
        <a:xfrm>
          <a:off x="363644" y="2416956"/>
          <a:ext cx="1454229" cy="7271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  Emergency Alert</a:t>
          </a:r>
          <a:endParaRPr lang="en-GB" sz="2000" kern="1200" dirty="0"/>
        </a:p>
      </dsp:txBody>
      <dsp:txXfrm>
        <a:off x="363644" y="2416956"/>
        <a:ext cx="1454229" cy="727114"/>
      </dsp:txXfrm>
    </dsp:sp>
    <dsp:sp modelId="{6F54F175-9AD1-DB4C-97A6-B2C976EAB07D}">
      <dsp:nvSpPr>
        <dsp:cNvPr id="0" name=""/>
        <dsp:cNvSpPr/>
      </dsp:nvSpPr>
      <dsp:spPr>
        <a:xfrm>
          <a:off x="1759704" y="1384454"/>
          <a:ext cx="1454229" cy="7271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Single noisy feature</a:t>
          </a:r>
          <a:endParaRPr lang="en-GB" sz="2000" kern="1200" dirty="0"/>
        </a:p>
      </dsp:txBody>
      <dsp:txXfrm>
        <a:off x="1759704" y="1384454"/>
        <a:ext cx="1454229" cy="727114"/>
      </dsp:txXfrm>
    </dsp:sp>
    <dsp:sp modelId="{6A326F28-9FDA-314A-99B2-291292170890}">
      <dsp:nvSpPr>
        <dsp:cNvPr id="0" name=""/>
        <dsp:cNvSpPr/>
      </dsp:nvSpPr>
      <dsp:spPr>
        <a:xfrm>
          <a:off x="2123262" y="2416956"/>
          <a:ext cx="1454229" cy="7271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 Sensor Check</a:t>
          </a:r>
          <a:endParaRPr lang="en-GB" sz="2000" kern="1200" dirty="0"/>
        </a:p>
      </dsp:txBody>
      <dsp:txXfrm>
        <a:off x="2123262" y="2416956"/>
        <a:ext cx="1454229" cy="727114"/>
      </dsp:txXfrm>
    </dsp:sp>
    <dsp:sp modelId="{E4E0EDCB-8626-7C4D-8B31-35A4329FABC5}">
      <dsp:nvSpPr>
        <dsp:cNvPr id="0" name=""/>
        <dsp:cNvSpPr/>
      </dsp:nvSpPr>
      <dsp:spPr>
        <a:xfrm>
          <a:off x="2639513" y="351951"/>
          <a:ext cx="1454229" cy="72711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SHAP Analysis</a:t>
          </a:r>
          <a:endParaRPr lang="en-GB" sz="2000" kern="1200" dirty="0"/>
        </a:p>
      </dsp:txBody>
      <dsp:txXfrm>
        <a:off x="2639513" y="351951"/>
        <a:ext cx="1454229" cy="72711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806CE1-D7F4-A440-8922-8E0F2E786FF6}">
      <dsp:nvSpPr>
        <dsp:cNvPr id="0" name=""/>
        <dsp:cNvSpPr/>
      </dsp:nvSpPr>
      <dsp:spPr>
        <a:xfrm>
          <a:off x="3249" y="263481"/>
          <a:ext cx="1953796" cy="59080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GB" sz="1200" b="1" kern="1200"/>
            <a:t>Developed an Explainable mIoT Anomaly Detection Framework</a:t>
          </a:r>
          <a:endParaRPr lang="en-US" sz="1200" kern="1200"/>
        </a:p>
      </dsp:txBody>
      <dsp:txXfrm>
        <a:off x="3249" y="263481"/>
        <a:ext cx="1953796" cy="590804"/>
      </dsp:txXfrm>
    </dsp:sp>
    <dsp:sp modelId="{DF8C6144-B6A8-FD44-9285-C48F2BCE9E9B}">
      <dsp:nvSpPr>
        <dsp:cNvPr id="0" name=""/>
        <dsp:cNvSpPr/>
      </dsp:nvSpPr>
      <dsp:spPr>
        <a:xfrm>
          <a:off x="3249" y="854285"/>
          <a:ext cx="1953796" cy="174170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GB" sz="1200" kern="1200" dirty="0"/>
            <a:t>Autoencoder-based anomaly detection</a:t>
          </a:r>
          <a:endParaRPr lang="en-US" sz="1200" kern="1200" dirty="0"/>
        </a:p>
        <a:p>
          <a:pPr marL="114300" lvl="1" indent="-114300" algn="l" defTabSz="533400">
            <a:lnSpc>
              <a:spcPct val="90000"/>
            </a:lnSpc>
            <a:spcBef>
              <a:spcPct val="0"/>
            </a:spcBef>
            <a:spcAft>
              <a:spcPct val="15000"/>
            </a:spcAft>
            <a:buChar char="•"/>
          </a:pPr>
          <a:r>
            <a:rPr lang="en-GB" sz="1200" kern="1200"/>
            <a:t>SHAP/LIME explainability techniques</a:t>
          </a:r>
          <a:endParaRPr lang="en-US" sz="1200" kern="1200"/>
        </a:p>
        <a:p>
          <a:pPr marL="114300" lvl="1" indent="-114300" algn="l" defTabSz="533400">
            <a:lnSpc>
              <a:spcPct val="90000"/>
            </a:lnSpc>
            <a:spcBef>
              <a:spcPct val="0"/>
            </a:spcBef>
            <a:spcAft>
              <a:spcPct val="15000"/>
            </a:spcAft>
            <a:buChar char="•"/>
          </a:pPr>
          <a:r>
            <a:rPr lang="en-GB" sz="1200" kern="1200"/>
            <a:t>Clinical decision-support logic</a:t>
          </a:r>
          <a:endParaRPr lang="en-US" sz="1200" kern="1200"/>
        </a:p>
      </dsp:txBody>
      <dsp:txXfrm>
        <a:off x="3249" y="854285"/>
        <a:ext cx="1953796" cy="1741702"/>
      </dsp:txXfrm>
    </dsp:sp>
    <dsp:sp modelId="{55E8D4D7-04AC-5C46-A19E-0D1904AD1E11}">
      <dsp:nvSpPr>
        <dsp:cNvPr id="0" name=""/>
        <dsp:cNvSpPr/>
      </dsp:nvSpPr>
      <dsp:spPr>
        <a:xfrm>
          <a:off x="2230577" y="263481"/>
          <a:ext cx="1953796" cy="59080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GB" sz="1200" b="1" kern="1200" dirty="0"/>
            <a:t>Addressed the Interpretability Gap</a:t>
          </a:r>
          <a:endParaRPr lang="en-US" sz="1200" kern="1200" dirty="0"/>
        </a:p>
      </dsp:txBody>
      <dsp:txXfrm>
        <a:off x="2230577" y="263481"/>
        <a:ext cx="1953796" cy="590804"/>
      </dsp:txXfrm>
    </dsp:sp>
    <dsp:sp modelId="{ADB3FF6F-52A6-2941-854C-BFA0E2D58A09}">
      <dsp:nvSpPr>
        <dsp:cNvPr id="0" name=""/>
        <dsp:cNvSpPr/>
      </dsp:nvSpPr>
      <dsp:spPr>
        <a:xfrm>
          <a:off x="2230577" y="854285"/>
          <a:ext cx="1953796" cy="174170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GB" sz="1200" kern="1200" dirty="0"/>
            <a:t>Moved beyond “black-box” predictions</a:t>
          </a:r>
          <a:endParaRPr lang="en-US" sz="1200" kern="1200" dirty="0"/>
        </a:p>
        <a:p>
          <a:pPr marL="114300" lvl="1" indent="-114300" algn="l" defTabSz="533400">
            <a:lnSpc>
              <a:spcPct val="90000"/>
            </a:lnSpc>
            <a:spcBef>
              <a:spcPct val="0"/>
            </a:spcBef>
            <a:spcAft>
              <a:spcPct val="15000"/>
            </a:spcAft>
            <a:buChar char="•"/>
          </a:pPr>
          <a:r>
            <a:rPr lang="en-GB" sz="1200" kern="1200" dirty="0"/>
            <a:t>Enabled clinicians to understand:</a:t>
          </a:r>
          <a:endParaRPr lang="en-US" sz="1200" kern="1200" dirty="0"/>
        </a:p>
        <a:p>
          <a:pPr marL="114300" lvl="1" indent="-114300" algn="l" defTabSz="533400">
            <a:lnSpc>
              <a:spcPct val="90000"/>
            </a:lnSpc>
            <a:spcBef>
              <a:spcPct val="0"/>
            </a:spcBef>
            <a:spcAft>
              <a:spcPct val="15000"/>
            </a:spcAft>
            <a:buChar char="•"/>
          </a:pPr>
          <a:r>
            <a:rPr lang="en-GB" sz="1200" i="1" kern="1200" dirty="0"/>
            <a:t>why</a:t>
          </a:r>
          <a:r>
            <a:rPr lang="en-GB" sz="1200" kern="1200" dirty="0"/>
            <a:t> anomalies occur</a:t>
          </a:r>
          <a:endParaRPr lang="en-US" sz="1200" kern="1200" dirty="0"/>
        </a:p>
        <a:p>
          <a:pPr marL="114300" lvl="1" indent="-114300" algn="l" defTabSz="533400">
            <a:lnSpc>
              <a:spcPct val="90000"/>
            </a:lnSpc>
            <a:spcBef>
              <a:spcPct val="0"/>
            </a:spcBef>
            <a:spcAft>
              <a:spcPct val="15000"/>
            </a:spcAft>
            <a:buChar char="•"/>
          </a:pPr>
          <a:r>
            <a:rPr lang="en-GB" sz="1200" kern="1200"/>
            <a:t>whether alerts represent:</a:t>
          </a:r>
          <a:endParaRPr lang="en-US" sz="1200" kern="1200"/>
        </a:p>
        <a:p>
          <a:pPr marL="228600" lvl="2" indent="-114300" algn="l" defTabSz="533400">
            <a:lnSpc>
              <a:spcPct val="90000"/>
            </a:lnSpc>
            <a:spcBef>
              <a:spcPct val="0"/>
            </a:spcBef>
            <a:spcAft>
              <a:spcPct val="15000"/>
            </a:spcAft>
            <a:buChar char="•"/>
          </a:pPr>
          <a:r>
            <a:rPr lang="en-GB" sz="1200" kern="1200"/>
            <a:t>physiological emergencies</a:t>
          </a:r>
          <a:endParaRPr lang="en-US" sz="1200" kern="1200"/>
        </a:p>
        <a:p>
          <a:pPr marL="228600" lvl="2" indent="-114300" algn="l" defTabSz="533400">
            <a:lnSpc>
              <a:spcPct val="90000"/>
            </a:lnSpc>
            <a:spcBef>
              <a:spcPct val="0"/>
            </a:spcBef>
            <a:spcAft>
              <a:spcPct val="15000"/>
            </a:spcAft>
            <a:buChar char="•"/>
          </a:pPr>
          <a:r>
            <a:rPr lang="en-GB" sz="1200" kern="1200"/>
            <a:t>sensor/device faults</a:t>
          </a:r>
          <a:endParaRPr lang="en-US" sz="1200" kern="1200"/>
        </a:p>
      </dsp:txBody>
      <dsp:txXfrm>
        <a:off x="2230577" y="854285"/>
        <a:ext cx="1953796" cy="1741702"/>
      </dsp:txXfrm>
    </dsp:sp>
    <dsp:sp modelId="{086640BA-A4CA-9745-B2EE-4A918D5CC47F}">
      <dsp:nvSpPr>
        <dsp:cNvPr id="0" name=""/>
        <dsp:cNvSpPr/>
      </dsp:nvSpPr>
      <dsp:spPr>
        <a:xfrm>
          <a:off x="4457906" y="263481"/>
          <a:ext cx="1953796" cy="59080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GB" sz="1200" b="1" kern="1200" dirty="0"/>
            <a:t>Improved Clinical Reliability</a:t>
          </a:r>
          <a:endParaRPr lang="en-US" sz="1200" kern="1200" dirty="0"/>
        </a:p>
      </dsp:txBody>
      <dsp:txXfrm>
        <a:off x="4457906" y="263481"/>
        <a:ext cx="1953796" cy="590804"/>
      </dsp:txXfrm>
    </dsp:sp>
    <dsp:sp modelId="{674BBC2D-4D9A-D94A-B65B-2065A848BAA8}">
      <dsp:nvSpPr>
        <dsp:cNvPr id="0" name=""/>
        <dsp:cNvSpPr/>
      </dsp:nvSpPr>
      <dsp:spPr>
        <a:xfrm>
          <a:off x="4457906" y="854285"/>
          <a:ext cx="1953796" cy="174170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Char char="•"/>
          </a:pPr>
          <a:r>
            <a:rPr lang="en-GB" sz="1200" kern="1200" dirty="0"/>
            <a:t>Reduced alarm fatigue</a:t>
          </a:r>
          <a:endParaRPr lang="en-US" sz="1200" kern="1200" dirty="0"/>
        </a:p>
        <a:p>
          <a:pPr marL="114300" lvl="1" indent="-114300" algn="l" defTabSz="533400">
            <a:lnSpc>
              <a:spcPct val="90000"/>
            </a:lnSpc>
            <a:spcBef>
              <a:spcPct val="0"/>
            </a:spcBef>
            <a:spcAft>
              <a:spcPct val="15000"/>
            </a:spcAft>
            <a:buChar char="•"/>
          </a:pPr>
          <a:r>
            <a:rPr lang="en-GB" sz="1200" kern="1200" dirty="0"/>
            <a:t>Prioritised high recall for patient safety</a:t>
          </a:r>
          <a:endParaRPr lang="en-US" sz="1200" kern="1200" dirty="0"/>
        </a:p>
        <a:p>
          <a:pPr marL="114300" lvl="1" indent="-114300" algn="l" defTabSz="533400">
            <a:lnSpc>
              <a:spcPct val="90000"/>
            </a:lnSpc>
            <a:spcBef>
              <a:spcPct val="0"/>
            </a:spcBef>
            <a:spcAft>
              <a:spcPct val="15000"/>
            </a:spcAft>
            <a:buChar char="•"/>
          </a:pPr>
          <a:r>
            <a:rPr lang="en-GB" sz="1200" kern="1200" dirty="0"/>
            <a:t>Enhanced transparency and clinician trust</a:t>
          </a:r>
          <a:endParaRPr lang="en-US" sz="1200" kern="1200" dirty="0"/>
        </a:p>
      </dsp:txBody>
      <dsp:txXfrm>
        <a:off x="4457906" y="854285"/>
        <a:ext cx="1953796" cy="1741702"/>
      </dsp:txXfrm>
    </dsp:sp>
    <dsp:sp modelId="{9BA4EDD4-609C-A44D-A9DB-748071A17C49}">
      <dsp:nvSpPr>
        <dsp:cNvPr id="0" name=""/>
        <dsp:cNvSpPr/>
      </dsp:nvSpPr>
      <dsp:spPr>
        <a:xfrm>
          <a:off x="6685234" y="263481"/>
          <a:ext cx="1953796" cy="59080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48768" rIns="85344" bIns="48768" numCol="1" spcCol="1270" anchor="ctr" anchorCtr="0">
          <a:noAutofit/>
        </a:bodyPr>
        <a:lstStyle/>
        <a:p>
          <a:pPr marL="0" lvl="0" indent="0" algn="ctr" defTabSz="533400">
            <a:lnSpc>
              <a:spcPct val="90000"/>
            </a:lnSpc>
            <a:spcBef>
              <a:spcPct val="0"/>
            </a:spcBef>
            <a:spcAft>
              <a:spcPct val="35000"/>
            </a:spcAft>
            <a:buNone/>
          </a:pPr>
          <a:r>
            <a:rPr lang="en-GB" sz="1200" b="1" kern="1200" dirty="0"/>
            <a:t>Demonstrated Practical Healthcare Value</a:t>
          </a:r>
          <a:endParaRPr lang="en-GB" sz="1200" kern="1200" dirty="0"/>
        </a:p>
      </dsp:txBody>
      <dsp:txXfrm>
        <a:off x="6685234" y="263481"/>
        <a:ext cx="1953796" cy="590804"/>
      </dsp:txXfrm>
    </dsp:sp>
    <dsp:sp modelId="{B5B7F9E5-0184-4D41-8742-A7657CBF1B89}">
      <dsp:nvSpPr>
        <dsp:cNvPr id="0" name=""/>
        <dsp:cNvSpPr/>
      </dsp:nvSpPr>
      <dsp:spPr>
        <a:xfrm>
          <a:off x="6685234" y="854285"/>
          <a:ext cx="1953796" cy="174170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008" tIns="64008" rIns="85344" bIns="96012"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GB" sz="1200" kern="1200" dirty="0"/>
            <a:t>Converted raw anomaly scores into actionable medical insights</a:t>
          </a:r>
        </a:p>
        <a:p>
          <a:pPr marL="114300" lvl="1" indent="-114300" algn="l" defTabSz="533400">
            <a:lnSpc>
              <a:spcPct val="90000"/>
            </a:lnSpc>
            <a:spcBef>
              <a:spcPct val="0"/>
            </a:spcBef>
            <a:spcAft>
              <a:spcPct val="15000"/>
            </a:spcAft>
            <a:buFont typeface="Arial" panose="020B0604020202020204" pitchFamily="34" charset="0"/>
            <a:buChar char="•"/>
          </a:pPr>
          <a:r>
            <a:rPr lang="en-GB" sz="1200" kern="1200"/>
            <a:t>Supported proactive and context-aware monitoring in mIoT environments</a:t>
          </a:r>
          <a:endParaRPr lang="en-GB" sz="1200" kern="1200" dirty="0"/>
        </a:p>
      </dsp:txBody>
      <dsp:txXfrm>
        <a:off x="6685234" y="854285"/>
        <a:ext cx="1953796" cy="174170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360288-69A7-B745-95A7-A7E66BB82BCF}" type="datetimeFigureOut">
              <a:rPr lang="en-US" smtClean="0"/>
              <a:t>5/12/26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EC9B63-B068-F14C-9CA6-74EEA133A17E}" type="slidenum">
              <a:rPr lang="en-US" smtClean="0"/>
              <a:t>‹#›</a:t>
            </a:fld>
            <a:endParaRPr lang="en-US"/>
          </a:p>
        </p:txBody>
      </p:sp>
    </p:spTree>
    <p:extLst>
      <p:ext uri="{BB962C8B-B14F-4D97-AF65-F5344CB8AC3E}">
        <p14:creationId xmlns:p14="http://schemas.microsoft.com/office/powerpoint/2010/main" val="1099931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problem statement for this research project is that medical IOT sensors  create high volume data which are significantly frequent alerts leading to alarm fatigue and lack of clinical trust for this. We use a machine  learning models not only to </a:t>
            </a:r>
            <a:r>
              <a:rPr lang="en-US" dirty="0" err="1"/>
              <a:t>detetct</a:t>
            </a:r>
            <a:r>
              <a:rPr lang="en-US" dirty="0"/>
              <a:t> anomalies from censor data outputs  which often reads binary outputs like normal and abnormal detections without explaining why an alert was triggered so a solution this research works as an explainable framework using an auto coder SHAP and lime to foster trust and distinguish between device which is technical or a patient health which is medical anomalous.</a:t>
            </a:r>
          </a:p>
        </p:txBody>
      </p:sp>
      <p:sp>
        <p:nvSpPr>
          <p:cNvPr id="4" name="Slide Number Placeholder 3"/>
          <p:cNvSpPr>
            <a:spLocks noGrp="1"/>
          </p:cNvSpPr>
          <p:nvPr>
            <p:ph type="sldNum" sz="quarter" idx="5"/>
          </p:nvPr>
        </p:nvSpPr>
        <p:spPr/>
        <p:txBody>
          <a:bodyPr/>
          <a:lstStyle/>
          <a:p>
            <a:fld id="{9FEC9B63-B068-F14C-9CA6-74EEA133A17E}" type="slidenum">
              <a:rPr lang="en-US" smtClean="0"/>
              <a:t>2</a:t>
            </a:fld>
            <a:endParaRPr lang="en-US"/>
          </a:p>
        </p:txBody>
      </p:sp>
    </p:spTree>
    <p:extLst>
      <p:ext uri="{BB962C8B-B14F-4D97-AF65-F5344CB8AC3E}">
        <p14:creationId xmlns:p14="http://schemas.microsoft.com/office/powerpoint/2010/main" val="1617505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Most current research focuses on the </a:t>
            </a:r>
            <a:r>
              <a:rPr lang="en-GB" b="1" dirty="0"/>
              <a:t>Accuracy</a:t>
            </a:r>
            <a:r>
              <a:rPr lang="en-GB" dirty="0"/>
              <a:t> of detection (e.g., "Our model is 99% accurate"). High accuracy is useless in a hospital if a doctor doesn't know </a:t>
            </a:r>
            <a:r>
              <a:rPr lang="en-GB" i="1" dirty="0"/>
              <a:t>why</a:t>
            </a:r>
            <a:r>
              <a:rPr lang="en-GB" dirty="0"/>
              <a:t> an alarm is ringing. Existing studies treat </a:t>
            </a:r>
            <a:r>
              <a:rPr lang="en-GB" dirty="0" err="1"/>
              <a:t>mIoT</a:t>
            </a:r>
            <a:r>
              <a:rPr lang="en-GB" dirty="0"/>
              <a:t> sensors as simple data points, ignoring the clinical need for "Feature </a:t>
            </a:r>
            <a:r>
              <a:rPr lang="en-GB" dirty="0" err="1"/>
              <a:t>Attribution."In</a:t>
            </a:r>
            <a:r>
              <a:rPr lang="en-GB" dirty="0"/>
              <a:t> a real </a:t>
            </a:r>
            <a:r>
              <a:rPr lang="en-GB" dirty="0" err="1"/>
              <a:t>mIoT</a:t>
            </a:r>
            <a:r>
              <a:rPr lang="en-GB" dirty="0"/>
              <a:t> device (like a smart pacemaker), an anomaly could be a heart attack (Medical) OR a sensor malfunction/hack (Technical). Most papers only look at one or the other. project </a:t>
            </a:r>
            <a:r>
              <a:rPr lang="en-GB" dirty="0" err="1"/>
              <a:t>analyzes</a:t>
            </a:r>
            <a:r>
              <a:rPr lang="en-GB" dirty="0"/>
              <a:t> </a:t>
            </a:r>
            <a:r>
              <a:rPr lang="en-GB" b="1" dirty="0">
                <a:effectLst/>
                <a:latin typeface="Google Sans Text"/>
              </a:rPr>
              <a:t>cross-layer data</a:t>
            </a:r>
            <a:r>
              <a:rPr lang="en-GB" dirty="0"/>
              <a:t>. </a:t>
            </a:r>
            <a:r>
              <a:rPr lang="en-GB"/>
              <a:t>By using SHAP, your model can tell if an anomaly is "Physiological" (coordinated changes in HR and </a:t>
            </a:r>
            <a:r>
              <a:rPr lang="en-GB">
                <a:effectLst/>
                <a:latin typeface="Google Sans Text"/>
              </a:rPr>
              <a:t>$SpO_2$</a:t>
            </a:r>
            <a:r>
              <a:rPr lang="en-GB"/>
              <a:t>) or "Systemic" (erratic spikes in device-layer metadata).</a:t>
            </a:r>
            <a:endParaRPr lang="en-US" dirty="0"/>
          </a:p>
        </p:txBody>
      </p:sp>
      <p:sp>
        <p:nvSpPr>
          <p:cNvPr id="4" name="Slide Number Placeholder 3"/>
          <p:cNvSpPr>
            <a:spLocks noGrp="1"/>
          </p:cNvSpPr>
          <p:nvPr>
            <p:ph type="sldNum" sz="quarter" idx="5"/>
          </p:nvPr>
        </p:nvSpPr>
        <p:spPr/>
        <p:txBody>
          <a:bodyPr/>
          <a:lstStyle/>
          <a:p>
            <a:fld id="{9FEC9B63-B068-F14C-9CA6-74EEA133A17E}" type="slidenum">
              <a:rPr lang="en-US" smtClean="0"/>
              <a:t>3</a:t>
            </a:fld>
            <a:endParaRPr lang="en-US"/>
          </a:p>
        </p:txBody>
      </p:sp>
    </p:spTree>
    <p:extLst>
      <p:ext uri="{BB962C8B-B14F-4D97-AF65-F5344CB8AC3E}">
        <p14:creationId xmlns:p14="http://schemas.microsoft.com/office/powerpoint/2010/main" val="1071100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I have designed and implemented a methodology with the technical framework</a:t>
            </a:r>
          </a:p>
        </p:txBody>
      </p:sp>
      <p:sp>
        <p:nvSpPr>
          <p:cNvPr id="4" name="Slide Number Placeholder 3"/>
          <p:cNvSpPr>
            <a:spLocks noGrp="1"/>
          </p:cNvSpPr>
          <p:nvPr>
            <p:ph type="sldNum" sz="quarter" idx="5"/>
          </p:nvPr>
        </p:nvSpPr>
        <p:spPr/>
        <p:txBody>
          <a:bodyPr/>
          <a:lstStyle/>
          <a:p>
            <a:fld id="{9FEC9B63-B068-F14C-9CA6-74EEA133A17E}" type="slidenum">
              <a:rPr lang="en-US" smtClean="0"/>
              <a:t>4</a:t>
            </a:fld>
            <a:endParaRPr lang="en-US"/>
          </a:p>
        </p:txBody>
      </p:sp>
    </p:spTree>
    <p:extLst>
      <p:ext uri="{BB962C8B-B14F-4D97-AF65-F5344CB8AC3E}">
        <p14:creationId xmlns:p14="http://schemas.microsoft.com/office/powerpoint/2010/main" val="5162064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starting off with the secondary data I said from </a:t>
            </a:r>
            <a:r>
              <a:rPr lang="en-US" dirty="0" err="1"/>
              <a:t>Kegle</a:t>
            </a:r>
            <a:r>
              <a:rPr lang="en-US" dirty="0"/>
              <a:t> with 200 entries and 202,000 data attributes that has the vital readings from advertence and also a parallel device ratings device/device charge is an device ID and I have done the data processing which has included eliminating no value entries and duplicate values to maintain accuracy and also passing data types for redundancy and removing the outliers factors</a:t>
            </a:r>
          </a:p>
          <a:p>
            <a:r>
              <a:rPr lang="en-US" dirty="0"/>
              <a:t>For feature engineering I have taken clinical patient level attributes and device level attributes and performed network featuring and also a passing techniques for a few attribute such as blood pressure using formulas like Z scores which results gives a main atrial pressure. MAP that performs on both BP systolic and BP diastolic which in return check force outliers in heart rate temperatures and remove them and in final we have arose remaining of 2000 in which we will split them train them with the models that we have selected in final</a:t>
            </a:r>
          </a:p>
        </p:txBody>
      </p:sp>
      <p:sp>
        <p:nvSpPr>
          <p:cNvPr id="4" name="Slide Number Placeholder 3"/>
          <p:cNvSpPr>
            <a:spLocks noGrp="1"/>
          </p:cNvSpPr>
          <p:nvPr>
            <p:ph type="sldNum" sz="quarter" idx="5"/>
          </p:nvPr>
        </p:nvSpPr>
        <p:spPr/>
        <p:txBody>
          <a:bodyPr/>
          <a:lstStyle/>
          <a:p>
            <a:fld id="{9FEC9B63-B068-F14C-9CA6-74EEA133A17E}" type="slidenum">
              <a:rPr lang="en-US" smtClean="0"/>
              <a:t>5</a:t>
            </a:fld>
            <a:endParaRPr lang="en-US"/>
          </a:p>
        </p:txBody>
      </p:sp>
    </p:spTree>
    <p:extLst>
      <p:ext uri="{BB962C8B-B14F-4D97-AF65-F5344CB8AC3E}">
        <p14:creationId xmlns:p14="http://schemas.microsoft.com/office/powerpoint/2010/main" val="6642752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for this research I have selected four distinguish models that is isolation forest Canon local outlier factors and a deep learning model which is auto” after implementing these models and validating them against matrix that were popularly used for these kind of experiments such as accuracy precision recall and scoring , which in return gives auto encoder anomalous were identified by high reconstruction error</a:t>
            </a:r>
          </a:p>
          <a:p>
            <a:endParaRPr lang="en-US" dirty="0"/>
          </a:p>
        </p:txBody>
      </p:sp>
      <p:sp>
        <p:nvSpPr>
          <p:cNvPr id="4" name="Slide Number Placeholder 3"/>
          <p:cNvSpPr>
            <a:spLocks noGrp="1"/>
          </p:cNvSpPr>
          <p:nvPr>
            <p:ph type="sldNum" sz="quarter" idx="5"/>
          </p:nvPr>
        </p:nvSpPr>
        <p:spPr/>
        <p:txBody>
          <a:bodyPr/>
          <a:lstStyle/>
          <a:p>
            <a:fld id="{9FEC9B63-B068-F14C-9CA6-74EEA133A17E}" type="slidenum">
              <a:rPr lang="en-US" smtClean="0"/>
              <a:t>6</a:t>
            </a:fld>
            <a:endParaRPr lang="en-US"/>
          </a:p>
        </p:txBody>
      </p:sp>
    </p:spTree>
    <p:extLst>
      <p:ext uri="{BB962C8B-B14F-4D97-AF65-F5344CB8AC3E}">
        <p14:creationId xmlns:p14="http://schemas.microsoft.com/office/powerpoint/2010/main" val="11717041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Coming to the core point of the research and major contribution for this particular project the explainability AI integration for an detection for this I have used SHAP and lime where SHAP access is a primary method which provides global and local feature importance and in my testing it consistently identified heart rate and SPO to a stop drivers clinical anomalous which is obvious and for lime integration which is comparative a baseline popularly used for instance level explanations to </a:t>
            </a:r>
            <a:r>
              <a:rPr lang="en-US" dirty="0" err="1"/>
              <a:t>summarise</a:t>
            </a:r>
            <a:r>
              <a:rPr lang="en-US" dirty="0"/>
              <a:t> SHAP offers higher consistency and fairness in future attribution which is critical for precision diagnostics as lime is faster but can be unstable sometimes producing different explanations for similar data points</a:t>
            </a:r>
          </a:p>
        </p:txBody>
      </p:sp>
      <p:sp>
        <p:nvSpPr>
          <p:cNvPr id="4" name="Slide Number Placeholder 3"/>
          <p:cNvSpPr>
            <a:spLocks noGrp="1"/>
          </p:cNvSpPr>
          <p:nvPr>
            <p:ph type="sldNum" sz="quarter" idx="5"/>
          </p:nvPr>
        </p:nvSpPr>
        <p:spPr/>
        <p:txBody>
          <a:bodyPr/>
          <a:lstStyle/>
          <a:p>
            <a:fld id="{9FEC9B63-B068-F14C-9CA6-74EEA133A17E}" type="slidenum">
              <a:rPr lang="en-US" smtClean="0"/>
              <a:t>7</a:t>
            </a:fld>
            <a:endParaRPr lang="en-US"/>
          </a:p>
        </p:txBody>
      </p:sp>
    </p:spTree>
    <p:extLst>
      <p:ext uri="{BB962C8B-B14F-4D97-AF65-F5344CB8AC3E}">
        <p14:creationId xmlns:p14="http://schemas.microsoft.com/office/powerpoint/2010/main" val="38570596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care results and clinical synthesis based on the performance matrix such as recalled position accuracy and F scoring isolation forest as achieved the best overall results with F1 score of 0.743 and AUCROC 0.798 The auto” provides a higher recall of 1.00 and sharing no critical medical events were miss but with a lower precision score of 0.475 which can be determined with this result screenshot</a:t>
            </a:r>
          </a:p>
        </p:txBody>
      </p:sp>
      <p:sp>
        <p:nvSpPr>
          <p:cNvPr id="4" name="Slide Number Placeholder 3"/>
          <p:cNvSpPr>
            <a:spLocks noGrp="1"/>
          </p:cNvSpPr>
          <p:nvPr>
            <p:ph type="sldNum" sz="quarter" idx="5"/>
          </p:nvPr>
        </p:nvSpPr>
        <p:spPr/>
        <p:txBody>
          <a:bodyPr/>
          <a:lstStyle/>
          <a:p>
            <a:fld id="{9FEC9B63-B068-F14C-9CA6-74EEA133A17E}" type="slidenum">
              <a:rPr lang="en-US" smtClean="0"/>
              <a:t>8</a:t>
            </a:fld>
            <a:endParaRPr lang="en-US"/>
          </a:p>
        </p:txBody>
      </p:sp>
    </p:spTree>
    <p:extLst>
      <p:ext uri="{BB962C8B-B14F-4D97-AF65-F5344CB8AC3E}">
        <p14:creationId xmlns:p14="http://schemas.microsoft.com/office/powerpoint/2010/main" val="13392782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for clinical value synthesis this framework allows clinics to distinguish between medical anomalous and technical anomalous medical anomalous being patient level readings and technical anomalous being device sensor device error so medical anomalous have driven by a multiple physiological shifts like heart rate and SPO readings anomalous is being driven by isolations and errors of sense of </a:t>
            </a:r>
            <a:r>
              <a:rPr lang="en-US" dirty="0" err="1"/>
              <a:t>behaviour</a:t>
            </a:r>
            <a:r>
              <a:rPr lang="en-US" dirty="0"/>
              <a:t> network flex</a:t>
            </a:r>
          </a:p>
        </p:txBody>
      </p:sp>
      <p:sp>
        <p:nvSpPr>
          <p:cNvPr id="4" name="Slide Number Placeholder 3"/>
          <p:cNvSpPr>
            <a:spLocks noGrp="1"/>
          </p:cNvSpPr>
          <p:nvPr>
            <p:ph type="sldNum" sz="quarter" idx="5"/>
          </p:nvPr>
        </p:nvSpPr>
        <p:spPr/>
        <p:txBody>
          <a:bodyPr/>
          <a:lstStyle/>
          <a:p>
            <a:fld id="{9FEC9B63-B068-F14C-9CA6-74EEA133A17E}" type="slidenum">
              <a:rPr lang="en-US" smtClean="0"/>
              <a:t>9</a:t>
            </a:fld>
            <a:endParaRPr lang="en-US"/>
          </a:p>
        </p:txBody>
      </p:sp>
    </p:spTree>
    <p:extLst>
      <p:ext uri="{BB962C8B-B14F-4D97-AF65-F5344CB8AC3E}">
        <p14:creationId xmlns:p14="http://schemas.microsoft.com/office/powerpoint/2010/main" val="26039099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successfully breached the interpretability cap by showing why a model flags anomaly from both patient data and device data which is both medical and technical but there are some limitations for these framework like SHAP has a high computational cost which may require a hybrid cloud edge deployment for accurate results, which is why I’m not able to generate and explainability outcomes for sharp other than a feature importance and also for result time variables since the data I have selected has 2000 attributes which is not possible for sharp to perform accurately in my device and requires a cloud deployment to perform accurately which will be a limitation for this framework </a:t>
            </a:r>
          </a:p>
        </p:txBody>
      </p:sp>
      <p:sp>
        <p:nvSpPr>
          <p:cNvPr id="4" name="Slide Number Placeholder 3"/>
          <p:cNvSpPr>
            <a:spLocks noGrp="1"/>
          </p:cNvSpPr>
          <p:nvPr>
            <p:ph type="sldNum" sz="quarter" idx="5"/>
          </p:nvPr>
        </p:nvSpPr>
        <p:spPr/>
        <p:txBody>
          <a:bodyPr/>
          <a:lstStyle/>
          <a:p>
            <a:fld id="{9FEC9B63-B068-F14C-9CA6-74EEA133A17E}" type="slidenum">
              <a:rPr lang="en-US" smtClean="0"/>
              <a:t>10</a:t>
            </a:fld>
            <a:endParaRPr lang="en-US"/>
          </a:p>
        </p:txBody>
      </p:sp>
    </p:spTree>
    <p:extLst>
      <p:ext uri="{BB962C8B-B14F-4D97-AF65-F5344CB8AC3E}">
        <p14:creationId xmlns:p14="http://schemas.microsoft.com/office/powerpoint/2010/main" val="33350890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FEC9B63-B068-F14C-9CA6-74EEA133A17E}" type="slidenum">
              <a:rPr lang="en-US" smtClean="0"/>
              <a:t>11</a:t>
            </a:fld>
            <a:endParaRPr lang="en-US"/>
          </a:p>
        </p:txBody>
      </p:sp>
    </p:spTree>
    <p:extLst>
      <p:ext uri="{BB962C8B-B14F-4D97-AF65-F5344CB8AC3E}">
        <p14:creationId xmlns:p14="http://schemas.microsoft.com/office/powerpoint/2010/main" val="17726622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Explainability is not optional but fundamental requirement for safe deployment of artificial intelligence into healthcare which intern makes a trustworthy clinical decision support framework for next generation healthcare monitor</a:t>
            </a:r>
          </a:p>
        </p:txBody>
      </p:sp>
      <p:sp>
        <p:nvSpPr>
          <p:cNvPr id="4" name="Slide Number Placeholder 3"/>
          <p:cNvSpPr>
            <a:spLocks noGrp="1"/>
          </p:cNvSpPr>
          <p:nvPr>
            <p:ph type="sldNum" sz="quarter" idx="5"/>
          </p:nvPr>
        </p:nvSpPr>
        <p:spPr/>
        <p:txBody>
          <a:bodyPr/>
          <a:lstStyle/>
          <a:p>
            <a:fld id="{9FEC9B63-B068-F14C-9CA6-74EEA133A17E}" type="slidenum">
              <a:rPr lang="en-US" smtClean="0"/>
              <a:t>12</a:t>
            </a:fld>
            <a:endParaRPr lang="en-US"/>
          </a:p>
        </p:txBody>
      </p:sp>
    </p:spTree>
    <p:extLst>
      <p:ext uri="{BB962C8B-B14F-4D97-AF65-F5344CB8AC3E}">
        <p14:creationId xmlns:p14="http://schemas.microsoft.com/office/powerpoint/2010/main" val="3941106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5/12/26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30952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5/12/26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2257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5/12/26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279557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5/12/26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48340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5/12/26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70107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5/12/26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08638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5/12/26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74244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5/12/26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14632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5/12/26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08623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5/12/26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29774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5/12/26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99336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5/12/26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671192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image" Target="../media/image7.png"/><Relationship Id="rId7" Type="http://schemas.openxmlformats.org/officeDocument/2006/relationships/diagramData" Target="../diagrams/data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11" Type="http://schemas.microsoft.com/office/2007/relationships/diagramDrawing" Target="../diagrams/drawing4.xml"/><Relationship Id="rId5" Type="http://schemas.openxmlformats.org/officeDocument/2006/relationships/image" Target="../media/image9.png"/><Relationship Id="rId10" Type="http://schemas.openxmlformats.org/officeDocument/2006/relationships/diagramColors" Target="../diagrams/colors4.xml"/><Relationship Id="rId4" Type="http://schemas.openxmlformats.org/officeDocument/2006/relationships/image" Target="../media/image8.png"/><Relationship Id="rId9"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www.cxo-community.com/2020/05/inteligencia-artificial-etica-y-defensa.html"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6.xml"/><Relationship Id="rId11" Type="http://schemas.openxmlformats.org/officeDocument/2006/relationships/hyperlink" Target="https://www.dreamstime.com/predictive-modeling-future-data-prediction-analysis-outline-diagram-as-forecasting-financial-information-mathematical-image316815846" TargetMode="External"/><Relationship Id="rId5" Type="http://schemas.openxmlformats.org/officeDocument/2006/relationships/diagramQuickStyle" Target="../diagrams/quickStyle6.xml"/><Relationship Id="rId10" Type="http://schemas.openxmlformats.org/officeDocument/2006/relationships/image" Target="../media/image22.jpg"/><Relationship Id="rId4" Type="http://schemas.openxmlformats.org/officeDocument/2006/relationships/diagramLayout" Target="../diagrams/layout6.xml"/><Relationship Id="rId9" Type="http://schemas.openxmlformats.org/officeDocument/2006/relationships/hyperlink" Target="https://litfl.com/tag/ai-prompt-generation/"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57A80FD-B734-0FE5-DA11-2F89C76722AD}"/>
              </a:ext>
            </a:extLst>
          </p:cNvPr>
          <p:cNvSpPr>
            <a:spLocks noGrp="1"/>
          </p:cNvSpPr>
          <p:nvPr>
            <p:ph type="ctrTitle"/>
          </p:nvPr>
        </p:nvSpPr>
        <p:spPr>
          <a:xfrm>
            <a:off x="6284749" y="909637"/>
            <a:ext cx="5686740" cy="2648807"/>
          </a:xfrm>
        </p:spPr>
        <p:txBody>
          <a:bodyPr vert="horz" lIns="91440" tIns="45720" rIns="91440" bIns="45720" rtlCol="0" anchor="t">
            <a:normAutofit/>
          </a:bodyPr>
          <a:lstStyle/>
          <a:p>
            <a:pPr>
              <a:lnSpc>
                <a:spcPct val="90000"/>
              </a:lnSpc>
            </a:pPr>
            <a:r>
              <a:rPr lang="en-US" sz="2800" dirty="0"/>
              <a:t>Explainable Machine Learning (XAI) for Anomaly Detection in Medical IoT Sensor Data</a:t>
            </a:r>
          </a:p>
        </p:txBody>
      </p:sp>
      <p:pic>
        <p:nvPicPr>
          <p:cNvPr id="4" name="Picture 3" descr="Scan of a human brain in a neurology clinic">
            <a:extLst>
              <a:ext uri="{FF2B5EF4-FFF2-40B4-BE49-F238E27FC236}">
                <a16:creationId xmlns:a16="http://schemas.microsoft.com/office/drawing/2014/main" id="{E8C0F860-F836-DFA0-9ADD-2A847C37BC1D}"/>
              </a:ext>
            </a:extLst>
          </p:cNvPr>
          <p:cNvPicPr>
            <a:picLocks noChangeAspect="1"/>
          </p:cNvPicPr>
          <p:nvPr/>
        </p:nvPicPr>
        <p:blipFill>
          <a:blip r:embed="rId2"/>
          <a:srcRect l="37809"/>
          <a:stretch>
            <a:fillRect/>
          </a:stretch>
        </p:blipFill>
        <p:spPr>
          <a:xfrm>
            <a:off x="20" y="10"/>
            <a:ext cx="5686740" cy="6857990"/>
          </a:xfrm>
          <a:prstGeom prst="rect">
            <a:avLst/>
          </a:prstGeom>
        </p:spPr>
      </p:pic>
      <p:cxnSp>
        <p:nvCxnSpPr>
          <p:cNvPr id="15" name="Straight Connector 14">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22739" y="722376"/>
            <a:ext cx="16002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F8AAC7A8-2680-F359-F361-6FC5192CD314}"/>
              </a:ext>
            </a:extLst>
          </p:cNvPr>
          <p:cNvSpPr>
            <a:spLocks noGrp="1"/>
          </p:cNvSpPr>
          <p:nvPr>
            <p:ph type="subTitle" idx="1"/>
          </p:nvPr>
        </p:nvSpPr>
        <p:spPr>
          <a:xfrm>
            <a:off x="6290838" y="4909273"/>
            <a:ext cx="5201121" cy="1259489"/>
          </a:xfrm>
        </p:spPr>
        <p:txBody>
          <a:bodyPr vert="horz" lIns="91440" tIns="45720" rIns="91440" bIns="45720" rtlCol="0">
            <a:normAutofit fontScale="77500" lnSpcReduction="20000"/>
          </a:bodyPr>
          <a:lstStyle/>
          <a:p>
            <a:pPr indent="-228600">
              <a:buFont typeface="Arial" panose="020B0604020202020204" pitchFamily="34" charset="0"/>
              <a:buChar char="•"/>
            </a:pPr>
            <a:endParaRPr lang="en-US" dirty="0"/>
          </a:p>
          <a:p>
            <a:r>
              <a:rPr lang="en-US" dirty="0"/>
              <a:t>Joslin Gadde</a:t>
            </a:r>
            <a:br>
              <a:rPr lang="en-US" dirty="0"/>
            </a:br>
            <a:r>
              <a:rPr lang="en-US" dirty="0"/>
              <a:t>Student ID: 20076078</a:t>
            </a:r>
          </a:p>
          <a:p>
            <a:r>
              <a:rPr lang="en-US" dirty="0"/>
              <a:t>Supervisor : Salem Serif</a:t>
            </a:r>
          </a:p>
        </p:txBody>
      </p:sp>
      <p:sp>
        <p:nvSpPr>
          <p:cNvPr id="6" name="TextBox 5">
            <a:extLst>
              <a:ext uri="{FF2B5EF4-FFF2-40B4-BE49-F238E27FC236}">
                <a16:creationId xmlns:a16="http://schemas.microsoft.com/office/drawing/2014/main" id="{5B5431BB-0662-29E1-DB97-7A5EDFD5F5F0}"/>
              </a:ext>
            </a:extLst>
          </p:cNvPr>
          <p:cNvSpPr txBox="1"/>
          <p:nvPr/>
        </p:nvSpPr>
        <p:spPr>
          <a:xfrm>
            <a:off x="6175880" y="3662778"/>
            <a:ext cx="4256073" cy="1246495"/>
          </a:xfrm>
          <a:prstGeom prst="rect">
            <a:avLst/>
          </a:prstGeom>
          <a:noFill/>
        </p:spPr>
        <p:txBody>
          <a:bodyPr wrap="square">
            <a:spAutoFit/>
          </a:bodyPr>
          <a:lstStyle/>
          <a:p>
            <a:r>
              <a:rPr lang="en-US" sz="2500" cap="all" spc="30" dirty="0">
                <a:latin typeface="+mj-lt"/>
                <a:ea typeface="+mj-ea"/>
                <a:cs typeface="+mj-cs"/>
              </a:rPr>
              <a:t>Bridging the Interpretability Gap in Clinical Monitoring</a:t>
            </a:r>
          </a:p>
        </p:txBody>
      </p:sp>
    </p:spTree>
    <p:extLst>
      <p:ext uri="{BB962C8B-B14F-4D97-AF65-F5344CB8AC3E}">
        <p14:creationId xmlns:p14="http://schemas.microsoft.com/office/powerpoint/2010/main" val="13747527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7FBC9-FDD0-3753-43D0-9BD08EFEDD58}"/>
              </a:ext>
            </a:extLst>
          </p:cNvPr>
          <p:cNvSpPr>
            <a:spLocks noGrp="1"/>
          </p:cNvSpPr>
          <p:nvPr>
            <p:ph type="title"/>
          </p:nvPr>
        </p:nvSpPr>
        <p:spPr>
          <a:xfrm>
            <a:off x="700634" y="749077"/>
            <a:ext cx="10691265" cy="1307592"/>
          </a:xfrm>
        </p:spPr>
        <p:txBody>
          <a:bodyPr>
            <a:normAutofit fontScale="90000"/>
          </a:bodyPr>
          <a:lstStyle/>
          <a:p>
            <a:r>
              <a:rPr lang="en-GB" b="1" dirty="0"/>
              <a:t>Problem Statement &amp; Motivation</a:t>
            </a:r>
            <a:br>
              <a:rPr lang="en-GB" b="1" dirty="0"/>
            </a:br>
            <a:endParaRPr lang="en-US" dirty="0"/>
          </a:p>
        </p:txBody>
      </p:sp>
      <p:graphicFrame>
        <p:nvGraphicFramePr>
          <p:cNvPr id="10" name="Content Placeholder 2">
            <a:extLst>
              <a:ext uri="{FF2B5EF4-FFF2-40B4-BE49-F238E27FC236}">
                <a16:creationId xmlns:a16="http://schemas.microsoft.com/office/drawing/2014/main" id="{9EB783A1-7538-132F-B86E-FC1AABE8CC15}"/>
              </a:ext>
            </a:extLst>
          </p:cNvPr>
          <p:cNvGraphicFramePr>
            <a:graphicFrameLocks noGrp="1"/>
          </p:cNvGraphicFramePr>
          <p:nvPr>
            <p:ph idx="1"/>
            <p:extLst>
              <p:ext uri="{D42A27DB-BD31-4B8C-83A1-F6EECF244321}">
                <p14:modId xmlns:p14="http://schemas.microsoft.com/office/powerpoint/2010/main" val="2754932153"/>
              </p:ext>
            </p:extLst>
          </p:nvPr>
        </p:nvGraphicFramePr>
        <p:xfrm>
          <a:off x="546399" y="1410475"/>
          <a:ext cx="10691265" cy="37398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36D482B3-88E3-9045-024F-5210134044A4}"/>
              </a:ext>
            </a:extLst>
          </p:cNvPr>
          <p:cNvGraphicFramePr/>
          <p:nvPr>
            <p:extLst>
              <p:ext uri="{D42A27DB-BD31-4B8C-83A1-F6EECF244321}">
                <p14:modId xmlns:p14="http://schemas.microsoft.com/office/powerpoint/2010/main" val="1587998400"/>
              </p:ext>
            </p:extLst>
          </p:nvPr>
        </p:nvGraphicFramePr>
        <p:xfrm>
          <a:off x="845544" y="5250137"/>
          <a:ext cx="8177270" cy="56163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820057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C6E618-F7A9-1BEA-71E2-9ED2413CFD26}"/>
              </a:ext>
            </a:extLst>
          </p:cNvPr>
          <p:cNvSpPr>
            <a:spLocks noGrp="1"/>
          </p:cNvSpPr>
          <p:nvPr>
            <p:ph type="title"/>
          </p:nvPr>
        </p:nvSpPr>
        <p:spPr>
          <a:xfrm>
            <a:off x="705612" y="622399"/>
            <a:ext cx="10780776" cy="1180210"/>
          </a:xfrm>
        </p:spPr>
        <p:txBody>
          <a:bodyPr vert="horz" lIns="91440" tIns="45720" rIns="91440" bIns="45720" rtlCol="0" anchor="t">
            <a:normAutofit/>
          </a:bodyPr>
          <a:lstStyle/>
          <a:p>
            <a:r>
              <a:rPr lang="en-US" b="1" dirty="0"/>
              <a:t>Literature Review &amp; Research Gap</a:t>
            </a:r>
            <a:endParaRPr lang="en-US" dirty="0"/>
          </a:p>
        </p:txBody>
      </p:sp>
      <p:cxnSp>
        <p:nvCxnSpPr>
          <p:cNvPr id="13" name="Straight Connector 12">
            <a:extLst>
              <a:ext uri="{FF2B5EF4-FFF2-40B4-BE49-F238E27FC236}">
                <a16:creationId xmlns:a16="http://schemas.microsoft.com/office/drawing/2014/main" id="{4E495065-8864-87FB-2BCC-254769963E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AD41390-C706-9733-9E98-7AD7E2EC71BB}"/>
              </a:ext>
            </a:extLst>
          </p:cNvPr>
          <p:cNvSpPr txBox="1"/>
          <p:nvPr/>
        </p:nvSpPr>
        <p:spPr>
          <a:xfrm>
            <a:off x="8141465" y="4593728"/>
            <a:ext cx="3492347" cy="923330"/>
          </a:xfrm>
          <a:prstGeom prst="rect">
            <a:avLst/>
          </a:prstGeom>
          <a:noFill/>
        </p:spPr>
        <p:txBody>
          <a:bodyPr wrap="square">
            <a:spAutoFit/>
          </a:bodyPr>
          <a:lstStyle/>
          <a:p>
            <a:r>
              <a:rPr lang="en-US" b="1" dirty="0"/>
              <a:t>Proposed Solution: </a:t>
            </a:r>
          </a:p>
          <a:p>
            <a:r>
              <a:rPr lang="en-US" dirty="0"/>
              <a:t>Autoencoder + SHAP + Clinical Decision Layer(future work)</a:t>
            </a:r>
          </a:p>
        </p:txBody>
      </p:sp>
      <p:graphicFrame>
        <p:nvGraphicFramePr>
          <p:cNvPr id="15" name="TextBox 5">
            <a:extLst>
              <a:ext uri="{FF2B5EF4-FFF2-40B4-BE49-F238E27FC236}">
                <a16:creationId xmlns:a16="http://schemas.microsoft.com/office/drawing/2014/main" id="{D665D51B-A125-3BCE-2A56-AB230BB71726}"/>
              </a:ext>
            </a:extLst>
          </p:cNvPr>
          <p:cNvGraphicFramePr/>
          <p:nvPr>
            <p:extLst>
              <p:ext uri="{D42A27DB-BD31-4B8C-83A1-F6EECF244321}">
                <p14:modId xmlns:p14="http://schemas.microsoft.com/office/powerpoint/2010/main" val="2035325718"/>
              </p:ext>
            </p:extLst>
          </p:nvPr>
        </p:nvGraphicFramePr>
        <p:xfrm>
          <a:off x="8141465" y="1641513"/>
          <a:ext cx="3869400" cy="295826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9" name="Table 8">
            <a:extLst>
              <a:ext uri="{FF2B5EF4-FFF2-40B4-BE49-F238E27FC236}">
                <a16:creationId xmlns:a16="http://schemas.microsoft.com/office/drawing/2014/main" id="{6EFE9959-9FD4-512B-8CE4-DC9A64C98B7A}"/>
              </a:ext>
            </a:extLst>
          </p:cNvPr>
          <p:cNvGraphicFramePr>
            <a:graphicFrameLocks noGrp="1"/>
          </p:cNvGraphicFramePr>
          <p:nvPr>
            <p:extLst>
              <p:ext uri="{D42A27DB-BD31-4B8C-83A1-F6EECF244321}">
                <p14:modId xmlns:p14="http://schemas.microsoft.com/office/powerpoint/2010/main" val="921476076"/>
              </p:ext>
            </p:extLst>
          </p:nvPr>
        </p:nvGraphicFramePr>
        <p:xfrm>
          <a:off x="297454" y="1802610"/>
          <a:ext cx="7755876" cy="4739599"/>
        </p:xfrm>
        <a:graphic>
          <a:graphicData uri="http://schemas.openxmlformats.org/drawingml/2006/table">
            <a:tbl>
              <a:tblPr firstRow="1" firstCol="1" bandRow="1">
                <a:tableStyleId>{5C22544A-7EE6-4342-B048-85BDC9FD1C3A}</a:tableStyleId>
              </a:tblPr>
              <a:tblGrid>
                <a:gridCol w="1938969">
                  <a:extLst>
                    <a:ext uri="{9D8B030D-6E8A-4147-A177-3AD203B41FA5}">
                      <a16:colId xmlns:a16="http://schemas.microsoft.com/office/drawing/2014/main" val="212627063"/>
                    </a:ext>
                  </a:extLst>
                </a:gridCol>
                <a:gridCol w="1938969">
                  <a:extLst>
                    <a:ext uri="{9D8B030D-6E8A-4147-A177-3AD203B41FA5}">
                      <a16:colId xmlns:a16="http://schemas.microsoft.com/office/drawing/2014/main" val="1970051941"/>
                    </a:ext>
                  </a:extLst>
                </a:gridCol>
                <a:gridCol w="1938969">
                  <a:extLst>
                    <a:ext uri="{9D8B030D-6E8A-4147-A177-3AD203B41FA5}">
                      <a16:colId xmlns:a16="http://schemas.microsoft.com/office/drawing/2014/main" val="1829373102"/>
                    </a:ext>
                  </a:extLst>
                </a:gridCol>
                <a:gridCol w="1938969">
                  <a:extLst>
                    <a:ext uri="{9D8B030D-6E8A-4147-A177-3AD203B41FA5}">
                      <a16:colId xmlns:a16="http://schemas.microsoft.com/office/drawing/2014/main" val="1758750876"/>
                    </a:ext>
                  </a:extLst>
                </a:gridCol>
              </a:tblGrid>
              <a:tr h="921289">
                <a:tc>
                  <a:txBody>
                    <a:bodyPr/>
                    <a:lstStyle/>
                    <a:p>
                      <a:r>
                        <a:rPr lang="en-GB" sz="1200" kern="100" dirty="0">
                          <a:effectLst/>
                        </a:rPr>
                        <a:t>Feature</a:t>
                      </a:r>
                      <a:endParaRPr lang="en-GB" sz="1200" kern="100" dirty="0">
                        <a:effectLst/>
                        <a:latin typeface="Aptos" panose="020B0004020202020204" pitchFamily="34" charset="0"/>
                        <a:ea typeface="Times New Roman" panose="02020603050405020304" pitchFamily="18" charset="0"/>
                      </a:endParaRPr>
                    </a:p>
                  </a:txBody>
                  <a:tcPr marL="68580" marR="68580" marT="0" marB="0"/>
                </a:tc>
                <a:tc>
                  <a:txBody>
                    <a:bodyPr/>
                    <a:lstStyle/>
                    <a:p>
                      <a:r>
                        <a:rPr lang="en-GB" sz="1000" kern="100" dirty="0">
                          <a:effectLst/>
                        </a:rPr>
                        <a:t>SHAP (Shapley Additive Explanations)</a:t>
                      </a:r>
                      <a:endParaRPr lang="en-GB" sz="1000" kern="100" dirty="0">
                        <a:effectLst/>
                        <a:latin typeface="Aptos" panose="020B0004020202020204" pitchFamily="34" charset="0"/>
                        <a:ea typeface="Times New Roman" panose="02020603050405020304" pitchFamily="18" charset="0"/>
                      </a:endParaRPr>
                    </a:p>
                  </a:txBody>
                  <a:tcPr marL="68580" marR="68580" marT="0" marB="0"/>
                </a:tc>
                <a:tc>
                  <a:txBody>
                    <a:bodyPr/>
                    <a:lstStyle/>
                    <a:p>
                      <a:r>
                        <a:rPr lang="en-GB" sz="1000" kern="100">
                          <a:effectLst/>
                        </a:rPr>
                        <a:t>LIME (Local Interpretable Model-agnostic Explanations)</a:t>
                      </a:r>
                      <a:endParaRPr lang="en-GB" sz="1000" kern="100">
                        <a:effectLst/>
                        <a:latin typeface="Aptos" panose="020B0004020202020204" pitchFamily="34" charset="0"/>
                        <a:ea typeface="Times New Roman" panose="02020603050405020304" pitchFamily="18" charset="0"/>
                      </a:endParaRPr>
                    </a:p>
                  </a:txBody>
                  <a:tcPr marL="68580" marR="68580" marT="0" marB="0"/>
                </a:tc>
                <a:tc>
                  <a:txBody>
                    <a:bodyPr/>
                    <a:lstStyle/>
                    <a:p>
                      <a:r>
                        <a:rPr lang="en-GB" sz="1000" kern="100" dirty="0">
                          <a:effectLst/>
                        </a:rPr>
                        <a:t>Grad-CAM (Gradient-weighted Class Activation Mapping)</a:t>
                      </a:r>
                      <a:endParaRPr lang="en-GB" sz="1000" kern="100" dirty="0">
                        <a:effectLst/>
                        <a:latin typeface="Aptos" panose="020B00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067634110"/>
                  </a:ext>
                </a:extLst>
              </a:tr>
              <a:tr h="460645">
                <a:tc>
                  <a:txBody>
                    <a:bodyPr/>
                    <a:lstStyle/>
                    <a:p>
                      <a:r>
                        <a:rPr lang="en-GB" sz="1200" kern="100" dirty="0">
                          <a:effectLst/>
                        </a:rPr>
                        <a:t>Explanation Type</a:t>
                      </a:r>
                      <a:endParaRPr lang="en-GB" sz="1200" kern="100" dirty="0">
                        <a:effectLst/>
                        <a:latin typeface="Aptos" panose="020B0004020202020204" pitchFamily="34" charset="0"/>
                        <a:ea typeface="Times New Roman" panose="02020603050405020304" pitchFamily="18" charset="0"/>
                      </a:endParaRPr>
                    </a:p>
                  </a:txBody>
                  <a:tcPr marL="68580" marR="68580" marT="0" marB="0"/>
                </a:tc>
                <a:tc>
                  <a:txBody>
                    <a:bodyPr/>
                    <a:lstStyle/>
                    <a:p>
                      <a:r>
                        <a:rPr lang="en-GB" sz="1000" kern="100">
                          <a:effectLst/>
                        </a:rPr>
                        <a:t>Local &amp; Global</a:t>
                      </a:r>
                      <a:endParaRPr lang="en-GB" sz="1000" kern="100">
                        <a:effectLst/>
                        <a:latin typeface="Aptos" panose="020B0004020202020204" pitchFamily="34" charset="0"/>
                        <a:ea typeface="Times New Roman" panose="02020603050405020304" pitchFamily="18" charset="0"/>
                      </a:endParaRPr>
                    </a:p>
                  </a:txBody>
                  <a:tcPr marL="68580" marR="68580" marT="0" marB="0"/>
                </a:tc>
                <a:tc>
                  <a:txBody>
                    <a:bodyPr/>
                    <a:lstStyle/>
                    <a:p>
                      <a:r>
                        <a:rPr lang="en-GB" sz="1000" kern="100">
                          <a:effectLst/>
                        </a:rPr>
                        <a:t>Primarily Local</a:t>
                      </a:r>
                      <a:endParaRPr lang="en-GB" sz="1000" kern="100">
                        <a:effectLst/>
                        <a:latin typeface="Aptos" panose="020B0004020202020204" pitchFamily="34" charset="0"/>
                        <a:ea typeface="Times New Roman" panose="02020603050405020304" pitchFamily="18" charset="0"/>
                      </a:endParaRPr>
                    </a:p>
                  </a:txBody>
                  <a:tcPr marL="68580" marR="68580" marT="0" marB="0"/>
                </a:tc>
                <a:tc>
                  <a:txBody>
                    <a:bodyPr/>
                    <a:lstStyle/>
                    <a:p>
                      <a:r>
                        <a:rPr lang="en-GB" sz="1000" kern="100" dirty="0">
                          <a:effectLst/>
                        </a:rPr>
                        <a:t>Visual/Saliency Maps</a:t>
                      </a:r>
                      <a:endParaRPr lang="en-GB" sz="1000" kern="100" dirty="0">
                        <a:effectLst/>
                        <a:latin typeface="Aptos" panose="020B00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2467787431"/>
                  </a:ext>
                </a:extLst>
              </a:tr>
              <a:tr h="505029">
                <a:tc>
                  <a:txBody>
                    <a:bodyPr/>
                    <a:lstStyle/>
                    <a:p>
                      <a:r>
                        <a:rPr lang="en-GB" sz="1200" kern="100" dirty="0">
                          <a:effectLst/>
                        </a:rPr>
                        <a:t>Model Compatibility</a:t>
                      </a:r>
                      <a:endParaRPr lang="en-GB" sz="1200" kern="100" dirty="0">
                        <a:effectLst/>
                        <a:latin typeface="Aptos" panose="020B0004020202020204" pitchFamily="34" charset="0"/>
                        <a:ea typeface="Times New Roman" panose="02020603050405020304" pitchFamily="18" charset="0"/>
                      </a:endParaRPr>
                    </a:p>
                  </a:txBody>
                  <a:tcPr marL="68580" marR="68580" marT="0" marB="0"/>
                </a:tc>
                <a:tc>
                  <a:txBody>
                    <a:bodyPr/>
                    <a:lstStyle/>
                    <a:p>
                      <a:r>
                        <a:rPr lang="en-GB" sz="1000" kern="100">
                          <a:effectLst/>
                        </a:rPr>
                        <a:t>Model-Agnostic (works with any model)</a:t>
                      </a:r>
                      <a:endParaRPr lang="en-GB" sz="1000" kern="100">
                        <a:effectLst/>
                        <a:latin typeface="Aptos" panose="020B0004020202020204" pitchFamily="34" charset="0"/>
                        <a:ea typeface="Times New Roman" panose="02020603050405020304" pitchFamily="18" charset="0"/>
                      </a:endParaRPr>
                    </a:p>
                  </a:txBody>
                  <a:tcPr marL="68580" marR="68580" marT="0" marB="0"/>
                </a:tc>
                <a:tc>
                  <a:txBody>
                    <a:bodyPr/>
                    <a:lstStyle/>
                    <a:p>
                      <a:r>
                        <a:rPr lang="en-GB" sz="1000" kern="100">
                          <a:effectLst/>
                        </a:rPr>
                        <a:t>Model-Agnostic</a:t>
                      </a:r>
                      <a:endParaRPr lang="en-GB" sz="1000" kern="100">
                        <a:effectLst/>
                        <a:latin typeface="Aptos" panose="020B0004020202020204" pitchFamily="34" charset="0"/>
                        <a:ea typeface="Times New Roman" panose="02020603050405020304" pitchFamily="18" charset="0"/>
                      </a:endParaRPr>
                    </a:p>
                  </a:txBody>
                  <a:tcPr marL="68580" marR="68580" marT="0" marB="0"/>
                </a:tc>
                <a:tc>
                  <a:txBody>
                    <a:bodyPr/>
                    <a:lstStyle/>
                    <a:p>
                      <a:r>
                        <a:rPr lang="en-GB" sz="1000" kern="100">
                          <a:effectLst/>
                        </a:rPr>
                        <a:t>Model-Specific (CNNs/Deep Learning only)</a:t>
                      </a:r>
                      <a:endParaRPr lang="en-GB" sz="1000" kern="100">
                        <a:effectLst/>
                        <a:latin typeface="Aptos" panose="020B00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4111001704"/>
                  </a:ext>
                </a:extLst>
              </a:tr>
              <a:tr h="505029">
                <a:tc>
                  <a:txBody>
                    <a:bodyPr/>
                    <a:lstStyle/>
                    <a:p>
                      <a:r>
                        <a:rPr lang="en-GB" sz="1200" kern="100" dirty="0">
                          <a:effectLst/>
                        </a:rPr>
                        <a:t>Mathematical Basis</a:t>
                      </a:r>
                      <a:endParaRPr lang="en-GB" sz="1200" kern="100" dirty="0">
                        <a:effectLst/>
                        <a:latin typeface="Aptos" panose="020B0004020202020204" pitchFamily="34" charset="0"/>
                        <a:ea typeface="Times New Roman" panose="02020603050405020304" pitchFamily="18" charset="0"/>
                      </a:endParaRPr>
                    </a:p>
                  </a:txBody>
                  <a:tcPr marL="68580" marR="68580" marT="0" marB="0"/>
                </a:tc>
                <a:tc>
                  <a:txBody>
                    <a:bodyPr/>
                    <a:lstStyle/>
                    <a:p>
                      <a:r>
                        <a:rPr lang="en-GB" sz="1000" kern="100">
                          <a:effectLst/>
                        </a:rPr>
                        <a:t>Cooperative Game Theory (Shapley Values)</a:t>
                      </a:r>
                      <a:endParaRPr lang="en-GB" sz="1000" kern="100">
                        <a:effectLst/>
                        <a:latin typeface="Aptos" panose="020B0004020202020204" pitchFamily="34" charset="0"/>
                        <a:ea typeface="Times New Roman" panose="02020603050405020304" pitchFamily="18" charset="0"/>
                      </a:endParaRPr>
                    </a:p>
                  </a:txBody>
                  <a:tcPr marL="68580" marR="68580" marT="0" marB="0"/>
                </a:tc>
                <a:tc>
                  <a:txBody>
                    <a:bodyPr/>
                    <a:lstStyle/>
                    <a:p>
                      <a:r>
                        <a:rPr lang="en-GB" sz="1000" kern="100" dirty="0">
                          <a:effectLst/>
                        </a:rPr>
                        <a:t>Local Linear Surrogates</a:t>
                      </a:r>
                      <a:endParaRPr lang="en-GB" sz="1000" kern="100" dirty="0">
                        <a:effectLst/>
                        <a:latin typeface="Aptos" panose="020B0004020202020204" pitchFamily="34" charset="0"/>
                        <a:ea typeface="Times New Roman" panose="02020603050405020304" pitchFamily="18" charset="0"/>
                      </a:endParaRPr>
                    </a:p>
                  </a:txBody>
                  <a:tcPr marL="68580" marR="68580" marT="0" marB="0"/>
                </a:tc>
                <a:tc>
                  <a:txBody>
                    <a:bodyPr/>
                    <a:lstStyle/>
                    <a:p>
                      <a:r>
                        <a:rPr lang="en-GB" sz="1000" kern="100">
                          <a:effectLst/>
                        </a:rPr>
                        <a:t>Gradients of target concept</a:t>
                      </a:r>
                      <a:endParaRPr lang="en-GB" sz="1000" kern="100">
                        <a:effectLst/>
                        <a:latin typeface="Aptos" panose="020B00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2281621934"/>
                  </a:ext>
                </a:extLst>
              </a:tr>
              <a:tr h="921289">
                <a:tc>
                  <a:txBody>
                    <a:bodyPr/>
                    <a:lstStyle/>
                    <a:p>
                      <a:r>
                        <a:rPr lang="en-GB" sz="1200" kern="100" dirty="0">
                          <a:effectLst/>
                        </a:rPr>
                        <a:t>Consistency</a:t>
                      </a:r>
                      <a:endParaRPr lang="en-GB" sz="1200" kern="100" dirty="0">
                        <a:effectLst/>
                        <a:latin typeface="Aptos" panose="020B0004020202020204" pitchFamily="34" charset="0"/>
                        <a:ea typeface="Times New Roman" panose="02020603050405020304" pitchFamily="18" charset="0"/>
                      </a:endParaRPr>
                    </a:p>
                  </a:txBody>
                  <a:tcPr marL="68580" marR="68580" marT="0" marB="0"/>
                </a:tc>
                <a:tc>
                  <a:txBody>
                    <a:bodyPr/>
                    <a:lstStyle/>
                    <a:p>
                      <a:r>
                        <a:rPr lang="en-GB" sz="1000" kern="100">
                          <a:effectLst/>
                        </a:rPr>
                        <a:t>High: Ensures fair contribution of each feature.</a:t>
                      </a:r>
                      <a:endParaRPr lang="en-GB" sz="1000" kern="100">
                        <a:effectLst/>
                        <a:latin typeface="Aptos" panose="020B0004020202020204" pitchFamily="34" charset="0"/>
                        <a:ea typeface="Times New Roman" panose="02020603050405020304" pitchFamily="18" charset="0"/>
                      </a:endParaRPr>
                    </a:p>
                  </a:txBody>
                  <a:tcPr marL="68580" marR="68580" marT="0" marB="0"/>
                </a:tc>
                <a:tc>
                  <a:txBody>
                    <a:bodyPr/>
                    <a:lstStyle/>
                    <a:p>
                      <a:r>
                        <a:rPr lang="en-GB" sz="1000" kern="100">
                          <a:effectLst/>
                        </a:rPr>
                        <a:t>Lower: Can produce different explanations for similar data points.</a:t>
                      </a:r>
                      <a:endParaRPr lang="en-GB" sz="1000" kern="100">
                        <a:effectLst/>
                        <a:latin typeface="Aptos" panose="020B0004020202020204" pitchFamily="34" charset="0"/>
                        <a:ea typeface="Times New Roman" panose="02020603050405020304" pitchFamily="18" charset="0"/>
                      </a:endParaRPr>
                    </a:p>
                  </a:txBody>
                  <a:tcPr marL="68580" marR="68580" marT="0" marB="0"/>
                </a:tc>
                <a:tc>
                  <a:txBody>
                    <a:bodyPr/>
                    <a:lstStyle/>
                    <a:p>
                      <a:r>
                        <a:rPr lang="en-GB" sz="1000" kern="100">
                          <a:effectLst/>
                        </a:rPr>
                        <a:t>Medium: Can be noisy or "smear" over irrelevant areas.</a:t>
                      </a:r>
                      <a:endParaRPr lang="en-GB" sz="1000" kern="100">
                        <a:effectLst/>
                        <a:latin typeface="Aptos" panose="020B00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2133758203"/>
                  </a:ext>
                </a:extLst>
              </a:tr>
              <a:tr h="505029">
                <a:tc>
                  <a:txBody>
                    <a:bodyPr/>
                    <a:lstStyle/>
                    <a:p>
                      <a:r>
                        <a:rPr lang="en-GB" sz="1200" kern="100" dirty="0">
                          <a:effectLst/>
                        </a:rPr>
                        <a:t>Computational Cost</a:t>
                      </a:r>
                      <a:endParaRPr lang="en-GB" sz="1200" kern="100" dirty="0">
                        <a:effectLst/>
                        <a:latin typeface="Aptos" panose="020B0004020202020204" pitchFamily="34" charset="0"/>
                        <a:ea typeface="Times New Roman" panose="02020603050405020304" pitchFamily="18" charset="0"/>
                      </a:endParaRPr>
                    </a:p>
                  </a:txBody>
                  <a:tcPr marL="68580" marR="68580" marT="0" marB="0"/>
                </a:tc>
                <a:tc>
                  <a:txBody>
                    <a:bodyPr/>
                    <a:lstStyle/>
                    <a:p>
                      <a:r>
                        <a:rPr lang="en-GB" sz="1000" kern="100">
                          <a:effectLst/>
                        </a:rPr>
                        <a:t>High (can be slow for real-time IoT)</a:t>
                      </a:r>
                      <a:endParaRPr lang="en-GB" sz="1000" kern="100">
                        <a:effectLst/>
                        <a:latin typeface="Aptos" panose="020B0004020202020204" pitchFamily="34" charset="0"/>
                        <a:ea typeface="Times New Roman" panose="02020603050405020304" pitchFamily="18" charset="0"/>
                      </a:endParaRPr>
                    </a:p>
                  </a:txBody>
                  <a:tcPr marL="68580" marR="68580" marT="0" marB="0"/>
                </a:tc>
                <a:tc>
                  <a:txBody>
                    <a:bodyPr/>
                    <a:lstStyle/>
                    <a:p>
                      <a:r>
                        <a:rPr lang="en-GB" sz="1000" kern="100">
                          <a:effectLst/>
                        </a:rPr>
                        <a:t>Fast/Efficient</a:t>
                      </a:r>
                      <a:endParaRPr lang="en-GB" sz="1000" kern="100">
                        <a:effectLst/>
                        <a:latin typeface="Aptos" panose="020B0004020202020204" pitchFamily="34" charset="0"/>
                        <a:ea typeface="Times New Roman" panose="02020603050405020304" pitchFamily="18" charset="0"/>
                      </a:endParaRPr>
                    </a:p>
                  </a:txBody>
                  <a:tcPr marL="68580" marR="68580" marT="0" marB="0"/>
                </a:tc>
                <a:tc>
                  <a:txBody>
                    <a:bodyPr/>
                    <a:lstStyle/>
                    <a:p>
                      <a:r>
                        <a:rPr lang="en-GB" sz="1000" kern="100">
                          <a:effectLst/>
                        </a:rPr>
                        <a:t>Very Fast (calculated during backprop)</a:t>
                      </a:r>
                      <a:endParaRPr lang="en-GB" sz="1000" kern="100">
                        <a:effectLst/>
                        <a:latin typeface="Aptos" panose="020B00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22718279"/>
                  </a:ext>
                </a:extLst>
              </a:tr>
              <a:tr h="921289">
                <a:tc>
                  <a:txBody>
                    <a:bodyPr/>
                    <a:lstStyle/>
                    <a:p>
                      <a:r>
                        <a:rPr lang="en-GB" sz="1200" kern="100" dirty="0">
                          <a:effectLst/>
                        </a:rPr>
                        <a:t>Best Use Case</a:t>
                      </a:r>
                      <a:endParaRPr lang="en-GB" sz="1200" kern="100" dirty="0">
                        <a:effectLst/>
                        <a:latin typeface="Aptos" panose="020B0004020202020204" pitchFamily="34" charset="0"/>
                        <a:ea typeface="Times New Roman" panose="02020603050405020304" pitchFamily="18" charset="0"/>
                      </a:endParaRPr>
                    </a:p>
                  </a:txBody>
                  <a:tcPr marL="68580" marR="68580" marT="0" marB="0"/>
                </a:tc>
                <a:tc>
                  <a:txBody>
                    <a:bodyPr/>
                    <a:lstStyle/>
                    <a:p>
                      <a:r>
                        <a:rPr lang="en-GB" sz="1000" kern="100">
                          <a:effectLst/>
                        </a:rPr>
                        <a:t>Precision diagnostics where "fair" feature attribution is required.</a:t>
                      </a:r>
                      <a:endParaRPr lang="en-GB" sz="1000" kern="100">
                        <a:effectLst/>
                        <a:latin typeface="Aptos" panose="020B0004020202020204" pitchFamily="34" charset="0"/>
                        <a:ea typeface="Times New Roman" panose="02020603050405020304" pitchFamily="18" charset="0"/>
                      </a:endParaRPr>
                    </a:p>
                  </a:txBody>
                  <a:tcPr marL="68580" marR="68580" marT="0" marB="0"/>
                </a:tc>
                <a:tc>
                  <a:txBody>
                    <a:bodyPr/>
                    <a:lstStyle/>
                    <a:p>
                      <a:r>
                        <a:rPr lang="en-GB" sz="1000" kern="100">
                          <a:effectLst/>
                        </a:rPr>
                        <a:t>Quick, rough interpretations of tabular data.</a:t>
                      </a:r>
                      <a:endParaRPr lang="en-GB" sz="1000" kern="100">
                        <a:effectLst/>
                        <a:latin typeface="Aptos" panose="020B0004020202020204" pitchFamily="34" charset="0"/>
                        <a:ea typeface="Times New Roman" panose="02020603050405020304" pitchFamily="18" charset="0"/>
                      </a:endParaRPr>
                    </a:p>
                  </a:txBody>
                  <a:tcPr marL="68580" marR="68580" marT="0" marB="0"/>
                </a:tc>
                <a:tc>
                  <a:txBody>
                    <a:bodyPr/>
                    <a:lstStyle/>
                    <a:p>
                      <a:r>
                        <a:rPr lang="en-GB" sz="1000" kern="100" dirty="0">
                          <a:effectLst/>
                        </a:rPr>
                        <a:t>Image-based medical data (e.g., MRI/X-ray anomaly localization).</a:t>
                      </a:r>
                      <a:endParaRPr lang="en-GB" sz="1000" kern="100" dirty="0">
                        <a:effectLst/>
                        <a:latin typeface="Aptos" panose="020B00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156987873"/>
                  </a:ext>
                </a:extLst>
              </a:tr>
            </a:tbl>
          </a:graphicData>
        </a:graphic>
      </p:graphicFrame>
    </p:spTree>
    <p:extLst>
      <p:ext uri="{BB962C8B-B14F-4D97-AF65-F5344CB8AC3E}">
        <p14:creationId xmlns:p14="http://schemas.microsoft.com/office/powerpoint/2010/main" val="3971255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71B38B8-A5C6-B715-1FAE-90B6392997EA}"/>
              </a:ext>
            </a:extLst>
          </p:cNvPr>
          <p:cNvSpPr>
            <a:spLocks noGrp="1"/>
          </p:cNvSpPr>
          <p:nvPr>
            <p:ph type="title"/>
          </p:nvPr>
        </p:nvSpPr>
        <p:spPr>
          <a:xfrm>
            <a:off x="704088" y="914400"/>
            <a:ext cx="10687812" cy="798194"/>
          </a:xfrm>
        </p:spPr>
        <p:txBody>
          <a:bodyPr>
            <a:normAutofit/>
          </a:bodyPr>
          <a:lstStyle/>
          <a:p>
            <a:r>
              <a:rPr lang="en-GB" b="1" dirty="0"/>
              <a:t>Research Methodology</a:t>
            </a:r>
            <a:endParaRPr lang="en-US" dirty="0"/>
          </a:p>
        </p:txBody>
      </p:sp>
      <p:cxnSp>
        <p:nvCxnSpPr>
          <p:cNvPr id="11" name="Straight Connector 10">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descr="A diagram of a health care system&#10;&#10;AI-generated content may be incorrect.">
            <a:extLst>
              <a:ext uri="{FF2B5EF4-FFF2-40B4-BE49-F238E27FC236}">
                <a16:creationId xmlns:a16="http://schemas.microsoft.com/office/drawing/2014/main" id="{5010A244-C515-E70B-11AA-014FBDF8463F}"/>
              </a:ext>
            </a:extLst>
          </p:cNvPr>
          <p:cNvPicPr>
            <a:picLocks noChangeAspect="1"/>
          </p:cNvPicPr>
          <p:nvPr/>
        </p:nvPicPr>
        <p:blipFill>
          <a:blip r:embed="rId3"/>
          <a:stretch>
            <a:fillRect/>
          </a:stretch>
        </p:blipFill>
        <p:spPr>
          <a:xfrm>
            <a:off x="800100" y="1955879"/>
            <a:ext cx="6072188" cy="4053184"/>
          </a:xfrm>
          <a:prstGeom prst="rect">
            <a:avLst/>
          </a:prstGeom>
        </p:spPr>
      </p:pic>
      <p:sp>
        <p:nvSpPr>
          <p:cNvPr id="3" name="Content Placeholder 2">
            <a:extLst>
              <a:ext uri="{FF2B5EF4-FFF2-40B4-BE49-F238E27FC236}">
                <a16:creationId xmlns:a16="http://schemas.microsoft.com/office/drawing/2014/main" id="{BEAA4371-3D05-8E0D-C7ED-C55016DC2F15}"/>
              </a:ext>
            </a:extLst>
          </p:cNvPr>
          <p:cNvSpPr>
            <a:spLocks noGrp="1"/>
          </p:cNvSpPr>
          <p:nvPr>
            <p:ph idx="1"/>
          </p:nvPr>
        </p:nvSpPr>
        <p:spPr>
          <a:xfrm>
            <a:off x="7200900" y="1849121"/>
            <a:ext cx="4191001" cy="4139626"/>
          </a:xfrm>
        </p:spPr>
        <p:txBody>
          <a:bodyPr anchor="b">
            <a:normAutofit/>
          </a:bodyPr>
          <a:lstStyle/>
          <a:p>
            <a:pPr marL="0" indent="0">
              <a:buNone/>
            </a:pPr>
            <a:r>
              <a:rPr lang="en-GB" b="1" dirty="0"/>
              <a:t>Stages</a:t>
            </a:r>
          </a:p>
          <a:p>
            <a:pPr>
              <a:buFont typeface="+mj-lt"/>
              <a:buAutoNum type="arabicPeriod"/>
            </a:pPr>
            <a:r>
              <a:rPr lang="en-GB" dirty="0"/>
              <a:t>Data Acquisition</a:t>
            </a:r>
          </a:p>
          <a:p>
            <a:pPr>
              <a:buFont typeface="+mj-lt"/>
              <a:buAutoNum type="arabicPeriod"/>
            </a:pPr>
            <a:r>
              <a:rPr lang="en-GB" dirty="0"/>
              <a:t>Preprocessing</a:t>
            </a:r>
          </a:p>
          <a:p>
            <a:pPr>
              <a:buFont typeface="+mj-lt"/>
              <a:buAutoNum type="arabicPeriod"/>
            </a:pPr>
            <a:r>
              <a:rPr lang="en-GB" dirty="0"/>
              <a:t>Model Development</a:t>
            </a:r>
          </a:p>
          <a:p>
            <a:pPr>
              <a:buFont typeface="+mj-lt"/>
              <a:buAutoNum type="arabicPeriod"/>
            </a:pPr>
            <a:r>
              <a:rPr lang="en-GB" dirty="0"/>
              <a:t>XAI Integration</a:t>
            </a:r>
          </a:p>
          <a:p>
            <a:pPr>
              <a:buFont typeface="+mj-lt"/>
              <a:buAutoNum type="arabicPeriod"/>
            </a:pPr>
            <a:r>
              <a:rPr lang="en-GB" dirty="0"/>
              <a:t>Synthesis</a:t>
            </a:r>
          </a:p>
          <a:p>
            <a:endParaRPr lang="en-US" dirty="0"/>
          </a:p>
        </p:txBody>
      </p:sp>
      <p:cxnSp>
        <p:nvCxnSpPr>
          <p:cNvPr id="13" name="Straight Connector 12">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8773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78EB459-3385-4BF6-A9E1-154CBA251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45FA80-3607-2044-6F25-5ABFDABD1FF9}"/>
              </a:ext>
            </a:extLst>
          </p:cNvPr>
          <p:cNvSpPr>
            <a:spLocks noGrp="1"/>
          </p:cNvSpPr>
          <p:nvPr>
            <p:ph type="title"/>
          </p:nvPr>
        </p:nvSpPr>
        <p:spPr>
          <a:xfrm>
            <a:off x="704088" y="909637"/>
            <a:ext cx="4397556" cy="1316736"/>
          </a:xfrm>
        </p:spPr>
        <p:txBody>
          <a:bodyPr>
            <a:normAutofit/>
          </a:bodyPr>
          <a:lstStyle/>
          <a:p>
            <a:r>
              <a:rPr lang="en-GB" b="1" dirty="0"/>
              <a:t>Dataset &amp; Data Preprocessing</a:t>
            </a:r>
            <a:endParaRPr lang="en-US" dirty="0"/>
          </a:p>
        </p:txBody>
      </p:sp>
      <p:cxnSp>
        <p:nvCxnSpPr>
          <p:cNvPr id="18" name="Straight Connector 17">
            <a:extLst>
              <a:ext uri="{FF2B5EF4-FFF2-40B4-BE49-F238E27FC236}">
                <a16:creationId xmlns:a16="http://schemas.microsoft.com/office/drawing/2014/main" id="{1DC20223-0542-4FF7-8F2F-136889161E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99EC7CF-3523-6E62-3557-ED3B63EF2DF8}"/>
                  </a:ext>
                </a:extLst>
              </p:cNvPr>
              <p:cNvSpPr>
                <a:spLocks noGrp="1"/>
              </p:cNvSpPr>
              <p:nvPr>
                <p:ph idx="1"/>
              </p:nvPr>
            </p:nvSpPr>
            <p:spPr>
              <a:xfrm>
                <a:off x="704088" y="2226373"/>
                <a:ext cx="4397554" cy="3983928"/>
              </a:xfrm>
            </p:spPr>
            <p:txBody>
              <a:bodyPr>
                <a:normAutofit/>
              </a:bodyPr>
              <a:lstStyle/>
              <a:p>
                <a:pPr marL="0" indent="0">
                  <a:lnSpc>
                    <a:spcPct val="100000"/>
                  </a:lnSpc>
                  <a:buNone/>
                </a:pPr>
                <a:r>
                  <a:rPr lang="en-GB" sz="1400" b="1" dirty="0"/>
                  <a:t>Dataset</a:t>
                </a:r>
              </a:p>
              <a:p>
                <a:pPr>
                  <a:lnSpc>
                    <a:spcPct val="100000"/>
                  </a:lnSpc>
                  <a:buFont typeface="Arial" panose="020B0604020202020204" pitchFamily="34" charset="0"/>
                  <a:buChar char="•"/>
                </a:pPr>
                <a:r>
                  <a:rPr lang="en-GB" sz="1400" dirty="0"/>
                  <a:t>Secure Healthcare IoT Dataset</a:t>
                </a:r>
              </a:p>
              <a:p>
                <a:pPr>
                  <a:lnSpc>
                    <a:spcPct val="100000"/>
                  </a:lnSpc>
                  <a:buFont typeface="Arial" panose="020B0604020202020204" pitchFamily="34" charset="0"/>
                  <a:buChar char="•"/>
                </a:pPr>
                <a:r>
                  <a:rPr lang="en-GB" sz="1400" dirty="0"/>
                  <a:t>~2000 records</a:t>
                </a:r>
              </a:p>
              <a:p>
                <a:pPr>
                  <a:lnSpc>
                    <a:spcPct val="100000"/>
                  </a:lnSpc>
                  <a:buFont typeface="Arial" panose="020B0604020202020204" pitchFamily="34" charset="0"/>
                  <a:buChar char="•"/>
                </a:pPr>
                <a:r>
                  <a:rPr lang="en-GB" sz="1400" dirty="0"/>
                  <a:t>physiological + sensor features</a:t>
                </a:r>
              </a:p>
              <a:p>
                <a:pPr marL="0" indent="0">
                  <a:lnSpc>
                    <a:spcPct val="100000"/>
                  </a:lnSpc>
                  <a:buNone/>
                </a:pPr>
                <a:r>
                  <a:rPr lang="en-GB" sz="1400" b="1" dirty="0"/>
                  <a:t>Preprocessing Techniques</a:t>
                </a:r>
              </a:p>
              <a:p>
                <a:pPr>
                  <a:lnSpc>
                    <a:spcPct val="100000"/>
                  </a:lnSpc>
                  <a:buFont typeface="Arial" panose="020B0604020202020204" pitchFamily="34" charset="0"/>
                  <a:buChar char="•"/>
                </a:pPr>
                <a:r>
                  <a:rPr lang="en-GB" sz="1400" dirty="0"/>
                  <a:t>Missing value handling</a:t>
                </a:r>
              </a:p>
              <a:p>
                <a:pPr>
                  <a:lnSpc>
                    <a:spcPct val="100000"/>
                  </a:lnSpc>
                  <a:buFont typeface="Arial" panose="020B0604020202020204" pitchFamily="34" charset="0"/>
                  <a:buChar char="•"/>
                </a:pPr>
                <a:r>
                  <a:rPr lang="en-GB" sz="1400" dirty="0"/>
                  <a:t>Windowing (10-second segments)</a:t>
                </a:r>
              </a:p>
              <a:p>
                <a:pPr>
                  <a:lnSpc>
                    <a:spcPct val="100000"/>
                  </a:lnSpc>
                  <a:buFont typeface="Arial" panose="020B0604020202020204" pitchFamily="34" charset="0"/>
                  <a:buChar char="•"/>
                </a:pPr>
                <a:r>
                  <a:rPr lang="en-GB" sz="1400" dirty="0"/>
                  <a:t>Z-score normalization</a:t>
                </a:r>
              </a:p>
              <a:p>
                <a:pPr marL="0" indent="0">
                  <a:lnSpc>
                    <a:spcPct val="100000"/>
                  </a:lnSpc>
                  <a:buNone/>
                </a:pPr>
                <a:r>
                  <a:rPr lang="en-GB" sz="1400" dirty="0"/>
                  <a:t>Mean Arterial Pressure:</a:t>
                </a:r>
                <a:br>
                  <a:rPr lang="en-GB" sz="1400" dirty="0"/>
                </a:br>
                <a:endParaRPr lang="en-GB" sz="1400" dirty="0"/>
              </a:p>
              <a:p>
                <a:pPr>
                  <a:lnSpc>
                    <a:spcPct val="100000"/>
                  </a:lnSpc>
                </a:pPr>
                <a14:m>
                  <m:oMath xmlns:m="http://schemas.openxmlformats.org/officeDocument/2006/math">
                    <m:r>
                      <a:rPr lang="en-GB" i="1">
                        <a:latin typeface="Cambria Math" panose="02040503050406030204" pitchFamily="18" charset="0"/>
                      </a:rPr>
                      <m:t>𝑀𝐴𝑃</m:t>
                    </m:r>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1</m:t>
                        </m:r>
                      </m:num>
                      <m:den>
                        <m:r>
                          <a:rPr lang="en-GB" i="1">
                            <a:latin typeface="Cambria Math" panose="02040503050406030204" pitchFamily="18" charset="0"/>
                          </a:rPr>
                          <m:t>3</m:t>
                        </m:r>
                      </m:den>
                    </m:f>
                    <m:r>
                      <a:rPr lang="en-GB" i="1">
                        <a:latin typeface="Cambria Math" panose="02040503050406030204" pitchFamily="18" charset="0"/>
                      </a:rPr>
                      <m:t>𝐵</m:t>
                    </m:r>
                    <m:sSub>
                      <m:sSubPr>
                        <m:ctrlPr>
                          <a:rPr lang="en-GB" i="1">
                            <a:latin typeface="Cambria Math" panose="02040503050406030204" pitchFamily="18" charset="0"/>
                          </a:rPr>
                        </m:ctrlPr>
                      </m:sSubPr>
                      <m:e>
                        <m:r>
                          <a:rPr lang="en-GB" i="1">
                            <a:latin typeface="Cambria Math" panose="02040503050406030204" pitchFamily="18" charset="0"/>
                          </a:rPr>
                          <m:t>𝑃</m:t>
                        </m:r>
                      </m:e>
                      <m:sub>
                        <m:r>
                          <a:rPr lang="en-GB" i="1">
                            <a:latin typeface="Cambria Math" panose="02040503050406030204" pitchFamily="18" charset="0"/>
                          </a:rPr>
                          <m:t>𝑠𝑦𝑠𝑡𝑜𝑙𝑖𝑐</m:t>
                        </m:r>
                      </m:sub>
                    </m:sSub>
                    <m:r>
                      <a:rPr lang="en-GB" i="1">
                        <a:latin typeface="Cambria Math" panose="02040503050406030204" pitchFamily="18" charset="0"/>
                      </a:rPr>
                      <m:t>+</m:t>
                    </m:r>
                    <m:f>
                      <m:fPr>
                        <m:ctrlPr>
                          <a:rPr lang="en-GB" i="1">
                            <a:latin typeface="Cambria Math" panose="02040503050406030204" pitchFamily="18" charset="0"/>
                          </a:rPr>
                        </m:ctrlPr>
                      </m:fPr>
                      <m:num>
                        <m:r>
                          <a:rPr lang="en-GB" i="1">
                            <a:latin typeface="Cambria Math" panose="02040503050406030204" pitchFamily="18" charset="0"/>
                          </a:rPr>
                          <m:t>2</m:t>
                        </m:r>
                      </m:num>
                      <m:den>
                        <m:r>
                          <a:rPr lang="en-GB" i="1">
                            <a:latin typeface="Cambria Math" panose="02040503050406030204" pitchFamily="18" charset="0"/>
                          </a:rPr>
                          <m:t>3</m:t>
                        </m:r>
                      </m:den>
                    </m:f>
                    <m:r>
                      <a:rPr lang="en-GB" i="1">
                        <a:latin typeface="Cambria Math" panose="02040503050406030204" pitchFamily="18" charset="0"/>
                      </a:rPr>
                      <m:t>𝐵</m:t>
                    </m:r>
                    <m:sSub>
                      <m:sSubPr>
                        <m:ctrlPr>
                          <a:rPr lang="en-GB" i="1">
                            <a:latin typeface="Cambria Math" panose="02040503050406030204" pitchFamily="18" charset="0"/>
                          </a:rPr>
                        </m:ctrlPr>
                      </m:sSubPr>
                      <m:e>
                        <m:r>
                          <a:rPr lang="en-GB" i="1">
                            <a:latin typeface="Cambria Math" panose="02040503050406030204" pitchFamily="18" charset="0"/>
                          </a:rPr>
                          <m:t>𝑃</m:t>
                        </m:r>
                      </m:e>
                      <m:sub>
                        <m:r>
                          <a:rPr lang="en-GB" i="1">
                            <a:latin typeface="Cambria Math" panose="02040503050406030204" pitchFamily="18" charset="0"/>
                          </a:rPr>
                          <m:t>𝑑𝑖𝑎𝑠𝑡𝑜𝑙𝑖𝑐</m:t>
                        </m:r>
                      </m:sub>
                    </m:sSub>
                  </m:oMath>
                </a14:m>
                <a:endParaRPr lang="en-GB" sz="1400" dirty="0"/>
              </a:p>
              <a:p>
                <a:pPr>
                  <a:lnSpc>
                    <a:spcPct val="100000"/>
                  </a:lnSpc>
                </a:pPr>
                <a:endParaRPr lang="en-US" sz="1400" dirty="0"/>
              </a:p>
            </p:txBody>
          </p:sp>
        </mc:Choice>
        <mc:Fallback xmlns="">
          <p:sp>
            <p:nvSpPr>
              <p:cNvPr id="3" name="Content Placeholder 2">
                <a:extLst>
                  <a:ext uri="{FF2B5EF4-FFF2-40B4-BE49-F238E27FC236}">
                    <a16:creationId xmlns:a16="http://schemas.microsoft.com/office/drawing/2014/main" id="{C99EC7CF-3523-6E62-3557-ED3B63EF2DF8}"/>
                  </a:ext>
                </a:extLst>
              </p:cNvPr>
              <p:cNvSpPr>
                <a:spLocks noGrp="1" noRot="1" noChangeAspect="1" noMove="1" noResize="1" noEditPoints="1" noAdjustHandles="1" noChangeArrowheads="1" noChangeShapeType="1" noTextEdit="1"/>
              </p:cNvSpPr>
              <p:nvPr>
                <p:ph idx="1"/>
              </p:nvPr>
            </p:nvSpPr>
            <p:spPr>
              <a:xfrm>
                <a:off x="704088" y="2226373"/>
                <a:ext cx="4397554" cy="3983928"/>
              </a:xfrm>
              <a:blipFill>
                <a:blip r:embed="rId3"/>
                <a:stretch>
                  <a:fillRect l="-1153" t="-317"/>
                </a:stretch>
              </a:blipFill>
            </p:spPr>
            <p:txBody>
              <a:bodyPr/>
              <a:lstStyle/>
              <a:p>
                <a:r>
                  <a:rPr lang="en-US">
                    <a:noFill/>
                  </a:rPr>
                  <a:t> </a:t>
                </a:r>
              </a:p>
            </p:txBody>
          </p:sp>
        </mc:Fallback>
      </mc:AlternateContent>
      <p:pic>
        <p:nvPicPr>
          <p:cNvPr id="6" name="Picture 5" descr="A screenshot of a computer&#10;&#10;AI-generated content may be incorrect.">
            <a:extLst>
              <a:ext uri="{FF2B5EF4-FFF2-40B4-BE49-F238E27FC236}">
                <a16:creationId xmlns:a16="http://schemas.microsoft.com/office/drawing/2014/main" id="{2782BD7D-7B0F-E3B3-BBD3-FD892B7DA60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75992" y="4383828"/>
            <a:ext cx="3789278" cy="1591496"/>
          </a:xfrm>
          <a:prstGeom prst="rect">
            <a:avLst/>
          </a:prstGeom>
        </p:spPr>
      </p:pic>
      <p:pic>
        <p:nvPicPr>
          <p:cNvPr id="5" name="Picture 4" descr="A diagram of a heat map&#10;&#10;AI-generated content may be incorrect.">
            <a:extLst>
              <a:ext uri="{FF2B5EF4-FFF2-40B4-BE49-F238E27FC236}">
                <a16:creationId xmlns:a16="http://schemas.microsoft.com/office/drawing/2014/main" id="{46D7EE95-28F3-85D2-7384-5ED71C91068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27808" y="75706"/>
            <a:ext cx="6190227" cy="4487913"/>
          </a:xfrm>
          <a:prstGeom prst="rect">
            <a:avLst/>
          </a:prstGeom>
        </p:spPr>
      </p:pic>
      <p:pic>
        <p:nvPicPr>
          <p:cNvPr id="4" name="Picture 3" descr="A close-up of a number&#10;&#10;AI-generated content may be incorrect.">
            <a:extLst>
              <a:ext uri="{FF2B5EF4-FFF2-40B4-BE49-F238E27FC236}">
                <a16:creationId xmlns:a16="http://schemas.microsoft.com/office/drawing/2014/main" id="{E6E8B888-BE38-73B1-BBB8-D518E9F8887A}"/>
              </a:ext>
            </a:extLst>
          </p:cNvPr>
          <p:cNvPicPr>
            <a:picLocks noChangeAspect="1"/>
          </p:cNvPicPr>
          <p:nvPr/>
        </p:nvPicPr>
        <p:blipFill>
          <a:blip r:embed="rId6" cstate="print">
            <a:extLst>
              <a:ext uri="{28A0092B-C50C-407E-A947-70E740481C1C}">
                <a14:useLocalDpi xmlns:a14="http://schemas.microsoft.com/office/drawing/2010/main" val="0"/>
              </a:ext>
            </a:extLst>
          </a:blip>
          <a:srcRect r="29391"/>
          <a:stretch/>
        </p:blipFill>
        <p:spPr>
          <a:xfrm>
            <a:off x="8829919" y="4563619"/>
            <a:ext cx="3322001" cy="1646682"/>
          </a:xfrm>
          <a:prstGeom prst="rect">
            <a:avLst/>
          </a:prstGeom>
        </p:spPr>
      </p:pic>
    </p:spTree>
    <p:extLst>
      <p:ext uri="{BB962C8B-B14F-4D97-AF65-F5344CB8AC3E}">
        <p14:creationId xmlns:p14="http://schemas.microsoft.com/office/powerpoint/2010/main" val="3562953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4109E738-3B9E-4529-9D47-C9708D612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1AFD8A-1E94-3912-A58D-2DDEE9104D69}"/>
              </a:ext>
            </a:extLst>
          </p:cNvPr>
          <p:cNvSpPr>
            <a:spLocks noGrp="1"/>
          </p:cNvSpPr>
          <p:nvPr>
            <p:ph type="title"/>
          </p:nvPr>
        </p:nvSpPr>
        <p:spPr>
          <a:xfrm>
            <a:off x="700634" y="906650"/>
            <a:ext cx="6068037" cy="1316736"/>
          </a:xfrm>
        </p:spPr>
        <p:txBody>
          <a:bodyPr>
            <a:normAutofit/>
          </a:bodyPr>
          <a:lstStyle/>
          <a:p>
            <a:r>
              <a:rPr lang="en-GB" b="1" dirty="0"/>
              <a:t>Model Development</a:t>
            </a:r>
            <a:endParaRPr lang="en-US" dirty="0"/>
          </a:p>
        </p:txBody>
      </p:sp>
      <p:cxnSp>
        <p:nvCxnSpPr>
          <p:cNvPr id="29" name="Straight Connector 28">
            <a:extLst>
              <a:ext uri="{FF2B5EF4-FFF2-40B4-BE49-F238E27FC236}">
                <a16:creationId xmlns:a16="http://schemas.microsoft.com/office/drawing/2014/main" id="{333A84D1-8AB4-452A-B323-BBB429B5F0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2" name="Content Placeholder 11">
            <a:extLst>
              <a:ext uri="{FF2B5EF4-FFF2-40B4-BE49-F238E27FC236}">
                <a16:creationId xmlns:a16="http://schemas.microsoft.com/office/drawing/2014/main" id="{5EF6F1D0-C104-2629-EE91-8B6749DFE922}"/>
              </a:ext>
            </a:extLst>
          </p:cNvPr>
          <p:cNvGraphicFramePr>
            <a:graphicFrameLocks noGrp="1"/>
          </p:cNvGraphicFramePr>
          <p:nvPr>
            <p:ph idx="1"/>
            <p:extLst>
              <p:ext uri="{D42A27DB-BD31-4B8C-83A1-F6EECF244321}">
                <p14:modId xmlns:p14="http://schemas.microsoft.com/office/powerpoint/2010/main" val="596432340"/>
              </p:ext>
            </p:extLst>
          </p:nvPr>
        </p:nvGraphicFramePr>
        <p:xfrm>
          <a:off x="2371735" y="1576555"/>
          <a:ext cx="4874448" cy="1456965"/>
        </p:xfrm>
        <a:graphic>
          <a:graphicData uri="http://schemas.openxmlformats.org/drawingml/2006/table">
            <a:tbl>
              <a:tblPr>
                <a:tableStyleId>{69CF1AB2-1976-4502-BF36-3FF5EA218861}</a:tableStyleId>
              </a:tblPr>
              <a:tblGrid>
                <a:gridCol w="1624816">
                  <a:extLst>
                    <a:ext uri="{9D8B030D-6E8A-4147-A177-3AD203B41FA5}">
                      <a16:colId xmlns:a16="http://schemas.microsoft.com/office/drawing/2014/main" val="1308651904"/>
                    </a:ext>
                  </a:extLst>
                </a:gridCol>
                <a:gridCol w="1624816">
                  <a:extLst>
                    <a:ext uri="{9D8B030D-6E8A-4147-A177-3AD203B41FA5}">
                      <a16:colId xmlns:a16="http://schemas.microsoft.com/office/drawing/2014/main" val="2216480819"/>
                    </a:ext>
                  </a:extLst>
                </a:gridCol>
                <a:gridCol w="1624816">
                  <a:extLst>
                    <a:ext uri="{9D8B030D-6E8A-4147-A177-3AD203B41FA5}">
                      <a16:colId xmlns:a16="http://schemas.microsoft.com/office/drawing/2014/main" val="385466311"/>
                    </a:ext>
                  </a:extLst>
                </a:gridCol>
              </a:tblGrid>
              <a:tr h="291393">
                <a:tc>
                  <a:txBody>
                    <a:bodyPr/>
                    <a:lstStyle/>
                    <a:p>
                      <a:r>
                        <a:rPr lang="en-GB" sz="1000" b="1">
                          <a:effectLst/>
                        </a:rPr>
                        <a:t>Model</a:t>
                      </a:r>
                      <a:endParaRPr lang="en-GB" sz="1000">
                        <a:effectLst/>
                      </a:endParaRPr>
                    </a:p>
                  </a:txBody>
                  <a:tcPr marL="64880" marR="64880" marT="43254" marB="43254" anchor="ctr"/>
                </a:tc>
                <a:tc>
                  <a:txBody>
                    <a:bodyPr/>
                    <a:lstStyle/>
                    <a:p>
                      <a:r>
                        <a:rPr lang="en-GB" sz="1000" b="1" dirty="0">
                          <a:effectLst/>
                        </a:rPr>
                        <a:t>Type</a:t>
                      </a:r>
                      <a:endParaRPr lang="en-GB" sz="1000" dirty="0">
                        <a:effectLst/>
                      </a:endParaRPr>
                    </a:p>
                  </a:txBody>
                  <a:tcPr marL="64880" marR="64880" marT="43254" marB="43254" anchor="ctr"/>
                </a:tc>
                <a:tc>
                  <a:txBody>
                    <a:bodyPr/>
                    <a:lstStyle/>
                    <a:p>
                      <a:r>
                        <a:rPr lang="en-GB" sz="1000" b="1">
                          <a:effectLst/>
                        </a:rPr>
                        <a:t>Weakness</a:t>
                      </a:r>
                      <a:endParaRPr lang="en-GB" sz="1000">
                        <a:effectLst/>
                      </a:endParaRPr>
                    </a:p>
                  </a:txBody>
                  <a:tcPr marL="64880" marR="64880" marT="43254" marB="43254" anchor="ctr"/>
                </a:tc>
                <a:extLst>
                  <a:ext uri="{0D108BD9-81ED-4DB2-BD59-A6C34878D82A}">
                    <a16:rowId xmlns:a16="http://schemas.microsoft.com/office/drawing/2014/main" val="2220505261"/>
                  </a:ext>
                </a:extLst>
              </a:tr>
              <a:tr h="291393">
                <a:tc>
                  <a:txBody>
                    <a:bodyPr/>
                    <a:lstStyle/>
                    <a:p>
                      <a:r>
                        <a:rPr lang="en-GB" sz="1000">
                          <a:effectLst/>
                        </a:rPr>
                        <a:t>Isolation Forest</a:t>
                      </a:r>
                    </a:p>
                  </a:txBody>
                  <a:tcPr marL="64880" marR="64880" marT="43254" marB="43254" anchor="ctr"/>
                </a:tc>
                <a:tc>
                  <a:txBody>
                    <a:bodyPr/>
                    <a:lstStyle/>
                    <a:p>
                      <a:r>
                        <a:rPr lang="en-GB" sz="1000">
                          <a:effectLst/>
                        </a:rPr>
                        <a:t>Tree-based</a:t>
                      </a:r>
                    </a:p>
                  </a:txBody>
                  <a:tcPr marL="64880" marR="64880" marT="43254" marB="43254" anchor="ctr"/>
                </a:tc>
                <a:tc>
                  <a:txBody>
                    <a:bodyPr/>
                    <a:lstStyle/>
                    <a:p>
                      <a:r>
                        <a:rPr lang="en-GB" sz="1000" dirty="0">
                          <a:effectLst/>
                        </a:rPr>
                        <a:t>Weak temporal learning</a:t>
                      </a:r>
                    </a:p>
                  </a:txBody>
                  <a:tcPr marL="64880" marR="64880" marT="43254" marB="43254" anchor="ctr"/>
                </a:tc>
                <a:extLst>
                  <a:ext uri="{0D108BD9-81ED-4DB2-BD59-A6C34878D82A}">
                    <a16:rowId xmlns:a16="http://schemas.microsoft.com/office/drawing/2014/main" val="2997258179"/>
                  </a:ext>
                </a:extLst>
              </a:tr>
              <a:tr h="291393">
                <a:tc>
                  <a:txBody>
                    <a:bodyPr/>
                    <a:lstStyle/>
                    <a:p>
                      <a:r>
                        <a:rPr lang="en-GB" sz="1000">
                          <a:effectLst/>
                        </a:rPr>
                        <a:t>KNN</a:t>
                      </a:r>
                    </a:p>
                  </a:txBody>
                  <a:tcPr marL="64880" marR="64880" marT="43254" marB="43254" anchor="ctr"/>
                </a:tc>
                <a:tc>
                  <a:txBody>
                    <a:bodyPr/>
                    <a:lstStyle/>
                    <a:p>
                      <a:r>
                        <a:rPr lang="en-GB" sz="1000" dirty="0">
                          <a:effectLst/>
                        </a:rPr>
                        <a:t>Distance-based</a:t>
                      </a:r>
                    </a:p>
                  </a:txBody>
                  <a:tcPr marL="64880" marR="64880" marT="43254" marB="43254" anchor="ctr"/>
                </a:tc>
                <a:tc>
                  <a:txBody>
                    <a:bodyPr/>
                    <a:lstStyle/>
                    <a:p>
                      <a:r>
                        <a:rPr lang="en-GB" sz="1000">
                          <a:effectLst/>
                        </a:rPr>
                        <a:t>Sensitive to noise</a:t>
                      </a:r>
                    </a:p>
                  </a:txBody>
                  <a:tcPr marL="64880" marR="64880" marT="43254" marB="43254" anchor="ctr"/>
                </a:tc>
                <a:extLst>
                  <a:ext uri="{0D108BD9-81ED-4DB2-BD59-A6C34878D82A}">
                    <a16:rowId xmlns:a16="http://schemas.microsoft.com/office/drawing/2014/main" val="530838165"/>
                  </a:ext>
                </a:extLst>
              </a:tr>
              <a:tr h="291393">
                <a:tc>
                  <a:txBody>
                    <a:bodyPr/>
                    <a:lstStyle/>
                    <a:p>
                      <a:r>
                        <a:rPr lang="en-GB" sz="1000">
                          <a:effectLst/>
                        </a:rPr>
                        <a:t>LOF</a:t>
                      </a:r>
                    </a:p>
                  </a:txBody>
                  <a:tcPr marL="64880" marR="64880" marT="43254" marB="43254" anchor="ctr"/>
                </a:tc>
                <a:tc>
                  <a:txBody>
                    <a:bodyPr/>
                    <a:lstStyle/>
                    <a:p>
                      <a:r>
                        <a:rPr lang="en-GB" sz="1000">
                          <a:effectLst/>
                        </a:rPr>
                        <a:t>Density-based</a:t>
                      </a:r>
                    </a:p>
                  </a:txBody>
                  <a:tcPr marL="64880" marR="64880" marT="43254" marB="43254" anchor="ctr"/>
                </a:tc>
                <a:tc>
                  <a:txBody>
                    <a:bodyPr/>
                    <a:lstStyle/>
                    <a:p>
                      <a:r>
                        <a:rPr lang="en-GB" sz="1000">
                          <a:effectLst/>
                        </a:rPr>
                        <a:t>High-dimensional issues</a:t>
                      </a:r>
                    </a:p>
                  </a:txBody>
                  <a:tcPr marL="64880" marR="64880" marT="43254" marB="43254" anchor="ctr"/>
                </a:tc>
                <a:extLst>
                  <a:ext uri="{0D108BD9-81ED-4DB2-BD59-A6C34878D82A}">
                    <a16:rowId xmlns:a16="http://schemas.microsoft.com/office/drawing/2014/main" val="315734084"/>
                  </a:ext>
                </a:extLst>
              </a:tr>
              <a:tr h="291393">
                <a:tc>
                  <a:txBody>
                    <a:bodyPr/>
                    <a:lstStyle/>
                    <a:p>
                      <a:r>
                        <a:rPr lang="en-GB" sz="1000" dirty="0">
                          <a:effectLst/>
                        </a:rPr>
                        <a:t>Autoencoder</a:t>
                      </a:r>
                    </a:p>
                  </a:txBody>
                  <a:tcPr marL="64880" marR="64880" marT="43254" marB="43254" anchor="ctr"/>
                </a:tc>
                <a:tc>
                  <a:txBody>
                    <a:bodyPr/>
                    <a:lstStyle/>
                    <a:p>
                      <a:r>
                        <a:rPr lang="en-GB" sz="1000" dirty="0">
                          <a:effectLst/>
                        </a:rPr>
                        <a:t>Deep Learning</a:t>
                      </a:r>
                    </a:p>
                  </a:txBody>
                  <a:tcPr marL="64880" marR="64880" marT="43254" marB="43254" anchor="ctr"/>
                </a:tc>
                <a:tc>
                  <a:txBody>
                    <a:bodyPr/>
                    <a:lstStyle/>
                    <a:p>
                      <a:r>
                        <a:rPr lang="en-GB" sz="1000" dirty="0">
                          <a:effectLst/>
                        </a:rPr>
                        <a:t>Black-box</a:t>
                      </a:r>
                    </a:p>
                  </a:txBody>
                  <a:tcPr marL="64880" marR="64880" marT="43254" marB="43254" anchor="ctr"/>
                </a:tc>
                <a:extLst>
                  <a:ext uri="{0D108BD9-81ED-4DB2-BD59-A6C34878D82A}">
                    <a16:rowId xmlns:a16="http://schemas.microsoft.com/office/drawing/2014/main" val="314556051"/>
                  </a:ext>
                </a:extLst>
              </a:tr>
            </a:tbl>
          </a:graphicData>
        </a:graphic>
      </p:graphicFrame>
      <p:pic>
        <p:nvPicPr>
          <p:cNvPr id="7" name="Picture 6" descr="A screenshot of a screen&#10;&#10;AI-generated content may be incorrect.">
            <a:extLst>
              <a:ext uri="{FF2B5EF4-FFF2-40B4-BE49-F238E27FC236}">
                <a16:creationId xmlns:a16="http://schemas.microsoft.com/office/drawing/2014/main" id="{B75FF8B5-0825-D6CF-184E-9B149D43AA1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798" t="15495" r="11112" b="8801"/>
          <a:stretch/>
        </p:blipFill>
        <p:spPr bwMode="auto">
          <a:xfrm>
            <a:off x="7512034" y="887306"/>
            <a:ext cx="3459091" cy="1761885"/>
          </a:xfrm>
          <a:prstGeom prst="rect">
            <a:avLst/>
          </a:prstGeom>
          <a:ln>
            <a:solidFill>
              <a:schemeClr val="tx2"/>
            </a:solidFill>
          </a:ln>
          <a:extLst>
            <a:ext uri="{53640926-AAD7-44D8-BBD7-CCE9431645EC}">
              <a14:shadowObscured xmlns:a14="http://schemas.microsoft.com/office/drawing/2010/main"/>
            </a:ext>
          </a:extLst>
        </p:spPr>
      </p:pic>
      <p:pic>
        <p:nvPicPr>
          <p:cNvPr id="11" name="Picture 10" descr="A screenshot of a test&#10;&#10;AI-generated content may be incorrect.">
            <a:extLst>
              <a:ext uri="{FF2B5EF4-FFF2-40B4-BE49-F238E27FC236}">
                <a16:creationId xmlns:a16="http://schemas.microsoft.com/office/drawing/2014/main" id="{86033B74-69FF-1261-7FB1-93C1DADE776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12839" r="9845" b="12784"/>
          <a:stretch/>
        </p:blipFill>
        <p:spPr bwMode="auto">
          <a:xfrm>
            <a:off x="7575574" y="2776826"/>
            <a:ext cx="3595741" cy="1698292"/>
          </a:xfrm>
          <a:prstGeom prst="rect">
            <a:avLst/>
          </a:prstGeom>
          <a:ln>
            <a:solidFill>
              <a:schemeClr val="tx2"/>
            </a:solidFill>
          </a:ln>
          <a:extLst>
            <a:ext uri="{53640926-AAD7-44D8-BBD7-CCE9431645EC}">
              <a14:shadowObscured xmlns:a14="http://schemas.microsoft.com/office/drawing/2010/main"/>
            </a:ext>
          </a:extLst>
        </p:spPr>
      </p:pic>
      <p:pic>
        <p:nvPicPr>
          <p:cNvPr id="8" name="Picture 7" descr="A screenshot of a computer screen&#10;&#10;AI-generated content may be incorrect.">
            <a:extLst>
              <a:ext uri="{FF2B5EF4-FFF2-40B4-BE49-F238E27FC236}">
                <a16:creationId xmlns:a16="http://schemas.microsoft.com/office/drawing/2014/main" id="{7F574033-181E-D6B4-8A15-C559BA1BD754}"/>
              </a:ext>
            </a:extLst>
          </p:cNvPr>
          <p:cNvPicPr>
            <a:picLocks noChangeAspect="1"/>
          </p:cNvPicPr>
          <p:nvPr/>
        </p:nvPicPr>
        <p:blipFill rotWithShape="1">
          <a:blip r:embed="rId5">
            <a:extLst>
              <a:ext uri="{28A0092B-C50C-407E-A947-70E740481C1C}">
                <a14:useLocalDpi xmlns:a14="http://schemas.microsoft.com/office/drawing/2010/main" val="0"/>
              </a:ext>
            </a:extLst>
          </a:blip>
          <a:srcRect t="14166" r="7556" b="10563"/>
          <a:stretch/>
        </p:blipFill>
        <p:spPr bwMode="auto">
          <a:xfrm>
            <a:off x="7575574" y="4533316"/>
            <a:ext cx="3539798" cy="1650072"/>
          </a:xfrm>
          <a:prstGeom prst="rect">
            <a:avLst/>
          </a:prstGeom>
          <a:ln>
            <a:solidFill>
              <a:schemeClr val="tx2"/>
            </a:solidFill>
          </a:ln>
          <a:extLst>
            <a:ext uri="{53640926-AAD7-44D8-BBD7-CCE9431645EC}">
              <a14:shadowObscured xmlns:a14="http://schemas.microsoft.com/office/drawing/2010/main"/>
            </a:ext>
          </a:extLst>
        </p:spPr>
      </p:pic>
      <p:pic>
        <p:nvPicPr>
          <p:cNvPr id="6" name="Picture 5" descr="A screenshot of a test results&#10;&#10;AI-generated content may be incorrect.">
            <a:extLst>
              <a:ext uri="{FF2B5EF4-FFF2-40B4-BE49-F238E27FC236}">
                <a16:creationId xmlns:a16="http://schemas.microsoft.com/office/drawing/2014/main" id="{EDBF83EE-DF9A-569B-B514-19DB62A5B4E7}"/>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14371"/>
          <a:stretch/>
        </p:blipFill>
        <p:spPr bwMode="auto">
          <a:xfrm>
            <a:off x="3063029" y="3127655"/>
            <a:ext cx="4183154" cy="2050691"/>
          </a:xfrm>
          <a:prstGeom prst="rect">
            <a:avLst/>
          </a:prstGeom>
          <a:ln>
            <a:solidFill>
              <a:schemeClr val="tx2"/>
            </a:solidFill>
          </a:ln>
          <a:extLst>
            <a:ext uri="{53640926-AAD7-44D8-BBD7-CCE9431645EC}">
              <a14:shadowObscured xmlns:a14="http://schemas.microsoft.com/office/drawing/2010/main"/>
            </a:ext>
          </a:extLst>
        </p:spPr>
      </p:pic>
      <p:cxnSp>
        <p:nvCxnSpPr>
          <p:cNvPr id="31" name="Straight Connector 30">
            <a:extLst>
              <a:ext uri="{FF2B5EF4-FFF2-40B4-BE49-F238E27FC236}">
                <a16:creationId xmlns:a16="http://schemas.microsoft.com/office/drawing/2014/main" id="{28EBC3AE-120B-4978-9A75-BD8550224F8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4346BC9-4D23-2A3F-47A6-070866278DA6}"/>
              </a:ext>
            </a:extLst>
          </p:cNvPr>
          <p:cNvSpPr txBox="1"/>
          <p:nvPr/>
        </p:nvSpPr>
        <p:spPr>
          <a:xfrm>
            <a:off x="2520744" y="5352391"/>
            <a:ext cx="3340229" cy="830997"/>
          </a:xfrm>
          <a:prstGeom prst="rect">
            <a:avLst/>
          </a:prstGeom>
          <a:noFill/>
        </p:spPr>
        <p:txBody>
          <a:bodyPr wrap="square">
            <a:spAutoFit/>
          </a:bodyPr>
          <a:lstStyle/>
          <a:p>
            <a:r>
              <a:rPr lang="en-GB" sz="1200" b="1" dirty="0"/>
              <a:t>Why Autoencoder?</a:t>
            </a:r>
          </a:p>
          <a:p>
            <a:pPr>
              <a:buFont typeface="Arial" panose="020B0604020202020204" pitchFamily="34" charset="0"/>
              <a:buChar char="•"/>
            </a:pPr>
            <a:r>
              <a:rPr lang="en-GB" sz="1200" dirty="0"/>
              <a:t>Learns non-linear patterns</a:t>
            </a:r>
          </a:p>
          <a:p>
            <a:pPr>
              <a:buFont typeface="Arial" panose="020B0604020202020204" pitchFamily="34" charset="0"/>
              <a:buChar char="•"/>
            </a:pPr>
            <a:r>
              <a:rPr lang="en-GB" sz="1200" dirty="0"/>
              <a:t>Strong reconstruction capability</a:t>
            </a:r>
          </a:p>
          <a:p>
            <a:pPr>
              <a:buFont typeface="Arial" panose="020B0604020202020204" pitchFamily="34" charset="0"/>
              <a:buChar char="•"/>
            </a:pPr>
            <a:r>
              <a:rPr lang="en-GB" sz="1200" dirty="0"/>
              <a:t>Better for “normal behaviour learning”</a:t>
            </a:r>
          </a:p>
        </p:txBody>
      </p:sp>
      <p:graphicFrame>
        <p:nvGraphicFramePr>
          <p:cNvPr id="20" name="Diagram 19">
            <a:extLst>
              <a:ext uri="{FF2B5EF4-FFF2-40B4-BE49-F238E27FC236}">
                <a16:creationId xmlns:a16="http://schemas.microsoft.com/office/drawing/2014/main" id="{D4BFC2B4-8E76-4A64-5693-6ADA799E5DAF}"/>
              </a:ext>
            </a:extLst>
          </p:cNvPr>
          <p:cNvGraphicFramePr/>
          <p:nvPr>
            <p:extLst>
              <p:ext uri="{D42A27DB-BD31-4B8C-83A1-F6EECF244321}">
                <p14:modId xmlns:p14="http://schemas.microsoft.com/office/powerpoint/2010/main" val="1887870698"/>
              </p:ext>
            </p:extLst>
          </p:nvPr>
        </p:nvGraphicFramePr>
        <p:xfrm>
          <a:off x="527661" y="1617291"/>
          <a:ext cx="1752831" cy="414328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522616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578EB459-3385-4BF6-A9E1-154CBA2510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FB6EBC-DC3F-8766-3B54-E1DA9AFD1824}"/>
              </a:ext>
            </a:extLst>
          </p:cNvPr>
          <p:cNvSpPr>
            <a:spLocks noGrp="1"/>
          </p:cNvSpPr>
          <p:nvPr>
            <p:ph type="title"/>
          </p:nvPr>
        </p:nvSpPr>
        <p:spPr>
          <a:xfrm>
            <a:off x="700088" y="909637"/>
            <a:ext cx="4392302" cy="1316736"/>
          </a:xfrm>
        </p:spPr>
        <p:txBody>
          <a:bodyPr>
            <a:normAutofit/>
          </a:bodyPr>
          <a:lstStyle/>
          <a:p>
            <a:r>
              <a:rPr lang="en-GB" b="1" dirty="0"/>
              <a:t>XAI Integration</a:t>
            </a:r>
            <a:endParaRPr lang="en-US" dirty="0"/>
          </a:p>
        </p:txBody>
      </p:sp>
      <p:cxnSp>
        <p:nvCxnSpPr>
          <p:cNvPr id="27" name="Straight Connector 26">
            <a:extLst>
              <a:ext uri="{FF2B5EF4-FFF2-40B4-BE49-F238E27FC236}">
                <a16:creationId xmlns:a16="http://schemas.microsoft.com/office/drawing/2014/main" id="{B37A8173-5995-449D-8387-03E42038B9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7" name="Picture 6" descr="A screenshot of a computer&#10;&#10;AI-generated content may be incorrect.">
            <a:extLst>
              <a:ext uri="{FF2B5EF4-FFF2-40B4-BE49-F238E27FC236}">
                <a16:creationId xmlns:a16="http://schemas.microsoft.com/office/drawing/2014/main" id="{D60A60B0-82DD-37E8-5207-64660FC062D2}"/>
              </a:ext>
            </a:extLst>
          </p:cNvPr>
          <p:cNvPicPr>
            <a:picLocks noChangeAspect="1"/>
          </p:cNvPicPr>
          <p:nvPr/>
        </p:nvPicPr>
        <p:blipFill>
          <a:blip r:embed="rId3"/>
          <a:srcRect r="7375"/>
          <a:stretch/>
        </p:blipFill>
        <p:spPr>
          <a:xfrm>
            <a:off x="7064200" y="715218"/>
            <a:ext cx="5125881" cy="5201972"/>
          </a:xfrm>
          <a:prstGeom prst="rect">
            <a:avLst/>
          </a:prstGeom>
        </p:spPr>
      </p:pic>
      <p:cxnSp>
        <p:nvCxnSpPr>
          <p:cNvPr id="20" name="Straight Connector 19">
            <a:extLst>
              <a:ext uri="{FF2B5EF4-FFF2-40B4-BE49-F238E27FC236}">
                <a16:creationId xmlns:a16="http://schemas.microsoft.com/office/drawing/2014/main" id="{F807C003-86ED-40E4-BC07-74FB68F286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2" name="Table 11">
            <a:extLst>
              <a:ext uri="{FF2B5EF4-FFF2-40B4-BE49-F238E27FC236}">
                <a16:creationId xmlns:a16="http://schemas.microsoft.com/office/drawing/2014/main" id="{00EBFB9C-A2FB-D2F8-8572-2EE13FC5B368}"/>
              </a:ext>
            </a:extLst>
          </p:cNvPr>
          <p:cNvGraphicFramePr>
            <a:graphicFrameLocks noGrp="1"/>
          </p:cNvGraphicFramePr>
          <p:nvPr>
            <p:extLst>
              <p:ext uri="{D42A27DB-BD31-4B8C-83A1-F6EECF244321}">
                <p14:modId xmlns:p14="http://schemas.microsoft.com/office/powerpoint/2010/main" val="1089276251"/>
              </p:ext>
            </p:extLst>
          </p:nvPr>
        </p:nvGraphicFramePr>
        <p:xfrm>
          <a:off x="648724" y="1607278"/>
          <a:ext cx="3607508" cy="1421412"/>
        </p:xfrm>
        <a:graphic>
          <a:graphicData uri="http://schemas.openxmlformats.org/drawingml/2006/table">
            <a:tbl>
              <a:tblPr>
                <a:tableStyleId>{D7AC3CCA-C797-4891-BE02-D94E43425B78}</a:tableStyleId>
              </a:tblPr>
              <a:tblGrid>
                <a:gridCol w="1803754">
                  <a:extLst>
                    <a:ext uri="{9D8B030D-6E8A-4147-A177-3AD203B41FA5}">
                      <a16:colId xmlns:a16="http://schemas.microsoft.com/office/drawing/2014/main" val="720329528"/>
                    </a:ext>
                  </a:extLst>
                </a:gridCol>
                <a:gridCol w="1803754">
                  <a:extLst>
                    <a:ext uri="{9D8B030D-6E8A-4147-A177-3AD203B41FA5}">
                      <a16:colId xmlns:a16="http://schemas.microsoft.com/office/drawing/2014/main" val="654408321"/>
                    </a:ext>
                  </a:extLst>
                </a:gridCol>
              </a:tblGrid>
              <a:tr h="355353">
                <a:tc>
                  <a:txBody>
                    <a:bodyPr/>
                    <a:lstStyle/>
                    <a:p>
                      <a:r>
                        <a:rPr lang="en-GB" sz="1200" b="1" dirty="0">
                          <a:effectLst/>
                        </a:rPr>
                        <a:t>SHAP</a:t>
                      </a:r>
                      <a:endParaRPr lang="en-GB" sz="1200" dirty="0">
                        <a:effectLst/>
                      </a:endParaRPr>
                    </a:p>
                  </a:txBody>
                  <a:tcPr marL="114300" marR="114300" marT="76200" marB="76200" anchor="ctr"/>
                </a:tc>
                <a:tc>
                  <a:txBody>
                    <a:bodyPr/>
                    <a:lstStyle/>
                    <a:p>
                      <a:r>
                        <a:rPr lang="en-GB" sz="1200" b="1">
                          <a:effectLst/>
                        </a:rPr>
                        <a:t>LIME</a:t>
                      </a:r>
                      <a:endParaRPr lang="en-GB" sz="1200">
                        <a:effectLst/>
                      </a:endParaRPr>
                    </a:p>
                  </a:txBody>
                  <a:tcPr marL="114300" marR="114300" marT="76200" marB="76200" anchor="ctr"/>
                </a:tc>
                <a:extLst>
                  <a:ext uri="{0D108BD9-81ED-4DB2-BD59-A6C34878D82A}">
                    <a16:rowId xmlns:a16="http://schemas.microsoft.com/office/drawing/2014/main" val="3334273470"/>
                  </a:ext>
                </a:extLst>
              </a:tr>
              <a:tr h="355353">
                <a:tc>
                  <a:txBody>
                    <a:bodyPr/>
                    <a:lstStyle/>
                    <a:p>
                      <a:r>
                        <a:rPr lang="en-GB" sz="1200">
                          <a:effectLst/>
                        </a:rPr>
                        <a:t>Stable</a:t>
                      </a:r>
                    </a:p>
                  </a:txBody>
                  <a:tcPr marL="114300" marR="114300" marT="76200" marB="76200" anchor="ctr"/>
                </a:tc>
                <a:tc>
                  <a:txBody>
                    <a:bodyPr/>
                    <a:lstStyle/>
                    <a:p>
                      <a:r>
                        <a:rPr lang="en-GB" sz="1200" dirty="0">
                          <a:effectLst/>
                        </a:rPr>
                        <a:t>Unstable</a:t>
                      </a:r>
                    </a:p>
                  </a:txBody>
                  <a:tcPr marL="114300" marR="114300" marT="76200" marB="76200" anchor="ctr"/>
                </a:tc>
                <a:extLst>
                  <a:ext uri="{0D108BD9-81ED-4DB2-BD59-A6C34878D82A}">
                    <a16:rowId xmlns:a16="http://schemas.microsoft.com/office/drawing/2014/main" val="2467202408"/>
                  </a:ext>
                </a:extLst>
              </a:tr>
              <a:tr h="355353">
                <a:tc>
                  <a:txBody>
                    <a:bodyPr/>
                    <a:lstStyle/>
                    <a:p>
                      <a:r>
                        <a:rPr lang="en-GB" sz="1200">
                          <a:effectLst/>
                        </a:rPr>
                        <a:t>Accurate</a:t>
                      </a:r>
                    </a:p>
                  </a:txBody>
                  <a:tcPr marL="114300" marR="114300" marT="76200" marB="76200" anchor="ctr"/>
                </a:tc>
                <a:tc>
                  <a:txBody>
                    <a:bodyPr/>
                    <a:lstStyle/>
                    <a:p>
                      <a:r>
                        <a:rPr lang="en-GB" sz="1200" dirty="0">
                          <a:effectLst/>
                        </a:rPr>
                        <a:t>Fast</a:t>
                      </a:r>
                    </a:p>
                  </a:txBody>
                  <a:tcPr marL="114300" marR="114300" marT="76200" marB="76200" anchor="ctr"/>
                </a:tc>
                <a:extLst>
                  <a:ext uri="{0D108BD9-81ED-4DB2-BD59-A6C34878D82A}">
                    <a16:rowId xmlns:a16="http://schemas.microsoft.com/office/drawing/2014/main" val="1668005118"/>
                  </a:ext>
                </a:extLst>
              </a:tr>
              <a:tr h="355353">
                <a:tc>
                  <a:txBody>
                    <a:bodyPr/>
                    <a:lstStyle/>
                    <a:p>
                      <a:r>
                        <a:rPr lang="en-GB" sz="1200" dirty="0">
                          <a:effectLst/>
                        </a:rPr>
                        <a:t>Expensive</a:t>
                      </a:r>
                    </a:p>
                  </a:txBody>
                  <a:tcPr marL="114300" marR="114300" marT="76200" marB="76200" anchor="ctr"/>
                </a:tc>
                <a:tc>
                  <a:txBody>
                    <a:bodyPr/>
                    <a:lstStyle/>
                    <a:p>
                      <a:r>
                        <a:rPr lang="en-GB" sz="1200" dirty="0">
                          <a:effectLst/>
                        </a:rPr>
                        <a:t>Lightweight</a:t>
                      </a:r>
                    </a:p>
                  </a:txBody>
                  <a:tcPr marL="114300" marR="114300" marT="76200" marB="76200" anchor="ctr"/>
                </a:tc>
                <a:extLst>
                  <a:ext uri="{0D108BD9-81ED-4DB2-BD59-A6C34878D82A}">
                    <a16:rowId xmlns:a16="http://schemas.microsoft.com/office/drawing/2014/main" val="4069654172"/>
                  </a:ext>
                </a:extLst>
              </a:tr>
            </a:tbl>
          </a:graphicData>
        </a:graphic>
      </p:graphicFrame>
      <p:pic>
        <p:nvPicPr>
          <p:cNvPr id="13" name="Picture 12" descr="A screenshot of a graph&#10;&#10;AI-generated content may be incorrect.">
            <a:extLst>
              <a:ext uri="{FF2B5EF4-FFF2-40B4-BE49-F238E27FC236}">
                <a16:creationId xmlns:a16="http://schemas.microsoft.com/office/drawing/2014/main" id="{410AA726-DA56-CFE6-92E2-95A49D7DC19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484" y="3028690"/>
            <a:ext cx="6982352" cy="3768892"/>
          </a:xfrm>
          <a:prstGeom prst="rect">
            <a:avLst/>
          </a:prstGeom>
        </p:spPr>
      </p:pic>
      <p:sp>
        <p:nvSpPr>
          <p:cNvPr id="25" name="TextBox 24">
            <a:extLst>
              <a:ext uri="{FF2B5EF4-FFF2-40B4-BE49-F238E27FC236}">
                <a16:creationId xmlns:a16="http://schemas.microsoft.com/office/drawing/2014/main" id="{9F2B8FAD-37C1-9EA8-2AAF-93AC5A3A9466}"/>
              </a:ext>
            </a:extLst>
          </p:cNvPr>
          <p:cNvSpPr txBox="1"/>
          <p:nvPr/>
        </p:nvSpPr>
        <p:spPr>
          <a:xfrm>
            <a:off x="4385912" y="2155745"/>
            <a:ext cx="2112485" cy="918989"/>
          </a:xfrm>
          <a:prstGeom prst="rect">
            <a:avLst/>
          </a:prstGeom>
          <a:noFill/>
        </p:spPr>
        <p:txBody>
          <a:bodyPr wrap="square">
            <a:spAutoFit/>
          </a:bodyPr>
          <a:lstStyle/>
          <a:p>
            <a:pPr marL="0" indent="0">
              <a:lnSpc>
                <a:spcPct val="100000"/>
              </a:lnSpc>
              <a:buFont typeface="Arial" panose="020B0604020202020204" pitchFamily="34" charset="0"/>
              <a:buNone/>
            </a:pPr>
            <a:r>
              <a:rPr lang="en-GB" sz="1800" b="1" dirty="0"/>
              <a:t>LIME</a:t>
            </a:r>
          </a:p>
          <a:p>
            <a:pPr marL="171450" indent="-171450">
              <a:lnSpc>
                <a:spcPct val="100000"/>
              </a:lnSpc>
              <a:buFont typeface="Arial" panose="020B0604020202020204" pitchFamily="34" charset="0"/>
              <a:buChar char="•"/>
            </a:pPr>
            <a:r>
              <a:rPr lang="en-GB" sz="1200" dirty="0"/>
              <a:t>local surrogate model</a:t>
            </a:r>
          </a:p>
          <a:p>
            <a:pPr marL="171450" indent="-171450">
              <a:lnSpc>
                <a:spcPct val="100000"/>
              </a:lnSpc>
              <a:buFont typeface="Arial" panose="020B0604020202020204" pitchFamily="34" charset="0"/>
              <a:buChar char="•"/>
            </a:pPr>
            <a:r>
              <a:rPr lang="en-GB" sz="1200" dirty="0"/>
              <a:t>fast</a:t>
            </a:r>
          </a:p>
          <a:p>
            <a:pPr marL="171450" indent="-171450">
              <a:lnSpc>
                <a:spcPct val="100000"/>
              </a:lnSpc>
              <a:buFont typeface="Arial" panose="020B0604020202020204" pitchFamily="34" charset="0"/>
              <a:buChar char="•"/>
            </a:pPr>
            <a:r>
              <a:rPr lang="en-GB" sz="1200" dirty="0"/>
              <a:t>unstable</a:t>
            </a:r>
          </a:p>
        </p:txBody>
      </p:sp>
      <p:sp>
        <p:nvSpPr>
          <p:cNvPr id="29" name="TextBox 28">
            <a:extLst>
              <a:ext uri="{FF2B5EF4-FFF2-40B4-BE49-F238E27FC236}">
                <a16:creationId xmlns:a16="http://schemas.microsoft.com/office/drawing/2014/main" id="{27788E4A-E2C0-1132-7319-50C79EF85909}"/>
              </a:ext>
            </a:extLst>
          </p:cNvPr>
          <p:cNvSpPr txBox="1"/>
          <p:nvPr/>
        </p:nvSpPr>
        <p:spPr>
          <a:xfrm>
            <a:off x="7182637" y="5874252"/>
            <a:ext cx="2647162" cy="923330"/>
          </a:xfrm>
          <a:prstGeom prst="rect">
            <a:avLst/>
          </a:prstGeom>
          <a:noFill/>
        </p:spPr>
        <p:txBody>
          <a:bodyPr wrap="square">
            <a:spAutoFit/>
          </a:bodyPr>
          <a:lstStyle/>
          <a:p>
            <a:pPr marL="0" indent="0">
              <a:lnSpc>
                <a:spcPct val="100000"/>
              </a:lnSpc>
              <a:buFont typeface="Arial" panose="020B0604020202020204" pitchFamily="34" charset="0"/>
              <a:buNone/>
            </a:pPr>
            <a:r>
              <a:rPr lang="en-GB" sz="1800" b="1" dirty="0"/>
              <a:t>SHAP</a:t>
            </a:r>
          </a:p>
          <a:p>
            <a:pPr marL="171450" indent="-171450">
              <a:lnSpc>
                <a:spcPct val="100000"/>
              </a:lnSpc>
              <a:buFont typeface="Arial" panose="020B0604020202020204" pitchFamily="34" charset="0"/>
              <a:buChar char="•"/>
            </a:pPr>
            <a:r>
              <a:rPr lang="en-GB" sz="1200" dirty="0"/>
              <a:t>Kernel SHAP</a:t>
            </a:r>
          </a:p>
          <a:p>
            <a:pPr marL="171450" indent="-171450">
              <a:lnSpc>
                <a:spcPct val="100000"/>
              </a:lnSpc>
              <a:buFont typeface="Arial" panose="020B0604020202020204" pitchFamily="34" charset="0"/>
              <a:buChar char="•"/>
            </a:pPr>
            <a:r>
              <a:rPr lang="en-GB" sz="1200" dirty="0"/>
              <a:t>fair attribution</a:t>
            </a:r>
          </a:p>
          <a:p>
            <a:pPr marL="171450" indent="-171450">
              <a:lnSpc>
                <a:spcPct val="100000"/>
              </a:lnSpc>
              <a:buFont typeface="Arial" panose="020B0604020202020204" pitchFamily="34" charset="0"/>
              <a:buChar char="•"/>
            </a:pPr>
            <a:r>
              <a:rPr lang="en-GB" sz="1200" dirty="0"/>
              <a:t>explains reconstruction error</a:t>
            </a:r>
          </a:p>
        </p:txBody>
      </p:sp>
    </p:spTree>
    <p:extLst>
      <p:ext uri="{BB962C8B-B14F-4D97-AF65-F5344CB8AC3E}">
        <p14:creationId xmlns:p14="http://schemas.microsoft.com/office/powerpoint/2010/main" val="179289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D421B-E49F-2B93-CFC9-20ADD1A85957}"/>
              </a:ext>
            </a:extLst>
          </p:cNvPr>
          <p:cNvSpPr>
            <a:spLocks noGrp="1"/>
          </p:cNvSpPr>
          <p:nvPr>
            <p:ph type="title"/>
          </p:nvPr>
        </p:nvSpPr>
        <p:spPr/>
        <p:txBody>
          <a:bodyPr>
            <a:normAutofit/>
          </a:bodyPr>
          <a:lstStyle/>
          <a:p>
            <a:r>
              <a:rPr lang="en-GB" b="1" dirty="0"/>
              <a:t>Evaluation &amp; Validation</a:t>
            </a:r>
            <a:endParaRPr lang="en-US" dirty="0"/>
          </a:p>
        </p:txBody>
      </p:sp>
      <p:sp>
        <p:nvSpPr>
          <p:cNvPr id="3" name="Content Placeholder 2">
            <a:extLst>
              <a:ext uri="{FF2B5EF4-FFF2-40B4-BE49-F238E27FC236}">
                <a16:creationId xmlns:a16="http://schemas.microsoft.com/office/drawing/2014/main" id="{75E4453E-6E02-C016-505B-D30E93914D86}"/>
              </a:ext>
            </a:extLst>
          </p:cNvPr>
          <p:cNvSpPr>
            <a:spLocks noGrp="1"/>
          </p:cNvSpPr>
          <p:nvPr>
            <p:ph idx="1"/>
          </p:nvPr>
        </p:nvSpPr>
        <p:spPr/>
        <p:txBody>
          <a:bodyPr/>
          <a:lstStyle/>
          <a:p>
            <a:pPr marL="0" indent="0">
              <a:buNone/>
            </a:pPr>
            <a:r>
              <a:rPr lang="en-GB" b="1" dirty="0"/>
              <a:t>Metrics</a:t>
            </a:r>
          </a:p>
          <a:p>
            <a:pPr>
              <a:buFont typeface="Arial" panose="020B0604020202020204" pitchFamily="34" charset="0"/>
              <a:buChar char="•"/>
            </a:pPr>
            <a:r>
              <a:rPr lang="en-GB" dirty="0"/>
              <a:t>Recall</a:t>
            </a:r>
          </a:p>
          <a:p>
            <a:pPr>
              <a:buFont typeface="Arial" panose="020B0604020202020204" pitchFamily="34" charset="0"/>
              <a:buChar char="•"/>
            </a:pPr>
            <a:r>
              <a:rPr lang="en-GB" dirty="0"/>
              <a:t>Precision</a:t>
            </a:r>
          </a:p>
          <a:p>
            <a:pPr>
              <a:buFont typeface="Arial" panose="020B0604020202020204" pitchFamily="34" charset="0"/>
              <a:buChar char="•"/>
            </a:pPr>
            <a:r>
              <a:rPr lang="en-GB" dirty="0"/>
              <a:t>F2-score</a:t>
            </a:r>
          </a:p>
          <a:p>
            <a:pPr>
              <a:buFont typeface="Arial" panose="020B0604020202020204" pitchFamily="34" charset="0"/>
              <a:buChar char="•"/>
            </a:pPr>
            <a:r>
              <a:rPr lang="en-GB" dirty="0"/>
              <a:t>MCC</a:t>
            </a:r>
          </a:p>
          <a:p>
            <a:endParaRPr lang="en-US" dirty="0"/>
          </a:p>
        </p:txBody>
      </p:sp>
      <p:pic>
        <p:nvPicPr>
          <p:cNvPr id="5" name="Picture 4" descr="A graph of different colored squares&#10;&#10;AI-generated content may be incorrect.">
            <a:extLst>
              <a:ext uri="{FF2B5EF4-FFF2-40B4-BE49-F238E27FC236}">
                <a16:creationId xmlns:a16="http://schemas.microsoft.com/office/drawing/2014/main" id="{DA28F018-BFEC-DD7F-18B4-0775B90A5462}"/>
              </a:ext>
            </a:extLst>
          </p:cNvPr>
          <p:cNvPicPr>
            <a:picLocks noChangeAspect="1"/>
          </p:cNvPicPr>
          <p:nvPr/>
        </p:nvPicPr>
        <p:blipFill>
          <a:blip r:embed="rId3"/>
          <a:stretch>
            <a:fillRect/>
          </a:stretch>
        </p:blipFill>
        <p:spPr>
          <a:xfrm>
            <a:off x="2244479" y="1791533"/>
            <a:ext cx="3054634" cy="2491623"/>
          </a:xfrm>
          <a:prstGeom prst="rect">
            <a:avLst/>
          </a:prstGeom>
        </p:spPr>
      </p:pic>
      <p:pic>
        <p:nvPicPr>
          <p:cNvPr id="7" name="Picture 6" descr="A graph with different colored bars&#10;&#10;AI-generated content may be incorrect.">
            <a:extLst>
              <a:ext uri="{FF2B5EF4-FFF2-40B4-BE49-F238E27FC236}">
                <a16:creationId xmlns:a16="http://schemas.microsoft.com/office/drawing/2014/main" id="{2D7DBDBA-0CA3-DB80-C3A1-B1E21F468020}"/>
              </a:ext>
            </a:extLst>
          </p:cNvPr>
          <p:cNvPicPr>
            <a:picLocks noChangeAspect="1"/>
          </p:cNvPicPr>
          <p:nvPr/>
        </p:nvPicPr>
        <p:blipFill>
          <a:blip r:embed="rId4"/>
          <a:stretch>
            <a:fillRect/>
          </a:stretch>
        </p:blipFill>
        <p:spPr>
          <a:xfrm>
            <a:off x="2523032" y="4140951"/>
            <a:ext cx="2676929" cy="2183534"/>
          </a:xfrm>
          <a:prstGeom prst="rect">
            <a:avLst/>
          </a:prstGeom>
        </p:spPr>
      </p:pic>
      <p:pic>
        <p:nvPicPr>
          <p:cNvPr id="9" name="Picture 8" descr="A graph of different colored bars&#10;&#10;AI-generated content may be incorrect.">
            <a:extLst>
              <a:ext uri="{FF2B5EF4-FFF2-40B4-BE49-F238E27FC236}">
                <a16:creationId xmlns:a16="http://schemas.microsoft.com/office/drawing/2014/main" id="{39A816C8-ACBC-4BE5-7B3D-6387E89E6955}"/>
              </a:ext>
            </a:extLst>
          </p:cNvPr>
          <p:cNvPicPr>
            <a:picLocks noChangeAspect="1"/>
          </p:cNvPicPr>
          <p:nvPr/>
        </p:nvPicPr>
        <p:blipFill>
          <a:blip r:embed="rId5"/>
          <a:stretch>
            <a:fillRect/>
          </a:stretch>
        </p:blipFill>
        <p:spPr>
          <a:xfrm>
            <a:off x="5199961" y="4026706"/>
            <a:ext cx="3272010" cy="2668934"/>
          </a:xfrm>
          <a:prstGeom prst="rect">
            <a:avLst/>
          </a:prstGeom>
        </p:spPr>
      </p:pic>
      <p:pic>
        <p:nvPicPr>
          <p:cNvPr id="11" name="Picture 10" descr="A graph of different colored bars&#10;&#10;AI-generated content may be incorrect.">
            <a:extLst>
              <a:ext uri="{FF2B5EF4-FFF2-40B4-BE49-F238E27FC236}">
                <a16:creationId xmlns:a16="http://schemas.microsoft.com/office/drawing/2014/main" id="{7C9B1643-B3A6-D054-C48A-6EF7CF9053AA}"/>
              </a:ext>
            </a:extLst>
          </p:cNvPr>
          <p:cNvPicPr>
            <a:picLocks noChangeAspect="1"/>
          </p:cNvPicPr>
          <p:nvPr/>
        </p:nvPicPr>
        <p:blipFill>
          <a:blip r:embed="rId6"/>
          <a:stretch>
            <a:fillRect/>
          </a:stretch>
        </p:blipFill>
        <p:spPr>
          <a:xfrm>
            <a:off x="5299113" y="1666214"/>
            <a:ext cx="2893872" cy="2360492"/>
          </a:xfrm>
          <a:prstGeom prst="rect">
            <a:avLst/>
          </a:prstGeom>
        </p:spPr>
      </p:pic>
      <p:pic>
        <p:nvPicPr>
          <p:cNvPr id="13" name="Picture 12" descr="A graph of a curve&#10;&#10;AI-generated content may be incorrect.">
            <a:extLst>
              <a:ext uri="{FF2B5EF4-FFF2-40B4-BE49-F238E27FC236}">
                <a16:creationId xmlns:a16="http://schemas.microsoft.com/office/drawing/2014/main" id="{D2471A35-36A4-8ABB-A37E-70E7A63F686A}"/>
              </a:ext>
            </a:extLst>
          </p:cNvPr>
          <p:cNvPicPr>
            <a:picLocks noChangeAspect="1"/>
          </p:cNvPicPr>
          <p:nvPr/>
        </p:nvPicPr>
        <p:blipFill>
          <a:blip r:embed="rId7"/>
          <a:stretch>
            <a:fillRect/>
          </a:stretch>
        </p:blipFill>
        <p:spPr>
          <a:xfrm>
            <a:off x="8192985" y="3728728"/>
            <a:ext cx="3893927" cy="2926116"/>
          </a:xfrm>
          <a:prstGeom prst="rect">
            <a:avLst/>
          </a:prstGeom>
        </p:spPr>
      </p:pic>
      <p:pic>
        <p:nvPicPr>
          <p:cNvPr id="15" name="Picture 14" descr="A graph of different colored lines&#10;&#10;AI-generated content may be incorrect.">
            <a:extLst>
              <a:ext uri="{FF2B5EF4-FFF2-40B4-BE49-F238E27FC236}">
                <a16:creationId xmlns:a16="http://schemas.microsoft.com/office/drawing/2014/main" id="{83527621-3607-A9C0-B00C-44A9C4F4528A}"/>
              </a:ext>
            </a:extLst>
          </p:cNvPr>
          <p:cNvPicPr>
            <a:picLocks noChangeAspect="1"/>
          </p:cNvPicPr>
          <p:nvPr/>
        </p:nvPicPr>
        <p:blipFill>
          <a:blip r:embed="rId8"/>
          <a:stretch>
            <a:fillRect/>
          </a:stretch>
        </p:blipFill>
        <p:spPr>
          <a:xfrm>
            <a:off x="7965199" y="704223"/>
            <a:ext cx="3970569" cy="2983709"/>
          </a:xfrm>
          <a:prstGeom prst="rect">
            <a:avLst/>
          </a:prstGeom>
        </p:spPr>
      </p:pic>
    </p:spTree>
    <p:extLst>
      <p:ext uri="{BB962C8B-B14F-4D97-AF65-F5344CB8AC3E}">
        <p14:creationId xmlns:p14="http://schemas.microsoft.com/office/powerpoint/2010/main" val="36000802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DEB58-D916-D41D-5AC4-D561CFAFEBAD}"/>
              </a:ext>
            </a:extLst>
          </p:cNvPr>
          <p:cNvSpPr>
            <a:spLocks noGrp="1"/>
          </p:cNvSpPr>
          <p:nvPr>
            <p:ph type="title"/>
          </p:nvPr>
        </p:nvSpPr>
        <p:spPr/>
        <p:txBody>
          <a:bodyPr>
            <a:normAutofit fontScale="90000"/>
          </a:bodyPr>
          <a:lstStyle/>
          <a:p>
            <a:r>
              <a:rPr lang="en-GB" b="1" dirty="0"/>
              <a:t>Clinical Decision Support (FUTURE WORK)</a:t>
            </a:r>
            <a:br>
              <a:rPr lang="en-GB" b="1" dirty="0"/>
            </a:br>
            <a:endParaRPr lang="en-US" dirty="0"/>
          </a:p>
        </p:txBody>
      </p:sp>
      <p:graphicFrame>
        <p:nvGraphicFramePr>
          <p:cNvPr id="4" name="Content Placeholder 3">
            <a:extLst>
              <a:ext uri="{FF2B5EF4-FFF2-40B4-BE49-F238E27FC236}">
                <a16:creationId xmlns:a16="http://schemas.microsoft.com/office/drawing/2014/main" id="{16C9091A-7926-E45A-61A4-D42BCD6E6551}"/>
              </a:ext>
            </a:extLst>
          </p:cNvPr>
          <p:cNvGraphicFramePr>
            <a:graphicFrameLocks noGrp="1"/>
          </p:cNvGraphicFramePr>
          <p:nvPr>
            <p:ph idx="1"/>
            <p:extLst>
              <p:ext uri="{D42A27DB-BD31-4B8C-83A1-F6EECF244321}">
                <p14:modId xmlns:p14="http://schemas.microsoft.com/office/powerpoint/2010/main" val="52480251"/>
              </p:ext>
            </p:extLst>
          </p:nvPr>
        </p:nvGraphicFramePr>
        <p:xfrm>
          <a:off x="160809" y="1878650"/>
          <a:ext cx="4093830" cy="34960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D3262FF7-E7E8-2378-B12C-9C01AF2CB78D}"/>
              </a:ext>
            </a:extLst>
          </p:cNvPr>
          <p:cNvSpPr txBox="1"/>
          <p:nvPr/>
        </p:nvSpPr>
        <p:spPr>
          <a:xfrm>
            <a:off x="4693186" y="1677963"/>
            <a:ext cx="3642138" cy="2308324"/>
          </a:xfrm>
          <a:prstGeom prst="rect">
            <a:avLst/>
          </a:prstGeom>
          <a:noFill/>
        </p:spPr>
        <p:txBody>
          <a:bodyPr wrap="square">
            <a:spAutoFit/>
          </a:bodyPr>
          <a:lstStyle/>
          <a:p>
            <a:r>
              <a:rPr lang="en-GB" b="1" dirty="0"/>
              <a:t>Case A: Physiological Emergency</a:t>
            </a:r>
          </a:p>
          <a:p>
            <a:pPr>
              <a:buFont typeface="Arial" panose="020B0604020202020204" pitchFamily="34" charset="0"/>
              <a:buChar char="•"/>
            </a:pPr>
            <a:r>
              <a:rPr lang="en-GB" dirty="0"/>
              <a:t>Simultaneous decrease in:</a:t>
            </a:r>
          </a:p>
          <a:p>
            <a:pPr marL="742950" lvl="1" indent="-285750">
              <a:buFont typeface="Arial" panose="020B0604020202020204" pitchFamily="34" charset="0"/>
              <a:buChar char="•"/>
            </a:pPr>
            <a:r>
              <a:rPr lang="en-GB" dirty="0" err="1"/>
              <a:t>SpO</a:t>
            </a:r>
            <a:r>
              <a:rPr lang="en-GB" dirty="0"/>
              <a:t>₂</a:t>
            </a:r>
          </a:p>
          <a:p>
            <a:pPr marL="742950" lvl="1" indent="-285750">
              <a:buFont typeface="Arial" panose="020B0604020202020204" pitchFamily="34" charset="0"/>
              <a:buChar char="•"/>
            </a:pPr>
            <a:r>
              <a:rPr lang="en-GB" dirty="0"/>
              <a:t>Heart Rate</a:t>
            </a:r>
          </a:p>
          <a:p>
            <a:pPr>
              <a:buFont typeface="Arial" panose="020B0604020202020204" pitchFamily="34" charset="0"/>
              <a:buChar char="•"/>
            </a:pPr>
            <a:r>
              <a:rPr lang="en-GB" dirty="0"/>
              <a:t>Strong coordinated SHAP contributions</a:t>
            </a:r>
          </a:p>
          <a:p>
            <a:r>
              <a:rPr lang="en-GB" dirty="0"/>
              <a:t>Triggered:</a:t>
            </a:r>
            <a:br>
              <a:rPr lang="en-GB" dirty="0"/>
            </a:br>
            <a:r>
              <a:rPr lang="en-GB" dirty="0"/>
              <a:t>✅ Emergency Alert</a:t>
            </a:r>
          </a:p>
        </p:txBody>
      </p:sp>
      <p:sp>
        <p:nvSpPr>
          <p:cNvPr id="10" name="TextBox 9">
            <a:extLst>
              <a:ext uri="{FF2B5EF4-FFF2-40B4-BE49-F238E27FC236}">
                <a16:creationId xmlns:a16="http://schemas.microsoft.com/office/drawing/2014/main" id="{7F48F429-E13A-63B2-2FBE-A23466C561FD}"/>
              </a:ext>
            </a:extLst>
          </p:cNvPr>
          <p:cNvSpPr txBox="1"/>
          <p:nvPr/>
        </p:nvSpPr>
        <p:spPr>
          <a:xfrm>
            <a:off x="8355230" y="1677963"/>
            <a:ext cx="4093830" cy="1754326"/>
          </a:xfrm>
          <a:prstGeom prst="rect">
            <a:avLst/>
          </a:prstGeom>
          <a:noFill/>
        </p:spPr>
        <p:txBody>
          <a:bodyPr wrap="square">
            <a:spAutoFit/>
          </a:bodyPr>
          <a:lstStyle/>
          <a:p>
            <a:r>
              <a:rPr lang="en-GB" b="1" dirty="0"/>
              <a:t>Case B: Technical Sensor Fault</a:t>
            </a:r>
          </a:p>
          <a:p>
            <a:pPr>
              <a:buFont typeface="Arial" panose="020B0604020202020204" pitchFamily="34" charset="0"/>
              <a:buChar char="•"/>
            </a:pPr>
            <a:r>
              <a:rPr lang="en-GB" dirty="0"/>
              <a:t>Single erratic feature spike</a:t>
            </a:r>
          </a:p>
          <a:p>
            <a:pPr>
              <a:buFont typeface="Arial" panose="020B0604020202020204" pitchFamily="34" charset="0"/>
              <a:buChar char="•"/>
            </a:pPr>
            <a:r>
              <a:rPr lang="en-GB" dirty="0"/>
              <a:t>No supporting physiological correlation</a:t>
            </a:r>
          </a:p>
          <a:p>
            <a:pPr>
              <a:buFont typeface="Arial" panose="020B0604020202020204" pitchFamily="34" charset="0"/>
              <a:buChar char="•"/>
            </a:pPr>
            <a:r>
              <a:rPr lang="en-GB" dirty="0"/>
              <a:t>Triggered:</a:t>
            </a:r>
            <a:br>
              <a:rPr lang="en-GB" dirty="0"/>
            </a:br>
            <a:r>
              <a:rPr lang="en-GB" dirty="0"/>
              <a:t>✅ Sensor Check Notification</a:t>
            </a:r>
          </a:p>
        </p:txBody>
      </p:sp>
      <p:sp>
        <p:nvSpPr>
          <p:cNvPr id="12" name="TextBox 11">
            <a:extLst>
              <a:ext uri="{FF2B5EF4-FFF2-40B4-BE49-F238E27FC236}">
                <a16:creationId xmlns:a16="http://schemas.microsoft.com/office/drawing/2014/main" id="{78AA532C-CAF4-CA61-F932-86B76B83EA14}"/>
              </a:ext>
            </a:extLst>
          </p:cNvPr>
          <p:cNvSpPr txBox="1"/>
          <p:nvPr/>
        </p:nvSpPr>
        <p:spPr>
          <a:xfrm>
            <a:off x="8191040" y="3897345"/>
            <a:ext cx="6224530" cy="1477328"/>
          </a:xfrm>
          <a:prstGeom prst="rect">
            <a:avLst/>
          </a:prstGeom>
          <a:noFill/>
        </p:spPr>
        <p:txBody>
          <a:bodyPr wrap="square">
            <a:spAutoFit/>
          </a:bodyPr>
          <a:lstStyle/>
          <a:p>
            <a:r>
              <a:rPr lang="en-GB" b="1" dirty="0"/>
              <a:t>Benefits</a:t>
            </a:r>
          </a:p>
          <a:p>
            <a:pPr>
              <a:buFont typeface="Arial" panose="020B0604020202020204" pitchFamily="34" charset="0"/>
              <a:buChar char="•"/>
            </a:pPr>
            <a:r>
              <a:rPr lang="en-GB" dirty="0"/>
              <a:t>Reduced alarm fatigue</a:t>
            </a:r>
          </a:p>
          <a:p>
            <a:pPr>
              <a:buFont typeface="Arial" panose="020B0604020202020204" pitchFamily="34" charset="0"/>
              <a:buChar char="•"/>
            </a:pPr>
            <a:r>
              <a:rPr lang="en-GB" dirty="0"/>
              <a:t>Improved clinician trust</a:t>
            </a:r>
          </a:p>
          <a:p>
            <a:pPr>
              <a:buFont typeface="Arial" panose="020B0604020202020204" pitchFamily="34" charset="0"/>
              <a:buChar char="•"/>
            </a:pPr>
            <a:r>
              <a:rPr lang="en-GB" dirty="0"/>
              <a:t>Faster triage and prioritisation</a:t>
            </a:r>
          </a:p>
          <a:p>
            <a:pPr>
              <a:buFont typeface="Arial" panose="020B0604020202020204" pitchFamily="34" charset="0"/>
              <a:buChar char="•"/>
            </a:pPr>
            <a:r>
              <a:rPr lang="en-GB" dirty="0"/>
              <a:t>More reliable monitoring</a:t>
            </a:r>
          </a:p>
        </p:txBody>
      </p:sp>
    </p:spTree>
    <p:extLst>
      <p:ext uri="{BB962C8B-B14F-4D97-AF65-F5344CB8AC3E}">
        <p14:creationId xmlns:p14="http://schemas.microsoft.com/office/powerpoint/2010/main" val="3179751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C85CD-CDEA-5E47-2B55-C930F45538E7}"/>
              </a:ext>
            </a:extLst>
          </p:cNvPr>
          <p:cNvSpPr>
            <a:spLocks noGrp="1"/>
          </p:cNvSpPr>
          <p:nvPr>
            <p:ph type="title"/>
          </p:nvPr>
        </p:nvSpPr>
        <p:spPr/>
        <p:txBody>
          <a:bodyPr>
            <a:normAutofit/>
          </a:bodyPr>
          <a:lstStyle/>
          <a:p>
            <a:r>
              <a:rPr lang="en-GB" b="1" dirty="0"/>
              <a:t>Critical Appraisal &amp; Reflection</a:t>
            </a:r>
            <a:endParaRPr lang="en-US" dirty="0"/>
          </a:p>
        </p:txBody>
      </p:sp>
      <p:sp>
        <p:nvSpPr>
          <p:cNvPr id="5" name="TextBox 4">
            <a:extLst>
              <a:ext uri="{FF2B5EF4-FFF2-40B4-BE49-F238E27FC236}">
                <a16:creationId xmlns:a16="http://schemas.microsoft.com/office/drawing/2014/main" id="{6C9364DF-FB68-E545-F0EA-5E29CA2315B0}"/>
              </a:ext>
            </a:extLst>
          </p:cNvPr>
          <p:cNvSpPr txBox="1"/>
          <p:nvPr/>
        </p:nvSpPr>
        <p:spPr>
          <a:xfrm>
            <a:off x="5615848" y="1681359"/>
            <a:ext cx="6097836" cy="2031325"/>
          </a:xfrm>
          <a:prstGeom prst="rect">
            <a:avLst/>
          </a:prstGeom>
          <a:noFill/>
        </p:spPr>
        <p:txBody>
          <a:bodyPr wrap="square">
            <a:spAutoFit/>
          </a:bodyPr>
          <a:lstStyle/>
          <a:p>
            <a:r>
              <a:rPr lang="en-GB" b="1" dirty="0"/>
              <a:t>Key Limitations</a:t>
            </a:r>
          </a:p>
          <a:p>
            <a:pPr>
              <a:buFont typeface="Arial" panose="020B0604020202020204" pitchFamily="34" charset="0"/>
              <a:buChar char="•"/>
            </a:pPr>
            <a:r>
              <a:rPr lang="en-GB" dirty="0"/>
              <a:t>Kernel SHAP introduced computational overhead</a:t>
            </a:r>
          </a:p>
          <a:p>
            <a:pPr>
              <a:buFont typeface="Arial" panose="020B0604020202020204" pitchFamily="34" charset="0"/>
              <a:buChar char="•"/>
            </a:pPr>
            <a:r>
              <a:rPr lang="en-GB" dirty="0"/>
              <a:t>High latency on resource-constrained wearable devices</a:t>
            </a:r>
          </a:p>
          <a:p>
            <a:pPr>
              <a:buFont typeface="Arial" panose="020B0604020202020204" pitchFamily="34" charset="0"/>
              <a:buChar char="•"/>
            </a:pPr>
            <a:r>
              <a:rPr lang="en-GB" dirty="0"/>
              <a:t>LIME explanations showed instability across similar samples</a:t>
            </a:r>
          </a:p>
          <a:p>
            <a:pPr>
              <a:buFont typeface="Arial" panose="020B0604020202020204" pitchFamily="34" charset="0"/>
              <a:buChar char="•"/>
            </a:pPr>
            <a:r>
              <a:rPr lang="en-GB" dirty="0"/>
              <a:t>Autoencoder struggled with long-term temporal dependencies</a:t>
            </a:r>
          </a:p>
        </p:txBody>
      </p:sp>
      <p:sp>
        <p:nvSpPr>
          <p:cNvPr id="7" name="TextBox 6">
            <a:extLst>
              <a:ext uri="{FF2B5EF4-FFF2-40B4-BE49-F238E27FC236}">
                <a16:creationId xmlns:a16="http://schemas.microsoft.com/office/drawing/2014/main" id="{E73E3F36-3C3D-61E5-0642-1DF5FB786859}"/>
              </a:ext>
            </a:extLst>
          </p:cNvPr>
          <p:cNvSpPr txBox="1"/>
          <p:nvPr/>
        </p:nvSpPr>
        <p:spPr>
          <a:xfrm>
            <a:off x="777753" y="4160978"/>
            <a:ext cx="6097836" cy="1477328"/>
          </a:xfrm>
          <a:prstGeom prst="rect">
            <a:avLst/>
          </a:prstGeom>
          <a:noFill/>
        </p:spPr>
        <p:txBody>
          <a:bodyPr wrap="square">
            <a:spAutoFit/>
          </a:bodyPr>
          <a:lstStyle/>
          <a:p>
            <a:r>
              <a:rPr lang="en-GB" b="1" dirty="0"/>
              <a:t>Future Work</a:t>
            </a:r>
          </a:p>
          <a:p>
            <a:pPr>
              <a:buFont typeface="Arial" panose="020B0604020202020204" pitchFamily="34" charset="0"/>
              <a:buChar char="•"/>
            </a:pPr>
            <a:r>
              <a:rPr lang="en-GB" dirty="0"/>
              <a:t>Temporal Transformers for sequential modelling</a:t>
            </a:r>
          </a:p>
          <a:p>
            <a:pPr>
              <a:buFont typeface="Arial" panose="020B0604020202020204" pitchFamily="34" charset="0"/>
              <a:buChar char="•"/>
            </a:pPr>
            <a:r>
              <a:rPr lang="en-GB" dirty="0"/>
              <a:t>Federated Learning for privacy-preserving healthcare AI</a:t>
            </a:r>
          </a:p>
          <a:p>
            <a:pPr>
              <a:buFont typeface="Arial" panose="020B0604020202020204" pitchFamily="34" charset="0"/>
              <a:buChar char="•"/>
            </a:pPr>
            <a:r>
              <a:rPr lang="en-GB" dirty="0"/>
              <a:t>Tiny ML / Edge AI optimisation</a:t>
            </a:r>
          </a:p>
          <a:p>
            <a:pPr>
              <a:buFont typeface="Arial" panose="020B0604020202020204" pitchFamily="34" charset="0"/>
              <a:buChar char="•"/>
            </a:pPr>
            <a:r>
              <a:rPr lang="en-GB" dirty="0"/>
              <a:t>Lightweight SHAP approximations</a:t>
            </a:r>
          </a:p>
        </p:txBody>
      </p:sp>
      <p:sp>
        <p:nvSpPr>
          <p:cNvPr id="9" name="TextBox 8">
            <a:extLst>
              <a:ext uri="{FF2B5EF4-FFF2-40B4-BE49-F238E27FC236}">
                <a16:creationId xmlns:a16="http://schemas.microsoft.com/office/drawing/2014/main" id="{FF1D4B5F-4B11-9926-5A75-7A79F4638AC6}"/>
              </a:ext>
            </a:extLst>
          </p:cNvPr>
          <p:cNvSpPr txBox="1"/>
          <p:nvPr/>
        </p:nvSpPr>
        <p:spPr>
          <a:xfrm>
            <a:off x="700635" y="1684757"/>
            <a:ext cx="6097836" cy="2031325"/>
          </a:xfrm>
          <a:prstGeom prst="rect">
            <a:avLst/>
          </a:prstGeom>
          <a:noFill/>
        </p:spPr>
        <p:txBody>
          <a:bodyPr wrap="square">
            <a:spAutoFit/>
          </a:bodyPr>
          <a:lstStyle/>
          <a:p>
            <a:pPr marL="0" indent="0">
              <a:buNone/>
            </a:pPr>
            <a:r>
              <a:rPr lang="en-GB" b="1" dirty="0"/>
              <a:t>Strengths &amp; Achievements</a:t>
            </a:r>
          </a:p>
          <a:p>
            <a:pPr>
              <a:buFont typeface="Arial" panose="020B0604020202020204" pitchFamily="34" charset="0"/>
              <a:buChar char="•"/>
            </a:pPr>
            <a:r>
              <a:rPr lang="en-GB" dirty="0"/>
              <a:t>Successfully integrated:</a:t>
            </a:r>
          </a:p>
          <a:p>
            <a:pPr marL="742950" lvl="1" indent="-285750">
              <a:buFont typeface="Arial" panose="020B0604020202020204" pitchFamily="34" charset="0"/>
              <a:buChar char="•"/>
            </a:pPr>
            <a:r>
              <a:rPr lang="en-GB" dirty="0"/>
              <a:t>Autoencoder anomaly detection</a:t>
            </a:r>
          </a:p>
          <a:p>
            <a:pPr marL="742950" lvl="1" indent="-285750">
              <a:buFont typeface="Arial" panose="020B0604020202020204" pitchFamily="34" charset="0"/>
              <a:buChar char="•"/>
            </a:pPr>
            <a:r>
              <a:rPr lang="en-GB" dirty="0"/>
              <a:t>SHAP explainability</a:t>
            </a:r>
          </a:p>
          <a:p>
            <a:pPr>
              <a:buFont typeface="Arial" panose="020B0604020202020204" pitchFamily="34" charset="0"/>
              <a:buChar char="•"/>
            </a:pPr>
            <a:r>
              <a:rPr lang="en-GB" dirty="0"/>
              <a:t>Improved interpretability in healthcare AI</a:t>
            </a:r>
          </a:p>
          <a:p>
            <a:pPr>
              <a:buFont typeface="Arial" panose="020B0604020202020204" pitchFamily="34" charset="0"/>
              <a:buChar char="•"/>
            </a:pPr>
            <a:r>
              <a:rPr lang="en-GB" dirty="0"/>
              <a:t>Reduced false emergency escalation</a:t>
            </a:r>
          </a:p>
          <a:p>
            <a:pPr>
              <a:buFont typeface="Arial" panose="020B0604020202020204" pitchFamily="34" charset="0"/>
              <a:buChar char="•"/>
            </a:pPr>
            <a:r>
              <a:rPr lang="en-GB" dirty="0"/>
              <a:t>Demonstrated strong recall for anomaly detection</a:t>
            </a:r>
          </a:p>
        </p:txBody>
      </p:sp>
      <p:pic>
        <p:nvPicPr>
          <p:cNvPr id="11" name="Picture 10" descr="A graph of different colored bars&#10;&#10;AI-generated content may be incorrect.">
            <a:extLst>
              <a:ext uri="{FF2B5EF4-FFF2-40B4-BE49-F238E27FC236}">
                <a16:creationId xmlns:a16="http://schemas.microsoft.com/office/drawing/2014/main" id="{EF225B86-C76A-0E47-A7B5-AD32A2D533B5}"/>
              </a:ext>
            </a:extLst>
          </p:cNvPr>
          <p:cNvPicPr>
            <a:picLocks noChangeAspect="1"/>
          </p:cNvPicPr>
          <p:nvPr/>
        </p:nvPicPr>
        <p:blipFill>
          <a:blip r:embed="rId3"/>
          <a:stretch>
            <a:fillRect/>
          </a:stretch>
        </p:blipFill>
        <p:spPr>
          <a:xfrm>
            <a:off x="6875588" y="3712333"/>
            <a:ext cx="5316411" cy="3098202"/>
          </a:xfrm>
          <a:prstGeom prst="rect">
            <a:avLst/>
          </a:prstGeom>
        </p:spPr>
      </p:pic>
    </p:spTree>
    <p:extLst>
      <p:ext uri="{BB962C8B-B14F-4D97-AF65-F5344CB8AC3E}">
        <p14:creationId xmlns:p14="http://schemas.microsoft.com/office/powerpoint/2010/main" val="4215857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06CAA-52BA-F229-F602-81C9387E767F}"/>
              </a:ext>
            </a:extLst>
          </p:cNvPr>
          <p:cNvSpPr>
            <a:spLocks noGrp="1"/>
          </p:cNvSpPr>
          <p:nvPr>
            <p:ph type="title"/>
          </p:nvPr>
        </p:nvSpPr>
        <p:spPr/>
        <p:txBody>
          <a:bodyPr>
            <a:normAutofit fontScale="90000"/>
          </a:bodyPr>
          <a:lstStyle/>
          <a:p>
            <a:r>
              <a:rPr lang="en-GB" b="1" dirty="0"/>
              <a:t>ELSS Considerations</a:t>
            </a:r>
            <a:br>
              <a:rPr lang="en-GB" b="1" dirty="0"/>
            </a:br>
            <a:endParaRPr lang="en-US" dirty="0"/>
          </a:p>
        </p:txBody>
      </p:sp>
      <p:sp>
        <p:nvSpPr>
          <p:cNvPr id="5" name="TextBox 4">
            <a:extLst>
              <a:ext uri="{FF2B5EF4-FFF2-40B4-BE49-F238E27FC236}">
                <a16:creationId xmlns:a16="http://schemas.microsoft.com/office/drawing/2014/main" id="{D2CEB8F7-8ABF-7071-C9EE-C740DECE9CA3}"/>
              </a:ext>
            </a:extLst>
          </p:cNvPr>
          <p:cNvSpPr txBox="1"/>
          <p:nvPr/>
        </p:nvSpPr>
        <p:spPr>
          <a:xfrm>
            <a:off x="5157502" y="2069348"/>
            <a:ext cx="6097836" cy="2123658"/>
          </a:xfrm>
          <a:prstGeom prst="rect">
            <a:avLst/>
          </a:prstGeom>
          <a:noFill/>
        </p:spPr>
        <p:txBody>
          <a:bodyPr wrap="square">
            <a:spAutoFit/>
          </a:bodyPr>
          <a:lstStyle/>
          <a:p>
            <a:r>
              <a:rPr lang="en-GB" sz="2000" b="1" dirty="0">
                <a:latin typeface="+mj-lt"/>
              </a:rPr>
              <a:t>Professional</a:t>
            </a:r>
          </a:p>
          <a:p>
            <a:r>
              <a:rPr lang="en-GB" sz="1600" b="1" dirty="0"/>
              <a:t>BCS Code of Conduct</a:t>
            </a:r>
          </a:p>
          <a:p>
            <a:pPr>
              <a:buFont typeface="Arial" panose="020B0604020202020204" pitchFamily="34" charset="0"/>
              <a:buChar char="•"/>
            </a:pPr>
            <a:r>
              <a:rPr lang="en-GB" sz="1600" dirty="0"/>
              <a:t>Duty of Care</a:t>
            </a:r>
          </a:p>
          <a:p>
            <a:pPr>
              <a:buFont typeface="Arial" panose="020B0604020202020204" pitchFamily="34" charset="0"/>
              <a:buChar char="•"/>
            </a:pPr>
            <a:r>
              <a:rPr lang="en-GB" sz="1600" dirty="0"/>
              <a:t>Public Interest</a:t>
            </a:r>
          </a:p>
          <a:p>
            <a:pPr>
              <a:buFont typeface="Arial" panose="020B0604020202020204" pitchFamily="34" charset="0"/>
              <a:buChar char="•"/>
            </a:pPr>
            <a:r>
              <a:rPr lang="en-GB" sz="1600" dirty="0"/>
              <a:t>Transparency in AI systems</a:t>
            </a:r>
          </a:p>
          <a:p>
            <a:r>
              <a:rPr lang="en-GB" sz="1600" b="1" dirty="0"/>
              <a:t>GDPR Compliance</a:t>
            </a:r>
          </a:p>
          <a:p>
            <a:pPr>
              <a:buFont typeface="Arial" panose="020B0604020202020204" pitchFamily="34" charset="0"/>
              <a:buChar char="•"/>
            </a:pPr>
            <a:r>
              <a:rPr lang="en-GB" sz="1600" dirty="0"/>
              <a:t>Data anonymisation</a:t>
            </a:r>
          </a:p>
          <a:p>
            <a:pPr>
              <a:buFont typeface="Arial" panose="020B0604020202020204" pitchFamily="34" charset="0"/>
              <a:buChar char="•"/>
            </a:pPr>
            <a:r>
              <a:rPr lang="en-GB" sz="1600" dirty="0"/>
              <a:t>Secure handling of patient information</a:t>
            </a:r>
          </a:p>
        </p:txBody>
      </p:sp>
      <p:sp>
        <p:nvSpPr>
          <p:cNvPr id="7" name="TextBox 6">
            <a:extLst>
              <a:ext uri="{FF2B5EF4-FFF2-40B4-BE49-F238E27FC236}">
                <a16:creationId xmlns:a16="http://schemas.microsoft.com/office/drawing/2014/main" id="{289FAC6B-4B70-9AD5-A914-B0AB5A941DEE}"/>
              </a:ext>
            </a:extLst>
          </p:cNvPr>
          <p:cNvSpPr txBox="1"/>
          <p:nvPr/>
        </p:nvSpPr>
        <p:spPr>
          <a:xfrm>
            <a:off x="592156" y="1648873"/>
            <a:ext cx="5169665" cy="1877437"/>
          </a:xfrm>
          <a:prstGeom prst="rect">
            <a:avLst/>
          </a:prstGeom>
          <a:noFill/>
        </p:spPr>
        <p:txBody>
          <a:bodyPr wrap="square">
            <a:spAutoFit/>
          </a:bodyPr>
          <a:lstStyle/>
          <a:p>
            <a:pPr marL="0" indent="0">
              <a:buNone/>
            </a:pPr>
            <a:r>
              <a:rPr lang="en-GB" sz="2000" b="1" dirty="0">
                <a:latin typeface="+mj-lt"/>
              </a:rPr>
              <a:t>Ethical</a:t>
            </a:r>
          </a:p>
          <a:p>
            <a:r>
              <a:rPr lang="en-GB" sz="1600" b="1" dirty="0"/>
              <a:t>Automation Bias:</a:t>
            </a:r>
          </a:p>
          <a:p>
            <a:pPr>
              <a:buFont typeface="Arial" panose="020B0604020202020204" pitchFamily="34" charset="0"/>
              <a:buChar char="•"/>
            </a:pPr>
            <a:r>
              <a:rPr lang="en-GB" sz="1600" dirty="0"/>
              <a:t>Risk of clinicians over-relying on AI predictions</a:t>
            </a:r>
          </a:p>
          <a:p>
            <a:pPr>
              <a:buFont typeface="Arial" panose="020B0604020202020204" pitchFamily="34" charset="0"/>
              <a:buChar char="•"/>
            </a:pPr>
            <a:r>
              <a:rPr lang="en-GB" sz="1600" dirty="0"/>
              <a:t>SHAP explanations support human verification</a:t>
            </a:r>
          </a:p>
          <a:p>
            <a:r>
              <a:rPr lang="en-GB" sz="1600" b="1" dirty="0"/>
              <a:t>False Negatives:</a:t>
            </a:r>
          </a:p>
          <a:p>
            <a:pPr>
              <a:buFont typeface="Arial" panose="020B0604020202020204" pitchFamily="34" charset="0"/>
              <a:buChar char="•"/>
            </a:pPr>
            <a:r>
              <a:rPr lang="en-GB" sz="1600" dirty="0"/>
              <a:t>Missing critical events may endanger patients</a:t>
            </a:r>
          </a:p>
          <a:p>
            <a:pPr>
              <a:buFont typeface="Arial" panose="020B0604020202020204" pitchFamily="34" charset="0"/>
              <a:buChar char="•"/>
            </a:pPr>
            <a:r>
              <a:rPr lang="en-GB" sz="1600" dirty="0"/>
              <a:t>Threshold prioritised high recall for safety</a:t>
            </a:r>
          </a:p>
        </p:txBody>
      </p:sp>
      <p:sp>
        <p:nvSpPr>
          <p:cNvPr id="9" name="TextBox 8">
            <a:extLst>
              <a:ext uri="{FF2B5EF4-FFF2-40B4-BE49-F238E27FC236}">
                <a16:creationId xmlns:a16="http://schemas.microsoft.com/office/drawing/2014/main" id="{FF1C1870-36AC-837E-5812-A64B94D2F5C6}"/>
              </a:ext>
            </a:extLst>
          </p:cNvPr>
          <p:cNvSpPr txBox="1"/>
          <p:nvPr/>
        </p:nvSpPr>
        <p:spPr>
          <a:xfrm>
            <a:off x="4863030" y="4435495"/>
            <a:ext cx="6097836" cy="1508105"/>
          </a:xfrm>
          <a:prstGeom prst="rect">
            <a:avLst/>
          </a:prstGeom>
          <a:noFill/>
        </p:spPr>
        <p:txBody>
          <a:bodyPr wrap="square">
            <a:spAutoFit/>
          </a:bodyPr>
          <a:lstStyle/>
          <a:p>
            <a:r>
              <a:rPr lang="en-GB" sz="2000" b="1" dirty="0">
                <a:latin typeface="+mj-lt"/>
              </a:rPr>
              <a:t>Social</a:t>
            </a:r>
          </a:p>
          <a:p>
            <a:r>
              <a:rPr lang="en-GB" b="1" dirty="0"/>
              <a:t>Alarm Fatigue Reduction</a:t>
            </a:r>
          </a:p>
          <a:p>
            <a:pPr>
              <a:buFont typeface="Arial" panose="020B0604020202020204" pitchFamily="34" charset="0"/>
              <a:buChar char="•"/>
            </a:pPr>
            <a:r>
              <a:rPr lang="en-GB" dirty="0"/>
              <a:t>Reduced false alarms</a:t>
            </a:r>
          </a:p>
          <a:p>
            <a:pPr>
              <a:buFont typeface="Arial" panose="020B0604020202020204" pitchFamily="34" charset="0"/>
              <a:buChar char="•"/>
            </a:pPr>
            <a:r>
              <a:rPr lang="en-GB" dirty="0"/>
              <a:t>Improved clinician efficiency</a:t>
            </a:r>
          </a:p>
          <a:p>
            <a:pPr>
              <a:buFont typeface="Arial" panose="020B0604020202020204" pitchFamily="34" charset="0"/>
              <a:buChar char="•"/>
            </a:pPr>
            <a:r>
              <a:rPr lang="en-GB" dirty="0"/>
              <a:t>Increased trust in AI-assisted monitoring</a:t>
            </a:r>
          </a:p>
        </p:txBody>
      </p:sp>
      <p:sp>
        <p:nvSpPr>
          <p:cNvPr id="11" name="TextBox 10">
            <a:extLst>
              <a:ext uri="{FF2B5EF4-FFF2-40B4-BE49-F238E27FC236}">
                <a16:creationId xmlns:a16="http://schemas.microsoft.com/office/drawing/2014/main" id="{CDEF128A-8FD7-159D-B6A2-CBAD55676B82}"/>
              </a:ext>
            </a:extLst>
          </p:cNvPr>
          <p:cNvSpPr txBox="1"/>
          <p:nvPr/>
        </p:nvSpPr>
        <p:spPr>
          <a:xfrm>
            <a:off x="700635" y="3855773"/>
            <a:ext cx="4456867" cy="1877437"/>
          </a:xfrm>
          <a:prstGeom prst="rect">
            <a:avLst/>
          </a:prstGeom>
          <a:noFill/>
        </p:spPr>
        <p:txBody>
          <a:bodyPr wrap="square">
            <a:spAutoFit/>
          </a:bodyPr>
          <a:lstStyle/>
          <a:p>
            <a:r>
              <a:rPr lang="en-GB" sz="2000" b="1" dirty="0">
                <a:latin typeface="+mj-lt"/>
              </a:rPr>
              <a:t>Sustainability</a:t>
            </a:r>
          </a:p>
          <a:p>
            <a:r>
              <a:rPr lang="en-GB" sz="1600" b="1" dirty="0"/>
              <a:t>Computational Cost</a:t>
            </a:r>
          </a:p>
          <a:p>
            <a:pPr>
              <a:buFont typeface="Arial" panose="020B0604020202020204" pitchFamily="34" charset="0"/>
              <a:buChar char="•"/>
            </a:pPr>
            <a:r>
              <a:rPr lang="en-GB" sz="1600" dirty="0"/>
              <a:t>SHAP increases CPU and energy usage</a:t>
            </a:r>
          </a:p>
          <a:p>
            <a:pPr>
              <a:buFont typeface="Arial" panose="020B0604020202020204" pitchFamily="34" charset="0"/>
              <a:buChar char="•"/>
            </a:pPr>
            <a:r>
              <a:rPr lang="en-GB" sz="1600" dirty="0"/>
              <a:t>Edge devices have battery limitations</a:t>
            </a:r>
          </a:p>
          <a:p>
            <a:r>
              <a:rPr lang="en-GB" sz="1600" b="1" dirty="0"/>
              <a:t>Mitigation</a:t>
            </a:r>
          </a:p>
          <a:p>
            <a:pPr>
              <a:buFont typeface="Arial" panose="020B0604020202020204" pitchFamily="34" charset="0"/>
              <a:buChar char="•"/>
            </a:pPr>
            <a:r>
              <a:rPr lang="en-GB" sz="1600" dirty="0"/>
              <a:t>Edge-cloud hybrid processing</a:t>
            </a:r>
          </a:p>
          <a:p>
            <a:pPr>
              <a:buFont typeface="Arial" panose="020B0604020202020204" pitchFamily="34" charset="0"/>
              <a:buChar char="•"/>
            </a:pPr>
            <a:r>
              <a:rPr lang="en-GB" sz="1600" dirty="0"/>
              <a:t>Lightweight explainability models</a:t>
            </a:r>
          </a:p>
        </p:txBody>
      </p:sp>
      <p:pic>
        <p:nvPicPr>
          <p:cNvPr id="13" name="Picture 12" descr="A person touching a machine&#10;&#10;AI-generated content may be incorrect.">
            <a:extLst>
              <a:ext uri="{FF2B5EF4-FFF2-40B4-BE49-F238E27FC236}">
                <a16:creationId xmlns:a16="http://schemas.microsoft.com/office/drawing/2014/main" id="{C34F53F9-55BA-F259-6F12-9CF387D8148E}"/>
              </a:ext>
            </a:extLst>
          </p:cNvPr>
          <p:cNvPicPr>
            <a:picLocks noChangeAspect="1"/>
          </p:cNvPicPr>
          <p:nvPr/>
        </p:nvPicPr>
        <p:blipFill>
          <a:blip r:embed="rId3">
            <a:alphaModFix amt="76000"/>
            <a:extLst>
              <a:ext uri="{837473B0-CC2E-450A-ABE3-18F120FF3D39}">
                <a1611:picAttrSrcUrl xmlns:a1611="http://schemas.microsoft.com/office/drawing/2016/11/main" r:id="rId4"/>
              </a:ext>
            </a:extLst>
          </a:blip>
          <a:stretch>
            <a:fillRect/>
          </a:stretch>
        </p:blipFill>
        <p:spPr>
          <a:xfrm>
            <a:off x="8045450" y="753745"/>
            <a:ext cx="3898900" cy="2184400"/>
          </a:xfrm>
          <a:prstGeom prst="rect">
            <a:avLst/>
          </a:prstGeom>
        </p:spPr>
      </p:pic>
    </p:spTree>
    <p:extLst>
      <p:ext uri="{BB962C8B-B14F-4D97-AF65-F5344CB8AC3E}">
        <p14:creationId xmlns:p14="http://schemas.microsoft.com/office/powerpoint/2010/main" val="4014919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C1C34-E7D1-3F5A-BF34-0F73CD06CC56}"/>
              </a:ext>
            </a:extLst>
          </p:cNvPr>
          <p:cNvSpPr>
            <a:spLocks noGrp="1"/>
          </p:cNvSpPr>
          <p:nvPr>
            <p:ph type="title"/>
          </p:nvPr>
        </p:nvSpPr>
        <p:spPr/>
        <p:txBody>
          <a:bodyPr>
            <a:normAutofit/>
          </a:bodyPr>
          <a:lstStyle/>
          <a:p>
            <a:r>
              <a:rPr lang="en-GB" b="1" dirty="0"/>
              <a:t>Conclusion</a:t>
            </a:r>
            <a:endParaRPr lang="en-US" dirty="0"/>
          </a:p>
        </p:txBody>
      </p:sp>
      <p:graphicFrame>
        <p:nvGraphicFramePr>
          <p:cNvPr id="5" name="Content Placeholder 2">
            <a:extLst>
              <a:ext uri="{FF2B5EF4-FFF2-40B4-BE49-F238E27FC236}">
                <a16:creationId xmlns:a16="http://schemas.microsoft.com/office/drawing/2014/main" id="{3B314AE6-280F-66F0-F79C-1009D08F563F}"/>
              </a:ext>
            </a:extLst>
          </p:cNvPr>
          <p:cNvGraphicFramePr>
            <a:graphicFrameLocks noGrp="1"/>
          </p:cNvGraphicFramePr>
          <p:nvPr>
            <p:ph idx="1"/>
            <p:extLst>
              <p:ext uri="{D42A27DB-BD31-4B8C-83A1-F6EECF244321}">
                <p14:modId xmlns:p14="http://schemas.microsoft.com/office/powerpoint/2010/main" val="3307286775"/>
              </p:ext>
            </p:extLst>
          </p:nvPr>
        </p:nvGraphicFramePr>
        <p:xfrm>
          <a:off x="294440" y="1776539"/>
          <a:ext cx="8642281" cy="28594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934A7062-B2CB-8B4E-1992-8DB5FD6EDBA8}"/>
              </a:ext>
            </a:extLst>
          </p:cNvPr>
          <p:cNvSpPr txBox="1"/>
          <p:nvPr/>
        </p:nvSpPr>
        <p:spPr>
          <a:xfrm>
            <a:off x="360803" y="4535676"/>
            <a:ext cx="7857780" cy="646331"/>
          </a:xfrm>
          <a:prstGeom prst="rect">
            <a:avLst/>
          </a:prstGeom>
          <a:noFill/>
        </p:spPr>
        <p:txBody>
          <a:bodyPr wrap="square">
            <a:spAutoFit/>
          </a:bodyPr>
          <a:lstStyle/>
          <a:p>
            <a:r>
              <a:rPr lang="en-GB" dirty="0"/>
              <a:t>This project transforms AI from a passive prediction system into a trustworthy clinical decision-support framework for next-generation healthcare monitoring.</a:t>
            </a:r>
          </a:p>
        </p:txBody>
      </p:sp>
      <p:pic>
        <p:nvPicPr>
          <p:cNvPr id="10" name="Picture 9" descr="A logo for a healthcare company&#10;&#10;AI-generated content may be incorrect.">
            <a:extLst>
              <a:ext uri="{FF2B5EF4-FFF2-40B4-BE49-F238E27FC236}">
                <a16:creationId xmlns:a16="http://schemas.microsoft.com/office/drawing/2014/main" id="{30ABC8DE-B19F-270A-9D5D-74B439AB82A1}"/>
              </a:ext>
            </a:extLst>
          </p:cNvPr>
          <p:cNvPicPr>
            <a:picLocks noChangeAspect="1"/>
          </p:cNvPicPr>
          <p:nvPr/>
        </p:nvPicPr>
        <p:blipFill>
          <a:blip r:embed="rId8">
            <a:extLst>
              <a:ext uri="{837473B0-CC2E-450A-ABE3-18F120FF3D39}">
                <a1611:picAttrSrcUrl xmlns:a1611="http://schemas.microsoft.com/office/drawing/2016/11/main" r:id="rId9"/>
              </a:ext>
            </a:extLst>
          </a:blip>
          <a:stretch>
            <a:fillRect/>
          </a:stretch>
        </p:blipFill>
        <p:spPr>
          <a:xfrm>
            <a:off x="9035100" y="1593400"/>
            <a:ext cx="3039387" cy="2288479"/>
          </a:xfrm>
          <a:prstGeom prst="rect">
            <a:avLst/>
          </a:prstGeom>
        </p:spPr>
      </p:pic>
      <p:pic>
        <p:nvPicPr>
          <p:cNvPr id="13" name="Picture 12" descr="A diagram of a graph and a chart&#10;&#10;AI-generated content may be incorrect.">
            <a:extLst>
              <a:ext uri="{FF2B5EF4-FFF2-40B4-BE49-F238E27FC236}">
                <a16:creationId xmlns:a16="http://schemas.microsoft.com/office/drawing/2014/main" id="{8F620A3A-8DD9-2C83-688A-5DBAE9618AB4}"/>
              </a:ext>
            </a:extLst>
          </p:cNvPr>
          <p:cNvPicPr>
            <a:picLocks noChangeAspect="1"/>
          </p:cNvPicPr>
          <p:nvPr/>
        </p:nvPicPr>
        <p:blipFill>
          <a:blip r:embed="rId10">
            <a:extLst>
              <a:ext uri="{837473B0-CC2E-450A-ABE3-18F120FF3D39}">
                <a1611:picAttrSrcUrl xmlns:a1611="http://schemas.microsoft.com/office/drawing/2016/11/main" r:id="rId11"/>
              </a:ext>
            </a:extLst>
          </a:blip>
          <a:stretch>
            <a:fillRect/>
          </a:stretch>
        </p:blipFill>
        <p:spPr>
          <a:xfrm>
            <a:off x="9035100" y="4027546"/>
            <a:ext cx="2862460" cy="2068127"/>
          </a:xfrm>
          <a:prstGeom prst="rect">
            <a:avLst/>
          </a:prstGeom>
        </p:spPr>
      </p:pic>
    </p:spTree>
    <p:extLst>
      <p:ext uri="{BB962C8B-B14F-4D97-AF65-F5344CB8AC3E}">
        <p14:creationId xmlns:p14="http://schemas.microsoft.com/office/powerpoint/2010/main" val="975064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DA240-B6D1-438D-F43A-8258BAEC1FA6}"/>
              </a:ext>
            </a:extLst>
          </p:cNvPr>
          <p:cNvSpPr>
            <a:spLocks noGrp="1"/>
          </p:cNvSpPr>
          <p:nvPr>
            <p:ph type="title"/>
          </p:nvPr>
        </p:nvSpPr>
        <p:spPr>
          <a:xfrm>
            <a:off x="700635" y="694063"/>
            <a:ext cx="10691265" cy="627961"/>
          </a:xfrm>
        </p:spPr>
        <p:txBody>
          <a:bodyPr>
            <a:normAutofit fontScale="90000"/>
          </a:bodyPr>
          <a:lstStyle/>
          <a:p>
            <a:r>
              <a:rPr lang="en-US" dirty="0"/>
              <a:t>References</a:t>
            </a:r>
          </a:p>
        </p:txBody>
      </p:sp>
      <p:sp>
        <p:nvSpPr>
          <p:cNvPr id="3" name="Content Placeholder 2">
            <a:extLst>
              <a:ext uri="{FF2B5EF4-FFF2-40B4-BE49-F238E27FC236}">
                <a16:creationId xmlns:a16="http://schemas.microsoft.com/office/drawing/2014/main" id="{CFF4589E-7DC0-2718-BFB5-8DD35B267C54}"/>
              </a:ext>
            </a:extLst>
          </p:cNvPr>
          <p:cNvSpPr>
            <a:spLocks noGrp="1"/>
          </p:cNvSpPr>
          <p:nvPr>
            <p:ph idx="1"/>
          </p:nvPr>
        </p:nvSpPr>
        <p:spPr>
          <a:xfrm>
            <a:off x="623517" y="1228380"/>
            <a:ext cx="11329784" cy="4401239"/>
          </a:xfrm>
        </p:spPr>
        <p:txBody>
          <a:bodyPr>
            <a:noAutofit/>
          </a:bodyPr>
          <a:lstStyle/>
          <a:p>
            <a:pPr marL="0" indent="0" algn="just">
              <a:lnSpc>
                <a:spcPct val="115000"/>
              </a:lnSpc>
              <a:spcAft>
                <a:spcPts val="800"/>
              </a:spcAft>
              <a:buNone/>
            </a:pPr>
            <a:r>
              <a:rPr lang="en-GB" sz="1050" kern="100" dirty="0">
                <a:effectLst/>
                <a:latin typeface="Times New Roman" panose="02020603050405020304" pitchFamily="18" charset="0"/>
                <a:ea typeface="Aptos" panose="020B0004020202020204" pitchFamily="34" charset="0"/>
                <a:cs typeface="Times New Roman" panose="02020603050405020304" pitchFamily="18" charset="0"/>
              </a:rPr>
              <a:t>[1]</a:t>
            </a: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 </a:t>
            </a:r>
            <a:r>
              <a:rPr lang="en-GB" sz="1050" kern="100" dirty="0" err="1">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Messabih</a:t>
            </a: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 H., </a:t>
            </a:r>
            <a:r>
              <a:rPr lang="en-GB" sz="1050" kern="100" dirty="0" err="1">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Kerrache</a:t>
            </a: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 C.A., </a:t>
            </a:r>
            <a:r>
              <a:rPr lang="en-GB" sz="1050" kern="100" dirty="0" err="1">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Cheriguene</a:t>
            </a: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 Y., Amadeo, M. and Ahmad, F., 2024. Machine learning solutions for mobile internet of things security: A literature review and research agenda. </a:t>
            </a:r>
            <a:r>
              <a:rPr lang="en-GB" sz="1050" i="1"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Transactions on Emerging Telecommunications Technologies</a:t>
            </a: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 </a:t>
            </a:r>
            <a:r>
              <a:rPr lang="en-GB" sz="1050" i="1"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35</a:t>
            </a: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(10), p.e5041.</a:t>
            </a:r>
            <a:endParaRPr lang="en-GB" sz="105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indent="0" algn="just">
              <a:lnSpc>
                <a:spcPct val="115000"/>
              </a:lnSpc>
              <a:spcAft>
                <a:spcPts val="800"/>
              </a:spcAft>
              <a:buNone/>
            </a:pPr>
            <a:r>
              <a:rPr lang="en-GB" sz="1050" kern="100" dirty="0">
                <a:effectLst/>
                <a:latin typeface="Times New Roman" panose="02020603050405020304" pitchFamily="18" charset="0"/>
                <a:ea typeface="Aptos" panose="020B0004020202020204" pitchFamily="34" charset="0"/>
                <a:cs typeface="Times New Roman" panose="02020603050405020304" pitchFamily="18" charset="0"/>
              </a:rPr>
              <a:t>[2]</a:t>
            </a: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 </a:t>
            </a:r>
            <a:r>
              <a:rPr lang="en-GB" sz="1050" kern="100" dirty="0" err="1">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Rassam</a:t>
            </a: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 M.A., Zainal, A. and </a:t>
            </a:r>
            <a:r>
              <a:rPr lang="en-GB" sz="1050" kern="100" dirty="0" err="1">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Maarof</a:t>
            </a: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 M.A., 2013. Advancements of data anomaly detection research in wireless sensor networks: a survey and open issues. </a:t>
            </a:r>
            <a:r>
              <a:rPr lang="en-GB" sz="1050" i="1"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Sensors</a:t>
            </a: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 </a:t>
            </a:r>
            <a:r>
              <a:rPr lang="en-GB" sz="1050" i="1"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13</a:t>
            </a: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(8), pp.10087-10122.</a:t>
            </a:r>
            <a:endParaRPr lang="en-GB" sz="105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indent="0" algn="just">
              <a:lnSpc>
                <a:spcPct val="115000"/>
              </a:lnSpc>
              <a:spcAft>
                <a:spcPts val="800"/>
              </a:spcAft>
              <a:buNone/>
            </a:pP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[3] Moss, J., Gordon, J., Duclos, W., Liu, Y., Wang, Q. and Wang, J., 2025. Explainable AI in IoT: A Survey of Challenges, Advancements, and Pathways to Trustworthy Automation. </a:t>
            </a:r>
            <a:r>
              <a:rPr lang="en-GB" sz="1050" i="1"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Electronics</a:t>
            </a: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 </a:t>
            </a:r>
            <a:r>
              <a:rPr lang="en-GB" sz="1050" i="1"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14</a:t>
            </a: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(23), p.4622.</a:t>
            </a:r>
            <a:endParaRPr lang="en-GB" sz="105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indent="0" algn="just">
              <a:lnSpc>
                <a:spcPct val="115000"/>
              </a:lnSpc>
              <a:spcAft>
                <a:spcPts val="800"/>
              </a:spcAft>
              <a:buNone/>
            </a:pP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[4] Nguyen, M.D., </a:t>
            </a:r>
            <a:r>
              <a:rPr lang="en-GB" sz="1050" kern="100" dirty="0" err="1">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Bouaziz</a:t>
            </a: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 A., Valdes, V., Rosa Cavalli, A., </a:t>
            </a:r>
            <a:r>
              <a:rPr lang="en-GB" sz="1050" kern="100" dirty="0" err="1">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Mallouli</a:t>
            </a: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 W. and Montes De Oca, E., 2023, August. A deep learning anomaly detection framework with explainability and robustness. In </a:t>
            </a:r>
            <a:r>
              <a:rPr lang="en-GB" sz="1050" i="1"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Proceedings of the 18th International Conference on Availability, Reliability and Security</a:t>
            </a: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 (pp. 1-7).</a:t>
            </a:r>
            <a:endParaRPr lang="en-GB" sz="105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indent="0" algn="just">
              <a:lnSpc>
                <a:spcPct val="115000"/>
              </a:lnSpc>
              <a:spcAft>
                <a:spcPts val="800"/>
              </a:spcAft>
              <a:buNone/>
            </a:pP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[5] Georgiades, M. and Hussain, F., 2025. An explainable ai approach for interpretable cross-layer intrusion detection in internet of medical things. </a:t>
            </a:r>
            <a:r>
              <a:rPr lang="en-GB" sz="1050" i="1"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Electronics</a:t>
            </a: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 </a:t>
            </a:r>
            <a:r>
              <a:rPr lang="en-GB" sz="1050" i="1"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14</a:t>
            </a: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(16), p.3218.</a:t>
            </a:r>
            <a:endParaRPr lang="en-GB" sz="105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indent="0" algn="just">
              <a:lnSpc>
                <a:spcPct val="115000"/>
              </a:lnSpc>
              <a:spcAft>
                <a:spcPts val="800"/>
              </a:spcAft>
              <a:buNone/>
            </a:pP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[6] </a:t>
            </a:r>
            <a:r>
              <a:rPr lang="en-GB" sz="1050" kern="100" dirty="0" err="1">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Gummadi</a:t>
            </a: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 A.N., </a:t>
            </a:r>
            <a:r>
              <a:rPr lang="en-GB" sz="1050" kern="100" dirty="0" err="1">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Abdelrahim</a:t>
            </a: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 E.M., Gad, I. and Abdallah, M., 2025. E-RXAI-IoT: A Systematic Evaluation Framework of Rule-Based XAI Methods for Anomaly Detection in IoT Systems. </a:t>
            </a:r>
            <a:r>
              <a:rPr lang="en-GB" sz="1050" i="1"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IEEE Access</a:t>
            </a: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 </a:t>
            </a:r>
            <a:r>
              <a:rPr lang="en-GB" sz="1050" i="1"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13</a:t>
            </a: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 pp.188730-188754.</a:t>
            </a:r>
            <a:endParaRPr lang="en-GB" sz="105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indent="0" algn="just">
              <a:lnSpc>
                <a:spcPct val="115000"/>
              </a:lnSpc>
              <a:spcAft>
                <a:spcPts val="800"/>
              </a:spcAft>
              <a:buNone/>
            </a:pP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[7] Nor, A.K.M., </a:t>
            </a:r>
            <a:r>
              <a:rPr lang="en-GB" sz="1050" kern="100" dirty="0" err="1">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Pedapati</a:t>
            </a:r>
            <a:r>
              <a:rPr lang="en-GB" sz="1050" kern="100" dirty="0">
                <a:solidFill>
                  <a:srgbClr val="222222"/>
                </a:solidFill>
                <a:effectLst/>
                <a:latin typeface="Times New Roman" panose="02020603050405020304" pitchFamily="18" charset="0"/>
                <a:ea typeface="Aptos" panose="020B0004020202020204" pitchFamily="34" charset="0"/>
                <a:cs typeface="Times New Roman" panose="02020603050405020304" pitchFamily="18" charset="0"/>
              </a:rPr>
              <a:t>, S.R., Muhammad, M. and Leiva, V., 2021. Explainable artificial intelligence for anomaly detection and prognostic of gas turbines using uncertainty quantification with sensor-related data.</a:t>
            </a:r>
            <a:endParaRPr lang="en-GB" sz="105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indent="0" algn="just">
              <a:buNone/>
            </a:pPr>
            <a:r>
              <a:rPr lang="en-GB" sz="1050" dirty="0">
                <a:effectLst/>
                <a:latin typeface="Times New Roman" panose="02020603050405020304" pitchFamily="18" charset="0"/>
                <a:ea typeface="Times New Roman" panose="02020603050405020304" pitchFamily="18" charset="0"/>
                <a:cs typeface="Times New Roman" panose="02020603050405020304" pitchFamily="18" charset="0"/>
              </a:rPr>
              <a:t>[8] M. </a:t>
            </a:r>
            <a:r>
              <a:rPr lang="en-GB" sz="1050" dirty="0" err="1">
                <a:effectLst/>
                <a:latin typeface="Times New Roman" panose="02020603050405020304" pitchFamily="18" charset="0"/>
                <a:ea typeface="Times New Roman" panose="02020603050405020304" pitchFamily="18" charset="0"/>
                <a:cs typeface="Times New Roman" panose="02020603050405020304" pitchFamily="18" charset="0"/>
              </a:rPr>
              <a:t>Janat</a:t>
            </a:r>
            <a:r>
              <a:rPr lang="en-GB" sz="1050" dirty="0">
                <a:effectLst/>
                <a:latin typeface="Times New Roman" panose="02020603050405020304" pitchFamily="18" charset="0"/>
                <a:ea typeface="Times New Roman" panose="02020603050405020304" pitchFamily="18" charset="0"/>
                <a:cs typeface="Times New Roman" panose="02020603050405020304" pitchFamily="18" charset="0"/>
              </a:rPr>
              <a:t> et al., "XAI and Uncertainty Quantification for Anomaly Detection and Prognostics of Gas Turbines and Turbofans," </a:t>
            </a:r>
            <a:r>
              <a:rPr lang="en-GB" sz="1050" i="1" dirty="0">
                <a:effectLst/>
                <a:latin typeface="Times New Roman" panose="02020603050405020304" pitchFamily="18" charset="0"/>
                <a:ea typeface="Times New Roman" panose="02020603050405020304" pitchFamily="18" charset="0"/>
                <a:cs typeface="Times New Roman" panose="02020603050405020304" pitchFamily="18" charset="0"/>
              </a:rPr>
              <a:t>Journal of Prognostics and Health Management</a:t>
            </a:r>
            <a:r>
              <a:rPr lang="en-GB" sz="1050" dirty="0">
                <a:effectLst/>
                <a:latin typeface="Times New Roman" panose="02020603050405020304" pitchFamily="18" charset="0"/>
                <a:ea typeface="Times New Roman" panose="02020603050405020304" pitchFamily="18" charset="0"/>
                <a:cs typeface="Times New Roman" panose="02020603050405020304" pitchFamily="18" charset="0"/>
              </a:rPr>
              <a:t>, vol. 14, no. 1, 2023. </a:t>
            </a:r>
          </a:p>
          <a:p>
            <a:pPr marL="0" indent="0" algn="just">
              <a:buNone/>
            </a:pPr>
            <a:r>
              <a:rPr lang="en-GB" sz="1050" dirty="0">
                <a:effectLst/>
                <a:latin typeface="Times New Roman" panose="02020603050405020304" pitchFamily="18" charset="0"/>
                <a:ea typeface="Times New Roman" panose="02020603050405020304" pitchFamily="18" charset="0"/>
                <a:cs typeface="Times New Roman" panose="02020603050405020304" pitchFamily="18" charset="0"/>
              </a:rPr>
              <a:t>[9] M. Al-</a:t>
            </a:r>
            <a:r>
              <a:rPr lang="en-GB" sz="1050" dirty="0" err="1">
                <a:effectLst/>
                <a:latin typeface="Times New Roman" panose="02020603050405020304" pitchFamily="18" charset="0"/>
                <a:ea typeface="Times New Roman" panose="02020603050405020304" pitchFamily="18" charset="0"/>
                <a:cs typeface="Times New Roman" panose="02020603050405020304" pitchFamily="18" charset="0"/>
              </a:rPr>
              <a:t>Kasassbeh</a:t>
            </a:r>
            <a:r>
              <a:rPr lang="en-GB" sz="1050" dirty="0">
                <a:effectLst/>
                <a:latin typeface="Times New Roman" panose="02020603050405020304" pitchFamily="18" charset="0"/>
                <a:ea typeface="Times New Roman" panose="02020603050405020304" pitchFamily="18" charset="0"/>
                <a:cs typeface="Times New Roman" panose="02020603050405020304" pitchFamily="18" charset="0"/>
              </a:rPr>
              <a:t>, M. A. </a:t>
            </a:r>
            <a:r>
              <a:rPr lang="en-GB" sz="1050" dirty="0" err="1">
                <a:effectLst/>
                <a:latin typeface="Times New Roman" panose="02020603050405020304" pitchFamily="18" charset="0"/>
                <a:ea typeface="Times New Roman" panose="02020603050405020304" pitchFamily="18" charset="0"/>
                <a:cs typeface="Times New Roman" panose="02020603050405020304" pitchFamily="18" charset="0"/>
              </a:rPr>
              <a:t>Almaiah</a:t>
            </a:r>
            <a:r>
              <a:rPr lang="en-GB" sz="1050" dirty="0">
                <a:effectLst/>
                <a:latin typeface="Times New Roman" panose="02020603050405020304" pitchFamily="18" charset="0"/>
                <a:ea typeface="Times New Roman" panose="02020603050405020304" pitchFamily="18" charset="0"/>
                <a:cs typeface="Times New Roman" panose="02020603050405020304" pitchFamily="18" charset="0"/>
              </a:rPr>
              <a:t>, and A. Al-Azzam, "Evaluating Rule-Based XAI Methods for IoT Anomaly Detection: A Comprehensive Framework," </a:t>
            </a:r>
            <a:r>
              <a:rPr lang="en-GB" sz="1050" i="1" dirty="0">
                <a:effectLst/>
                <a:latin typeface="Times New Roman" panose="02020603050405020304" pitchFamily="18" charset="0"/>
                <a:ea typeface="Times New Roman" panose="02020603050405020304" pitchFamily="18" charset="0"/>
                <a:cs typeface="Times New Roman" panose="02020603050405020304" pitchFamily="18" charset="0"/>
              </a:rPr>
              <a:t>IEEE Internet of Things Journal</a:t>
            </a:r>
            <a:r>
              <a:rPr lang="en-GB" sz="1050" dirty="0">
                <a:effectLst/>
                <a:latin typeface="Times New Roman" panose="02020603050405020304" pitchFamily="18" charset="0"/>
                <a:ea typeface="Times New Roman" panose="02020603050405020304" pitchFamily="18" charset="0"/>
                <a:cs typeface="Times New Roman" panose="02020603050405020304" pitchFamily="18" charset="0"/>
              </a:rPr>
              <a:t>, vol. 11, no. 4, pp. 6231-6245, 2024. </a:t>
            </a:r>
          </a:p>
          <a:p>
            <a:pPr marL="0" indent="0" algn="just">
              <a:buNone/>
            </a:pPr>
            <a:r>
              <a:rPr lang="en-GB" sz="1050" dirty="0">
                <a:effectLst/>
                <a:latin typeface="Times New Roman" panose="02020603050405020304" pitchFamily="18" charset="0"/>
                <a:ea typeface="Times New Roman" panose="02020603050405020304" pitchFamily="18" charset="0"/>
                <a:cs typeface="Times New Roman" panose="02020603050405020304" pitchFamily="18" charset="0"/>
              </a:rPr>
              <a:t>[10] M. Habibi, M. </a:t>
            </a:r>
            <a:r>
              <a:rPr lang="en-GB" sz="1050" dirty="0" err="1">
                <a:effectLst/>
                <a:latin typeface="Times New Roman" panose="02020603050405020304" pitchFamily="18" charset="0"/>
                <a:ea typeface="Times New Roman" panose="02020603050405020304" pitchFamily="18" charset="0"/>
                <a:cs typeface="Times New Roman" panose="02020603050405020304" pitchFamily="18" charset="0"/>
              </a:rPr>
              <a:t>Zolanvari</a:t>
            </a:r>
            <a:r>
              <a:rPr lang="en-GB" sz="1050" dirty="0">
                <a:effectLst/>
                <a:latin typeface="Times New Roman" panose="02020603050405020304" pitchFamily="18" charset="0"/>
                <a:ea typeface="Times New Roman" panose="02020603050405020304" pitchFamily="18" charset="0"/>
                <a:cs typeface="Times New Roman" panose="02020603050405020304" pitchFamily="18" charset="0"/>
              </a:rPr>
              <a:t>, and A. </a:t>
            </a:r>
            <a:r>
              <a:rPr lang="en-GB" sz="1050" dirty="0" err="1">
                <a:effectLst/>
                <a:latin typeface="Times New Roman" panose="02020603050405020304" pitchFamily="18" charset="0"/>
                <a:ea typeface="Times New Roman" panose="02020603050405020304" pitchFamily="18" charset="0"/>
                <a:cs typeface="Times New Roman" panose="02020603050405020304" pitchFamily="18" charset="0"/>
              </a:rPr>
              <a:t>Erbad</a:t>
            </a:r>
            <a:r>
              <a:rPr lang="en-GB" sz="1050" dirty="0">
                <a:effectLst/>
                <a:latin typeface="Times New Roman" panose="02020603050405020304" pitchFamily="18" charset="0"/>
                <a:ea typeface="Times New Roman" panose="02020603050405020304" pitchFamily="18" charset="0"/>
                <a:cs typeface="Times New Roman" panose="02020603050405020304" pitchFamily="18" charset="0"/>
              </a:rPr>
              <a:t>, "Cross-Layer Intrusion Detection in IoMT using Explainable AI and Interpretability Methods," </a:t>
            </a:r>
            <a:r>
              <a:rPr lang="en-GB" sz="1050" i="1" dirty="0">
                <a:effectLst/>
                <a:latin typeface="Times New Roman" panose="02020603050405020304" pitchFamily="18" charset="0"/>
                <a:ea typeface="Times New Roman" panose="02020603050405020304" pitchFamily="18" charset="0"/>
                <a:cs typeface="Times New Roman" panose="02020603050405020304" pitchFamily="18" charset="0"/>
              </a:rPr>
              <a:t>Computers &amp; Security</a:t>
            </a:r>
            <a:r>
              <a:rPr lang="en-GB" sz="1050" dirty="0">
                <a:effectLst/>
                <a:latin typeface="Times New Roman" panose="02020603050405020304" pitchFamily="18" charset="0"/>
                <a:ea typeface="Times New Roman" panose="02020603050405020304" pitchFamily="18" charset="0"/>
                <a:cs typeface="Times New Roman" panose="02020603050405020304" pitchFamily="18" charset="0"/>
              </a:rPr>
              <a:t>, vol. 142, p. 103851, 2025.</a:t>
            </a:r>
          </a:p>
          <a:p>
            <a:pPr marL="0" indent="0" algn="just">
              <a:buNone/>
            </a:pPr>
            <a:r>
              <a:rPr lang="en-GB" sz="1050" dirty="0">
                <a:effectLst/>
                <a:latin typeface="Times New Roman" panose="02020603050405020304" pitchFamily="18" charset="0"/>
                <a:ea typeface="Times New Roman" panose="02020603050405020304" pitchFamily="18" charset="0"/>
                <a:cs typeface="Times New Roman" panose="02020603050405020304" pitchFamily="18" charset="0"/>
              </a:rPr>
              <a:t>[11] S. T. Mehedi, A. Anwar, Z. Rahman, and R. Ahmed, "Deep Learning for Cybersecurity in Mobile IoT: A Survey and Taxonomy," </a:t>
            </a:r>
            <a:r>
              <a:rPr lang="en-GB" sz="1050" i="1" dirty="0">
                <a:effectLst/>
                <a:latin typeface="Times New Roman" panose="02020603050405020304" pitchFamily="18" charset="0"/>
                <a:ea typeface="Times New Roman" panose="02020603050405020304" pitchFamily="18" charset="0"/>
                <a:cs typeface="Times New Roman" panose="02020603050405020304" pitchFamily="18" charset="0"/>
              </a:rPr>
              <a:t>IEEE Communications Surveys &amp; Tutorials</a:t>
            </a:r>
            <a:r>
              <a:rPr lang="en-GB" sz="1050" dirty="0">
                <a:effectLst/>
                <a:latin typeface="Times New Roman" panose="02020603050405020304" pitchFamily="18" charset="0"/>
                <a:ea typeface="Times New Roman" panose="02020603050405020304" pitchFamily="18" charset="0"/>
                <a:cs typeface="Times New Roman" panose="02020603050405020304" pitchFamily="18" charset="0"/>
              </a:rPr>
              <a:t>, vol. 25, no. 3, pp. 1852-1890, 2023. </a:t>
            </a:r>
          </a:p>
          <a:p>
            <a:pPr marL="0" indent="0" algn="just">
              <a:buNone/>
            </a:pPr>
            <a:r>
              <a:rPr lang="en-GB" sz="1050" dirty="0">
                <a:effectLst/>
                <a:latin typeface="Times New Roman" panose="02020603050405020304" pitchFamily="18" charset="0"/>
                <a:ea typeface="Times New Roman" panose="02020603050405020304" pitchFamily="18" charset="0"/>
                <a:cs typeface="Times New Roman" panose="02020603050405020304" pitchFamily="18" charset="0"/>
              </a:rPr>
              <a:t>[12] S. M. Lundberg et al., "From local explanations to global understanding with explainable AI for trees," </a:t>
            </a:r>
            <a:r>
              <a:rPr lang="en-GB" sz="1050" i="1" dirty="0">
                <a:effectLst/>
                <a:latin typeface="Times New Roman" panose="02020603050405020304" pitchFamily="18" charset="0"/>
                <a:ea typeface="Times New Roman" panose="02020603050405020304" pitchFamily="18" charset="0"/>
                <a:cs typeface="Times New Roman" panose="02020603050405020304" pitchFamily="18" charset="0"/>
              </a:rPr>
              <a:t>Nature Machine Learning</a:t>
            </a:r>
            <a:r>
              <a:rPr lang="en-GB" sz="1050" dirty="0">
                <a:effectLst/>
                <a:latin typeface="Times New Roman" panose="02020603050405020304" pitchFamily="18" charset="0"/>
                <a:ea typeface="Times New Roman" panose="02020603050405020304" pitchFamily="18" charset="0"/>
                <a:cs typeface="Times New Roman" panose="02020603050405020304" pitchFamily="18" charset="0"/>
              </a:rPr>
              <a:t>, vol. 2, no. 1, pp. 56-67, 2020. </a:t>
            </a:r>
          </a:p>
          <a:p>
            <a:endParaRPr lang="en-US" sz="10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2535606"/>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207</TotalTime>
  <Words>2242</Words>
  <Application>Microsoft Macintosh PowerPoint</Application>
  <PresentationFormat>Widescreen</PresentationFormat>
  <Paragraphs>247</Paragraphs>
  <Slides>13</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Aptos</vt:lpstr>
      <vt:lpstr>Arial</vt:lpstr>
      <vt:lpstr>Calisto MT</vt:lpstr>
      <vt:lpstr>Cambria Math</vt:lpstr>
      <vt:lpstr>Google Sans Text</vt:lpstr>
      <vt:lpstr>Times New Roman</vt:lpstr>
      <vt:lpstr>Univers Condensed</vt:lpstr>
      <vt:lpstr>ChronicleVTI</vt:lpstr>
      <vt:lpstr>Explainable Machine Learning (XAI) for Anomaly Detection in Medical IoT Sensor Data</vt:lpstr>
      <vt:lpstr>Problem Statement &amp; Motivation </vt:lpstr>
      <vt:lpstr>Literature Review &amp; Research Gap</vt:lpstr>
      <vt:lpstr>Research Methodology</vt:lpstr>
      <vt:lpstr>Dataset &amp; Data Preprocessing</vt:lpstr>
      <vt:lpstr>Model Development</vt:lpstr>
      <vt:lpstr>XAI Integration</vt:lpstr>
      <vt:lpstr>Evaluation &amp; Validation</vt:lpstr>
      <vt:lpstr>Clinical Decision Support (FUTURE WORK) </vt:lpstr>
      <vt:lpstr>Critical Appraisal &amp; Reflection</vt:lpstr>
      <vt:lpstr>ELSS Considerations </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Joslin Gadde</dc:creator>
  <cp:lastModifiedBy>Joslin Gadde</cp:lastModifiedBy>
  <cp:revision>16</cp:revision>
  <dcterms:created xsi:type="dcterms:W3CDTF">2026-05-07T19:15:40Z</dcterms:created>
  <dcterms:modified xsi:type="dcterms:W3CDTF">2026-05-12T21:50:02Z</dcterms:modified>
</cp:coreProperties>
</file>